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MADRIGAL AND SECULAR SONG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SIXTEENTH CENTURY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Villancico · Frottola · Madrigal · Chanson · Lied · Lute Song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205–228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Market for Music 音樂的市場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印刷術催生業餘用樂市場 · 民族語言興起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🇪🇸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Spain 西班牙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Villancico · Juan del Encina · Oy comamos y bebamos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🇮🇹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Italy — Frottola &amp; Madrigal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Frottola · Verdelot · Arcadelt · Willaert · Rore · Gesualdo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🇫🇷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— New Chansons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Sermisy · Janequin · Lassus · Musique mesurée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🇩🇪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 — Lied &amp; Meistersinger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 Sachs · Senfl · Lassus 德語歌曲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🇬🇧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England — Madrigal &amp; Lute Song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Morley · Weelkes · Dowland · Triumphes of Oriana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音樂的第一個市場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Market for Music · Printing, Amateurs &amp; National Styles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音樂成為商品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1501 Petrucci 首部複音印刷集《Odhecaton》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印刷降低成本——第一次使樂譜得以大量流通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音樂從「服務」變成可販售的「商品」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業餘者市場迅速成長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出版商依需求出版——從精英到通俗的各種風格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社交音樂的興起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Castiglione《廷臣論》(1528) 要求廷臣能讀譜演唱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城市中產與貴族皆將讀譜演奏視為社交教養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合唱 partbooks 於社交聚會中傳閱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民族風格興起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業餘者偏好自己的母語演唱——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促使各國在 16 世紀發展出獨特的民族樂種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Spain（西班牙）→ villancico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Italy（義大利）→ frottola / madrigal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France（法國）→ chanson（新型三式）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Germany（德國）→ Lied / Meistersinger 歌曲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England（英格蘭）→ consort song / madrigal / ayre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共同特徵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以文字意義與情感驅動音樂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depiction &amp; expression 成為主流美學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承繼 Josquin 一代的文字主義——humanism 深化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30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030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西班牙 Villancico · 義大利 Frottola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Courtly Songs with Popular Flavor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🇪🇸 Villancico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源自 villano（農夫）——「鄉村風歌曲」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短、分節、音節式、主要同節奏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結構：estribillo（副歌）+ coplas（詩節）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mudanza（變化段）→ vuelta（回到副歌）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整體 AAB 模式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最上聲部主導旋律；其餘聲部可唱或奏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為西班牙貴族寫作的「模擬民謠」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Juan del Encina (1468–1529)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第一位西班牙劇作家 · villancico 大師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田園戲劇中穿插 villancico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Oy comamos y bebamos (NAWM 46)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封齋前夕的狂歡歌 · 嬉鬧 · 頻繁 hemiola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🇮🇹 Frottola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四聲部、分節、音節式、同節奏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簡單自然音階和聲——幾乎全用 root-position 三和弦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旋律在最上聲部——下聲部提供和聲支撐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由即興詩歌演唱傳統衍生而來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宮廷風情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1500 年代前後盛行於 Mantua、Ferrara、Urbino 宮廷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幾乎全由義大利作曲家創作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Marchetto Cara · Bartolomeo Tromboncino（Mantua）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贊助者 Isabella d'Este——文藝復興最著名的女性贊助人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Petrucci 於 1504–1514 出版 13 冊 frottola 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成為印刷時代第一個「暢銷音樂商品」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常以 solo voice + lute 改編版本流通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（Bossinensis 1509 出版）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義大利牧歌 The Italian Madrigal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Renaissance 末期最重要的世俗樂種 · pave the way for opera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定義與特徵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1530 年後用「madrigal」指義大利詩歌的音樂配樂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單節詩——7 或 11 音節詩行、無副歌、不受固定形式拘束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 14 世紀 madrigal「同名異物」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通篇作曲（through-composed）——每行詩配新音樂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早期四聲部（1520–1540）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中期起五聲部為主（1540–）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晚期六聲部或更多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每聲部一人——為室內聲樂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常加入樂器 double 或替代聲部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詩材來源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Petrarca · Ariosto · Tasso · Guarini · Marino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主題以愛情、田園、感傷為主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✨ 美學：文字驅動音樂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作曲家以音樂再現詩的聲音、意象與情感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expression（情感表達）· 最核心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depiction / word painting（文字繪畫）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Declamation（言語宣告）· 依重音配長短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🌹 社交場合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學院（academies）晚宴後演唱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男女混編的業餘圈子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1570 後開始出現職業歌手為觀眾演唱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產量驚人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1530–1600 間出版 2,000 餘部 madrigal 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一直盛行到 17 世紀初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歷史意義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 opera 的戲劇表達鋪路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義大利因 madrigal 成為歐洲音樂領袖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早期牧歌作曲家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Madrigalists · Verdelot · Arcadelt · Il bianco e dolce cigno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🌸 Philippe Verdelot (ca. 1480/85–?1530)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法國出身——活躍於羅馬與佛羅倫斯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madrigal 1520 年代在 Florence 成形時的核心人物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四聲部 madrigal：多為同節奏、樂句以 cadence 標示——承襲 frottola 傳統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五／六聲部 madrigal：更接近 motet——頻繁模仿、聲部交疊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Jacques Arcadelt (ca. 1507–1568)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Franco-Flemish——1530 年代起在 Florence 與 Rome 工作近 30 年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1551 返回法國——任 Sainte-Chapelle 神職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風格：同聲織度與偶發模仿交織——平衡、優雅、易唱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1539 First Book of Madrigals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🦢 Il bianco e dolce cigno (NAWM 47)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Arcadelt 1538 · 最著名的早期 madrigal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「潔白甜美的天鵝哀唱著死亡」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詩意：天鵝之死對比說話者「死於至樂」的愛情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可能暗指新柏拉圖主義——愛情如死而復生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亦可能隱喻「小死」（la petite mort · 情慾高潮）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音樂處理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大部分同聲織度——清晰、平衡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天鵝的死以上下半音刻畫——哀歎音型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結尾「mille mort' il dì」（千死一日）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以多聲模仿進入——形成鮮明對比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簡單卻巧妙——成為 madrigal 教科書典範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歷史地位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世紀前半最流傳的 madrigal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Willaert · Rore · Petrarchan 運動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Venetian Madrigal · Bembo 美學 · 半音的誕生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Adrian Willaert &amp; Bembo 美學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Willaert (ca. 1490–1562)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法蘭德斯出身 · 35 年任威尼斯 St Mark's maestro di cappella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培養 Cipriano de Rore、Vicentino、A. Gabrieli、Zarlino 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Bembo 美學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Cardinal Pietro Bembo 編訂 Petrarch《Canzoniere》(1501)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提出兩極美學：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piacevolezza（悅耳）：大調六度／小三度／柔滑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gravità（莊嚴）：小調六度／大三度／斷促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Willaert 設 Petrarch《Aspro core e selvaggio》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嚴肅句：大三度旋律、尖銳和聲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溫柔句：半音、小三度與小六度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Zarlino《Le istitutioni harmoniche》(1558)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將 Willaert 的做法理論化為教科書原則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🎭 Cipriano de Rore &amp; Nicola Vicentino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Cipriano de Rore (1516–1565)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Willaert 學生 · Ferrara、Parma、威尼斯工作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 le belle contrade d'oriente (NAWM 48)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1566 出版於死後遺集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每個字的情感都被音樂抓住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「Te'n vai, haimè, adio」以上下半音、小三度刻畫悲嘆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一小段內用盡 12 個半音——直接 chromatic 進行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此前對位法不允許 B♭→B♮ 的直接半音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Rore 讓直接半音成為 grief 的強力象徵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 Vicentino (1511–ca. 1576)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《L'antica musica ridotta alla moderna prattica》(1555)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主張復興古希臘的 chromatic 與 enharmonic 音系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L'aura che 'l verde lauro——用希臘 chromatic 四音列做模仿動機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最終 chromaticism 成為 16 世紀後期的共同語言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晚期牧歌與 Gesualdo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Marenzio · Gesualdo · Women Composers &amp; Performers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Marenzio &amp; Casulana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Marenzio (1553–1599)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世紀末最重要的義大利 madrigalist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e pensoso (NAWM 49)——Petrarch 十四行詩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開頭：以每小節半音上行超過八度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描繪「孤獨沉思、緩慢步伐」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「逃」「躲」則用快速緊密模仿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 Maddalena Casulana (ca. 1544–ca. 1590s)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首位出版樂曲、首位自稱「職業作曲家」的女性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Book of Madrigals (1568)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獻辭反擊男性壟斷：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「揭露以為女性無法具有高智者之謬誤」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Concerto delle donne (Ferrara, 1580)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Alfonso II d'Este 召募訓練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Peverara · Guarini · d'Arco 三位女歌手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引發 Mantua / Florence 仿效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將 madrigal 從業餘社交轉為職業音樂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🗡️ Carlo Gesualdo, Prince of Venosa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1566–1613 · 音樂史最驚心動魄的人物之一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貴族兼職業作曲家——極為罕見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發現妻子與情人在床——殺死兩人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1593 再娶 Leonora d'Este（Alfonso II 姪女）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極端的對比美學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偏好充滿強烈意象的現代詩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 diatonic 與 chromatic 之間劇烈切換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不協和與協和、chordal 與 imitative 並置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慢速與快速節奏對比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常切斷詩句以突顯單字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"Io parto" e non più dissi (NAWM 50)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1611 最後一本 madrigal 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「我將走，不再多言」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以慢速、半音、不協和描寫女方的悲嘆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情郎「復活」(vivo son) 則轉為快速 diatonic 模仿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將 madrigal 的文字戲劇化推向極致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輕型義大利樂種與牧歌的遺產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Villanella · Canzonetta · Balletto · Legacy of the Madrigal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💃 Light Genres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Villanella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1540s 於 Naples 興起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三聲部、活潑、同節奏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故意寫平行五度 → 模仿鄉村樸拙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常戲擬嚴肅的 madrigal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Canzonetta（小歌）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Orazio Vecchi 首先使用 · 1580–1597 六冊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 madrigal 與 villanella 元素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Balletto（小舞曲）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Gastoldi · 1591 五聲部集、1594 三聲部集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舞曲節奏 · AABB 分節曲式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著名「fa-la-la」副歌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影響英德作曲家——Morley《Sing we and chant it》仿 Gastoldi《A lieta vita》(NAWM 55)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The Legacy of the Madrigal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madrigal 使音樂成為文字戲劇的載體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業餘社交 → 私人音樂會 → 舞台演出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從「演唱給自己聽」走向「演唱給觀眾聽」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共同的音樂理想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旋律與節奏依循自然語言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詩意透過具象音型呈現 (madrigalism)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音樂元素整體對應詩的情感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承先啟後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人文主義在音樂中的最高表現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直接孕育 1600 年誕生的 opera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所有後世歌劇、藝術歌曲、電影配樂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的情感表達語言皆源於此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Wills the Italians「第一次」成為歐洲音樂領袖——一領導就超過 200 年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30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030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新式法國香頌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Parisian Chanson · Sermisy · Janequin · Lassus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4206240" cy="169164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075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Lyric Chanson 抒情香頌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Sermisy · Tant que vivray (NAWM 51)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第一人稱抒情——愛情主題 · 音節、同節奏、頂部主旋律 · Marot 詩 · 短句樂段明確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06240" cy="169164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075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Chanson 敘事香頌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Janequin · Martin menoit son pourceau (NAWM 52)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8928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低俗幽默故事 · 點狀模仿開句、同聲終止 · 模仿喜歌劇般的口白節奏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90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Chanson 描繪香頌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4015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Janequin · La guerre · Le chant des oiseaux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67588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模擬鳥鳴、戰號、街市叫賣 · 長度較長 · 織度變化多端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206240" cy="169164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906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Musique Mesurée 量音香頌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015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Jeune · Revecy venir du printans (NAWM 54)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67588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 de Poésie et de Musique (1570) · Baïf 的 vers mesurés · 長音節配長音 · 二三拍自由交替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Attaingnant · Sermisy · Janequin · Lassus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Publishers &amp; Masters of the French Chanson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Pierre Attaingnant &amp; Composers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Attaingnant (ca. 1494–ca. 1552)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法國第一位音樂印刷商 · 1528 開始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1528–1552 出版 50+ 本香頌集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約 1,500 首作品——使香頌成為家家戶戶的娛樂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 de Sermisy (ca. 1490–1562)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法國王室禮拜堂 · Paris Sainte-Chapelle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 12 部彌撒、100 經文歌，但以 175 首香頌最著名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 Janequin (ca. 1485–1558)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Bordeaux · Angers · 晚年 Paris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250 首香頌 · 「compositeur ordinaire du roi」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描繪香頌之王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Orlande de Lassus (ca. 1532–1594)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歐洲最國際化的作曲家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 Mons（比利時 Hainaut 區）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青年時期服侍 Mantua、Sicily、Milan、Naples、Rome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歲已出版 madrigal、chanson、motet 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1556 進 Bavaria Albrecht V 宮廷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1563 起任 Munich ducal chapel maestro · 至 1594 辭世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獲法王、神聖羅馬皇帝授予音樂版權——首位掌握版權的作曲家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巨大的產量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57 部彌撒 · 700+ 經文歌 · 101 首 Magnificat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 法文 chansons · 200 義大利 madrigals · 90 德文 Lieder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死後由兒子編《Magnum opus musicum》(1604) 出版經文歌集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nuict froide et sombre (NAWM 53)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du Bellay 詩（Pléiade 詩派）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融合 madrigal 與 chanson 傳統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德國：Lied 與 Meistersinger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2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 Secular Song · Meistersinger · Polyphonic Lied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🔨 Meistersinger 工匠名歌手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都市商人與工匠組織的歌唱行會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以中世紀 Minnesinger 單聲歌曲為基礎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依嚴格規則創作 · 公開比賽演唱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世紀始於 → 16 世紀達顛峰 → 19 世紀末葉消亡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Toöne（旋律與格律模式）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每首詩依既有 Ton 模板填詞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皆為 bar form（AAB）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許多 Toöne 源自 Minnelied 舊譜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Hans Sachs (1494–1576)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紐倫堡的製鞋匠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作詞數千首 · 新創 13 首 Toöne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最知名的 Meistersinger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後為 Wagner 歌劇《紐倫堡的名歌手》主角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DDE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Polyphonic Lied 德語複音歌曲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德國作曲家延續 tenor 主旋律、其餘聲部對位的傳統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主旋律可在 tenor 或 cantus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紐倫堡為 16 世紀上半葉德國文化中心——大量出版 Lied 集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Ludwig Senfl (ca. 1486–1542/3)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Isaac 的學生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宮廷禮拜堂作曲家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Polyphonic Lied 的代表人物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下半葉轉向義大利化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1550 後德國聽眾偏好義大利 madrigal 與 villanella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Lied 吸收 madrigal 特徵——模仿與同節奏交替、密切文字配合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Lassus 寫 7 冊德文 Lied——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實質上是使用德語的 madrigal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聲部平等、文字敏感度高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英格蘭：Consort Song · Madrigal · Lute Song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Morley · Weelkes · Wilbye · Dowland · Campion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🎻 Consort Song &amp; English Madrigal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 Song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英格蘭獨有——獨唱 + 提琴重奏 (viol consort)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William Byrd《Psalmes, Sonets and Songs》(1588)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將 consort song 提升為藝術體裁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Influence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1560s 義大利 madrigal 開始在英倫流傳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1588 Nicholas Yonge《Musica transalpina》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把義大利 madrigal 譯成英文出版——引爆英國 madrigal 風潮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Morley (1557/8–1602)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最早、最多產的英國 madrigalist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仿 Gastoldi《A lieta vita》寫《Sing we and chant it》(NAWM 55)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《A Plaine and Easie Introduction to Practicall Musicke》(1597)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面向業餘者的音樂教本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《The Triumphes of Oriana》(1601)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 位作曲家、25 首 madrigal 合集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每首以「Long live fair Oriana」收尾——獻給 Elizabeth 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Weelkes · Dowland · Campion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Weelkes (ca. 1575–1623)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 Vesta was (NAWM 56)——收於《Triumphes of Oriana》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自撰詩 + 音樂——極盡 word-painting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上行音階「ascending」/ 下行「descending」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一、二、三聲部表示「alone」「two by two」「three by three」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結尾「Long live fair Oriana」動機進入近 50 次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augmentation 4、8 倍——象徵長壽的機智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Lute Song (Ayre) · 1600s 初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獨唱 + lute 伴奏——更個人、更文學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整體情感刻畫、word-painting 減少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Dowland (1563–1626)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Flow, my tears (NAWM 57)——1600 第二本 Songs or Ayres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Pavane 形式 · aabbCC · 優美陰鬱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歐洲知名——哥本哈根、德累斯頓皆有任職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Campion (1567–1620)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詩人兼音樂家——兼及文學理論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1620 年代後英國風潮消退——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 17 世紀 solo song 鋪路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時間軸 ·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49808"/>
            <a:ext cx="4572000" cy="36576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50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1495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del Encina · Oy comamos y bebamos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50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1504–14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0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Petrucci 出版 13 冊 frottola 集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44168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380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1515–47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344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法王 Francis I 在位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344168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380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1344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Castiglione《廷臣論》 · Attaingnant 首部香頌集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773936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17739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Arcadelt First Book of Madrigals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773936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17739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Vicentino《L'antica musica》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203704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1556–94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2203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Lassus 任 Bavaria 宮廷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203704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2203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Zarlino《Le istitutioni harmoniche》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633472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1558–1603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26334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英國 Elizabeth I 在位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2633472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26334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Rore Fifth Book of Madrigals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063240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099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71600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Maddalena Casulana First Book of Madrigals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3063240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099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1580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Concerto delle donne 於 Ferrara 成立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493008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1588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71600" y="34930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Yonge《Musica transalpina》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3493008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60720" y="34930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Morley《First Book of Balletts》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922776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3959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71600" y="39227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Marenzio 最後 madrigal 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3922776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39593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60720" y="39227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Dowland Second Book of Songs or Ayres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4352544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371600" y="43525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《The Triumphes of Oriana》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63440" y="4352544"/>
            <a:ext cx="1005840" cy="347472"/>
          </a:xfrm>
          <a:prstGeom prst="rect">
            <a:avLst/>
          </a:prstGeom>
          <a:solidFill>
            <a:srgbClr val="7A1A3A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760720" y="43525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Gesualdo 最後 madrigal 集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關鍵詞彙 · 延伸閱讀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Further Reading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Key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villancico · estribillo · coplas · mudanza · vuelta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frottola · Isabella d'Este · Petrucci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madrigal (16c) · through-composed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declamation / depiction / expression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madrigalism · word painting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piacevolezza · gravità · Bembo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chromatic genus · direct chromatic motion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villanella · canzonetta · balletto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chanson (Parisian) · lyric / narrative / descriptive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musique mesurée · vers mesurés à l'antique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Meistersinger · Ton · bar form · Tenorlied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consort song · English madrigal · ballett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lute song / ayre · pavane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concerto delle donne · partbooks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3A284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Further Reading &amp; 🎧 Listening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Fenlon &amp; Haar. The Italian Madrigal in the Early 16c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Einstein. The Italian Madrigal (1949)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Kerman. The Elizabethan Madrigal (1962)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Freedman. Music in the Renaissance (Norton)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NAWM 精選聆聽 (YouTube)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46 · Encina · Oy comamos  youtu.be/oeW8z3-RNVI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47 · Arcadelt · Il bianco e dolce cigno  youtu.be/ium1MZN-58g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48 · Rore · Da le belle contrade  youtu.be/PgoT6Klkf0o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49 · Marenzio · Solo e pensoso  youtu.be/ZJlj1uy8cSA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· Gesualdo · Io parto  youtu.be/TBC-45-FfVQ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 · Sermisy · Tant que vivray  youtu.be/yD7qRFELl8w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52 · Janequin · Martin menoit  youtu.be/_5VDzWU7vlc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53 · Lassus · La nuict froide  youtu.be/89gNkOjZ8Dg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54 · Le Jeune · Revecy venir  youtu.be/ieUrg8d3z70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55a · Gastoldi · A lieta vita  youtu.be/xRQJ8DW8Cnc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55b · Morley · Sing we &amp; chant it  youtu.be/AcA6QdMAvO8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56 · Weelkes · As Vesta was  youtu.be/9LLDwTNj6f4</a:t>
            </a:r>
            <a:endParaRPr lang="en-US" sz="7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57 · Dowland · Flow my tears  youtu.be/Y9HKl8H0PWg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Madrigal and Secular Song in the Sixteenth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2026-04-11T14:24:38Z</dcterms:created>
  <dcterms:modified xsi:type="dcterms:W3CDTF">2026-04-11T14:24:38Z</dcterms:modified>
</cp:coreProperties>
</file>