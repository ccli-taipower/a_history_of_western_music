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37160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MADRIGAL AND SECULAR SONG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SIXTEENTH CENTURY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2286000" y="333756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474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Villancico · Frottola · Madrigal · Chanson · Lied · Lute Song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205–228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Market for Music 音樂的市場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0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Petrucci 印刷術催生業餘用樂市場 · 民族語言興起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ES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Spain 西班牙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0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Villancico · Juan del Encina · Oy comamos y bebamos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IT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Italy — Frottola &amp; Madrigal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0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Frottola · Verdelot · Arcadelt · Willaert · Rore · Gesualdo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FR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France — New Chansons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0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Sermisy · Janequin · Lassus · Musique mesurée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DE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Germany — Lied &amp; Meistersinger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0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 Sachs · Senfl · Lassus 德語歌曲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GB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England — Madrigal &amp; Lute Song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0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Morley · Weelkes · Dowland · Triumphes of Oriana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音樂的第一個市場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Market for Music · Printing, Amateurs &amp; National Styles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音樂成為商品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1501 Petrucci《Odhecaton》首部複音印刷集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印刷降低成本——樂譜首次大量流通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音樂從「服務」變成「商品」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業餘者市場迅速成長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社交音樂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Castiglione《廷臣論》(1528) 要求廷臣讀譜演唱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城市中產與貴族視讀譜為社交教養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partbooks 於社交聚會中傳閱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民族風格興起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業餘者偏好母語演唱——促成 16 世紀各國民族樂種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Spain → villancico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Italy → frottola / madrigal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France → chanson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Germany → Lied / Meistersinger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England → consort song / madrigal / ayre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共同特徵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以文字意義與情感驅動音樂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Text depiction &amp; expression 成為主流美學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承繼 Josquin——humanism 深化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305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305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西班牙 Villancico · 義大利 Frottola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Courtly Songs with Popular Flavor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 Villancico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源自 villano（農夫）——「鄉村風歌曲」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短、分節、音節式、同節奏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結構 AAB：estribillo + coplas (mudanza → vuelta)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上聲部主導；餘聲部可唱或奏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為貴族寫的「模擬民謠」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Juan del Encina (1468–1529)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西班牙首位劇作家 · villancico 大師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田園戲劇中穿插 villancico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Oy comamos y bebamos (NAWM 46)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封齋前夕狂歡歌 · 頻繁 hemiola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Frottola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四聲部、分節、音節式、同節奏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簡單自然音階——幾乎全 root-position 三和弦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旋律在上聲部，下聲部提供和聲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由即興詩歌演唱傳統衍生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宮廷風情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盛行於 Mantua、Ferrara、Urbino 宮廷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Cara · Tromboncino（Mantua）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贊助者 Isabella d'Este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Petrucci 1504–1514 出版 13 冊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印刷時代首個「暢銷音樂商品」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常以 solo voice + lute 改編流通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義大利牧歌 The Italian Madrigal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Renaissance 末期最重要的世俗樂種 · pave the way for opera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定義與特徵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1530 後指義大利詩歌的音樂配樂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單節詩——7/11 音節、無副歌、自由形式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與 14 世紀 madrigal 同名異物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通篇作曲（through-composed）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早期 4 聲部 → 中期 5 聲部 → 晚期 6+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每聲部一人；常加樂器 double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詩材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Petrarca · Ariosto · Tasso · Guarini · Marino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主題：愛情、田園、感傷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美學：文字驅動音樂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以音樂再現詩的聲音、意象與情感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Text expression（情感表達）· 核心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Word painting（文字繪畫）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Declamation（依重音配長短）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社交場合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學院晚宴後演唱 · 男女混編業餘圈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1570 後出現職業歌手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產量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1530–1600 出版 2,000+ 部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 opera 鋪路——義大利成歐洲音樂領袖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早期牧歌作曲家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Madrigalists · Verdelot · Arcadelt · Il bianco e dolce cigno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Philippe Verdelot (ca. 1480/85–?1530)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法國出身——活躍於羅馬與佛羅倫斯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1520s Florence madrigal 成形期核心人物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聲部：同節奏、cadence 分句（承襲 frottola）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5/6 聲部：近 motet，頻繁模仿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Jacques Arcadelt (ca. 1507–1568)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Franco-Flemish · 1530s 起 Florence/Rome 近 30 年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1551 返法任 Sainte-Chapelle 神職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風格平衡、優雅、易唱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1539 First Book of Madrigals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Il bianco e dolce cigno (NAWM 47)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Arcadelt 1538 · 最著名的早期 madrigal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「潔白甜美的天鵝哀唱著死亡」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天鵝之死 vs.「死於至樂」的愛情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隱喻「小死」（la petite mort）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音樂處理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大部分同聲織度——清晰、平衡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天鵝之死：上下半音「哀歎音型」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結尾「mille mort' il dì」多聲模仿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簡潔巧妙——成為教科書典範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16 世紀前半最流傳的 madrigal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Willaert · Rore · Petrarchan 運動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Venetian Madrigal · Bembo 美學 · 半音的誕生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Adrian Willaert &amp; Bembo 美學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 Willaert (ca. 1490–1562)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法蘭德斯 · 35 年任 St Mark's maestro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培養 Rore、Vicentino、Gabrieli、Zarlino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Bembo 美學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Bembo 編訂 Petrarch《Canzoniere》(1501)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兩極美學：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piacevolezza（悅耳）：柔滑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gravità（莊嚴）：斷促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Willaert《Aspro core e selvaggio》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嚴肅／溫柔句以不同音程對比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Zarlino (1558) 將其理論化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Cipriano de Rore &amp; Nicola Vicentino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Cipriano de Rore (1516–1565)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Willaert 學生 · Ferrara/Parma/威尼斯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 le belle contrade d'oriente (NAWM 48)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1566 死後遺集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每字情感都被音樂抓住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「Te'n vai, haimè」半音、小三度刻畫悲嘆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一小段用盡 12 個半音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此前不允許 B■→B■ 直接半音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Rore 讓直接半音成 grief 象徵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Nicola Vicentino (1511–ca. 1576)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《L'antica musica》(1555)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復興古希臘 chromatic / enharmonic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chromaticism 成 16 世紀後期共同語言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晚期牧歌與 Gesualdo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Marenzio · Gesualdo · Women Composers &amp; Performers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Marenzio &amp; Casulana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 Marenzio (1553–1599)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 世紀末最重要義大利 madrigalist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Solo e pensoso (NAWM 49) · Petrarch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半音上行逾八度——「孤獨沉思」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「逃」「躲」用快速緊密模仿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Maddalena Casulana (ca. 1544–90s)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首位出版樂曲的女性作曲家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First Book of Madrigals (1568)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Concerto delle donne (Ferrara, 1580)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Alfonso II d'Este 召募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將 madrigal 從業餘轉為職業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Carlo Gesualdo, Prince of Venosa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1566–1613 · 音樂史最驚心動魄者之一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貴族兼職業作曲家（罕見）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殺死通姦妻子與情人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極端對比美學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偏好強烈意象的現代詩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diatonic ↔ chromatic 劇烈切換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不協和／協和並置 · 常切斷詩句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"Io parto" (NAWM 50) · 1611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慢速、半音、不協和描寫悲嘆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「復活」(vivo son) 轉快速 diatonic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將文字戲劇化推向極致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輕型義大利樂種與牧歌的遺產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Villanella · Canzonetta · Balletto · Legacy of the Madrigal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Light Genres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Villanella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1540s 於 Naples 興起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三聲部、活潑、同節奏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故意寫平行五度 → 模仿鄉村樸拙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常戲擬嚴肅 madrigal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Canzonetta（小歌）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Orazio Vecchi · 1580–1597 六冊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融合 madrigal 與 villanella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Balletto（小舞曲）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Gastoldi · 1591/1594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AABB 分節曲式 · 「fa-la-la」副歌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Morley《Sing we and chant it》仿 Gastoldi (NAWM 55)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The Legacy of the Madrigal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madrigal 使音樂成為文字戲劇載體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業餘社交 → 私人音樂會 → 舞台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音樂理想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旋律與節奏依循自然語言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詩意透過具象音型 (madrigalism)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承先啟後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人文主義在音樂的最高表現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孕育 1600 年誕生的 opera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義大利成歐洲音樂領袖逾 200 年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305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305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新式法國香頌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New Parisian Chanson · Sermisy · Janequin · Lassus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234440"/>
            <a:ext cx="4206240" cy="169164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30759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Lyric Chanson 抒情香頌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618488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Sermisy · Tant que vivray (NAWM 51)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1892808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第一人稱抒情——愛情主題 · 音節、同節奏、頂部主旋律 · Marot 詩 · 短句樂段明確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1234440"/>
            <a:ext cx="4206240" cy="169164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30759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Narrative Chanson 敘事香頌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00600" y="1618488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Janequin · Martin menoit son pourceau (NAWM 52)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00600" y="1892808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低俗幽默故事 · 點狀模仿開句、同聲終止 · 模仿喜歌劇般的口白節奏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4320" y="3017520"/>
            <a:ext cx="4206240" cy="169164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309067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Descriptive Chanson 描繪香頌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" y="3401568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Janequin · La guerre · Le chant des oiseaux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3675888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模擬鳥鳴、戰號、街市叫賣 · 長度較長 · 織度變化多端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63440" y="3017520"/>
            <a:ext cx="4206240" cy="169164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9067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Musique Mesurée 量音香頌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00600" y="3401568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Jeune · Revecy venir du printans (NAWM 54)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00600" y="3675888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Académie de Poésie et de Musique (1570) · Baïf 的 vers mesurés · 長音節配長音 · 二三拍自由交替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Attaingnant · Sermisy · Janequin · Lassus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Publishers &amp; Masters of the French Chanson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Pierre Attaingnant &amp; Composers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Pierre Attaingnant (ca. 1494–ca. 1552)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法國首位音樂印刷商 · 1528 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1528–1552 出版 50+ 本香頌集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約 1,500 首作品——使香頌普及家庭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Claudin de Sermisy (ca. 1490–1562)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Paris Sainte-Chapelle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 彌撒、100 經文歌，以 175 首香頌最著名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Clément Janequin (ca. 1485–1558)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Bordeaux · Angers · 晚年 Paris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250 首香頌 · 「描繪香頌之王」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Orlande de Lassus (ca. 1532–1594)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歐洲最國際化的作曲家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生於 Mons（比利時 Hainaut）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青年服侍 Mantua、Milan、Naples、Rome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1556 進 Bavaria Albrecht V 宮廷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1563–94 任 Munich ducal chapel maestro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首位獲皇帝授予版權的作曲家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巨量產量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57 彌撒 · 700+ 經文歌 · 101 Magnificat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150 chansons · 200 madrigals · 90 Lieder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兒子編《Magnum opus musicum》(1604)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 nuict froide et sombre (NAWM 53)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du Bellay 詩（Pléiade）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融合 madrigal 與 chanson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德國：Lied 與 Meistersinger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German Secular Song · Meistersinger · Polyphonic Lied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Meistersinger 工匠名歌手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都市商人與工匠的歌唱行會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承 Minnesinger 單聲歌曲傳統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嚴格規則創作 · 公開比賽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 世紀始 → 16 世紀顛峰 → 19 世紀消亡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Töne（旋律模式）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每首詩依既有 Ton 模板填詞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皆為 bar form（AAB）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許多源自 Minnelied 舊譜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Hans Sachs (1494–1576)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紐倫堡製鞋匠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作詞數千首 · 新創 13 首 Toöne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Wagner《紐倫堡的名歌手》主角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Polyphonic Lied 德語複音歌曲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延續 tenor 主旋律 + 對位聲部的傳統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主旋律可在 tenor 或 cantus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紐倫堡為 16 世紀上半葉文化中心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Ludwig Senfl (ca. 1486–1542/3)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Isaac 的學生 · 宮廷禮拜堂作曲家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Polyphonic Lied 的代表人物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下半葉義大利化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1550 後偏好義大利 madrigal 與 villanella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Lied 吸收 madrigal——模仿與同節奏交替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Lassus 寫 7 冊德文 Lied——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實為使用德語的 madrigal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英格蘭：Consort Song · Madrigal · Lute Song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Morley · Weelkes · Wilbye · Dowland · Campion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Consort Song &amp; English Madrigal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Consort Song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英格蘭獨有——獨唱 + viol consort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Byrd《Psalmes, Sonets and Songs》(1588)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 Influence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1588 Yonge《Musica transalpina》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英譯義大利 madrigal——引爆風潮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Morley (1557/8–1602)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最早、最多產的英國 madrigalist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仿 Gastoldi 寫 Sing we (NAWM 55)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《Triumphes of Oriana》(1601)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23 作曲家 · 獻 Elizabeth 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Weelkes · Dowland · Campion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Weelkes (ca. 1575–1623)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 Vesta was (NAWM 56) · 極盡 word-painting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ascending/descending 音階對應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結尾「Long live fair Oriana」近 50 次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Lute Song (Ayre) · 1600s 初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獨唱 + lute——更個人、更文學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Dowland (1563–1626)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Flow, my tears (NAWM 57) · Pavane · 陰鬱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Campion (1567–1620) · 詩人兼音樂家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時間軸 · Timeline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0" y="749808"/>
            <a:ext cx="4572000" cy="36576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9509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1495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91440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del Encina · Oy comamos y bebamos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9509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1504–14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760720" y="91440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Petrucci 出版 13 冊 frottola 集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1344168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138074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1515–47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134416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法王 Francis I 在位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344168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138074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1528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760720" y="134416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Castiglione《廷臣論》 · Attaingnant 首部香頌集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1773936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18105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1539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177393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Arcadelt First Book of Madrigals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1773936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18105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760720" y="177393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Vicentino《L'antica musica》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74320" y="2203704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22402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1556–94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371600" y="2203704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Lassus 任 Bavaria 宮廷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2203704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22402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1558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760720" y="2203704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Zarlino《Le istitutioni harmoniche》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74320" y="2633472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267004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1558–1603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71600" y="263347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英國 Elizabeth I 在位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663440" y="2633472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34" name="Text 32"/>
          <p:cNvSpPr/>
          <p:nvPr/>
        </p:nvSpPr>
        <p:spPr>
          <a:xfrm>
            <a:off x="4709160" y="267004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1566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760720" y="263347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Rore Fifth Book of Madrigals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74320" y="3063240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30998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1568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371600" y="306324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Maddalena Casulana First Book of Madrigals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663440" y="3063240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40" name="Text 38"/>
          <p:cNvSpPr/>
          <p:nvPr/>
        </p:nvSpPr>
        <p:spPr>
          <a:xfrm>
            <a:off x="4709160" y="30998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1580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760720" y="306324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Concerto delle donne 於 Ferrara 成立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74320" y="3493008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" y="352958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1588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371600" y="349300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Yonge《Musica transalpina》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4663440" y="3493008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46" name="Text 44"/>
          <p:cNvSpPr/>
          <p:nvPr/>
        </p:nvSpPr>
        <p:spPr>
          <a:xfrm>
            <a:off x="4709160" y="352958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1595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5760720" y="349300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Morley《First Book of Balletts》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4320" y="3922776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49" name="Text 47"/>
          <p:cNvSpPr/>
          <p:nvPr/>
        </p:nvSpPr>
        <p:spPr>
          <a:xfrm>
            <a:off x="320040" y="39593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1599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371600" y="392277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Marenzio 最後 madrigal 集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663440" y="3922776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52" name="Text 50"/>
          <p:cNvSpPr/>
          <p:nvPr/>
        </p:nvSpPr>
        <p:spPr>
          <a:xfrm>
            <a:off x="4709160" y="39593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1600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5760720" y="392277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Dowland Second Book of Songs or Ayres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274320" y="4352544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55" name="Text 53"/>
          <p:cNvSpPr/>
          <p:nvPr/>
        </p:nvSpPr>
        <p:spPr>
          <a:xfrm>
            <a:off x="320040" y="4389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1601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371600" y="4352544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《The Triumphes of Oriana》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4663440" y="4352544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58" name="Text 56"/>
          <p:cNvSpPr/>
          <p:nvPr/>
        </p:nvSpPr>
        <p:spPr>
          <a:xfrm>
            <a:off x="4709160" y="4389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1611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5760720" y="4352544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Gesualdo 最後 madrigal 集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關鍵詞彙 · 延伸閱讀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&amp; Further Reading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Key Terms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villancico · estribillo · coplas · mudanza · vuelta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frottola · Isabella d'Este · Petrucci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madrigal (16c) · through-composed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text declamation / depiction / expression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madrigalism · word painting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piacevolezza · gravità · Bembo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chromatic genus · direct chromatic motion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villanella · canzonetta · balletto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chanson (Parisian) · lyric / narrative / descriptive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musique mesurée · vers mesurés à l'antique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Meistersinger · Ton · bar form · Tenorlied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consort song · English madrigal · ballett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lute song / ayre · pavane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concerto delle donne · partbooks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Further Reading &amp; ■ Listening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Fenlon &amp; Haar. The Italian Madrigal (Early 16c)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Einstein. The Italian Madrigal (1949)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Kerman. The Elizabethan Madrigal (1962)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Freedman. Music in the Renaissance (Norton)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NAWM 精選聆聽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Arcadelt · Il bianco e dolce cigno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youtu.be/wMImLeCewio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Weelkes · As Vesta Was Descending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youtu.be/95DJ7oqTWK8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Dowland · Flow my tears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youtu.be/y3REIVlo2Ss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10: Madrigal and Secular Song in the Sixteenth Century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2026-04-17T16:02:59Z</dcterms:created>
  <dcterms:modified xsi:type="dcterms:W3CDTF">2026-04-17T16:02:59Z</dcterms:modified>
</cp:coreProperties>
</file>