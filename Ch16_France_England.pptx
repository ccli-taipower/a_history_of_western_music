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FRANCE, ENGLAND, SPAIN,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NEW WORLD, AND RUSSIA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Louis XIV · Lully · Purcell · Versailles · National Styles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A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339–370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2A6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2A6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914400"/>
            <a:ext cx="8321040" cy="566928"/>
          </a:xfrm>
          <a:prstGeom prst="rect">
            <a:avLst/>
          </a:prstGeom>
          <a:solidFill>
            <a:srgbClr val="E8E0D0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914400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🏰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914400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 法國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914400"/>
            <a:ext cx="5166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XIV · 宮廷芭蕾 · Versailles · Lully 的音樂獨裁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1480" y="1572768"/>
            <a:ext cx="8321040" cy="566928"/>
          </a:xfrm>
          <a:prstGeom prst="rect">
            <a:avLst/>
          </a:prstGeom>
          <a:solidFill>
            <a:srgbClr val="DED6C6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572768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🎭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05840" y="1572768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French Opera 法國歌劇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1572768"/>
            <a:ext cx="5166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Tragédie en musique · 法式序曲 · divertissement · 宣敘調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" y="2231136"/>
            <a:ext cx="8321040" cy="566928"/>
          </a:xfrm>
          <a:prstGeom prst="rect">
            <a:avLst/>
          </a:prstGeom>
          <a:solidFill>
            <a:srgbClr val="E8E0D0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231136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🎹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05840" y="2231136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Lute &amp; Keyboard 魯特與鍵盤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4720" y="2231136"/>
            <a:ext cx="5166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Gaultier · Jacquet de la Guerre · suite · agréments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11480" y="2889504"/>
            <a:ext cx="8321040" cy="566928"/>
          </a:xfrm>
          <a:prstGeom prst="rect">
            <a:avLst/>
          </a:prstGeom>
          <a:solidFill>
            <a:srgbClr val="DED6C6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889504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🇬🇧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05840" y="2889504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England 英格蘭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74720" y="2889504"/>
            <a:ext cx="5166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Masque · Purcell · Dido and Aeneas · 公共音樂會之誕生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1480" y="3547872"/>
            <a:ext cx="8321040" cy="566928"/>
          </a:xfrm>
          <a:prstGeom prst="rect">
            <a:avLst/>
          </a:prstGeom>
          <a:solidFill>
            <a:srgbClr val="E8E0D0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547872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🌎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05840" y="3547872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Spain &amp; New World 西班牙與新世界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74720" y="3547872"/>
            <a:ext cx="5166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Zarzuela · villancico · Torrejón · Padilla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1480" y="4206240"/>
            <a:ext cx="8321040" cy="566928"/>
          </a:xfrm>
          <a:prstGeom prst="rect">
            <a:avLst/>
          </a:prstGeom>
          <a:solidFill>
            <a:srgbClr val="DED6C6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4206240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🇷🇺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05840" y="4206240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Russia 俄羅斯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74720" y="4206240"/>
            <a:ext cx="5166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Eastern Orthodox · znamenny chant · kontsert · kanty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🏰 法國：路易十四與凡爾賽 France: Louis XIV &amp; Versailles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2860"/>
          </a:xfrm>
          <a:prstGeom prst="rect">
            <a:avLst/>
          </a:prstGeom>
          <a:solidFill>
            <a:srgbClr val="6A204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416052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8755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Sun King 太陽王 (r. 1643–1715)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自比太陽神 Apollo；藝術即權力工具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建立皇家學院：舞蹈 (1661)、文學 (1663)、科學 (1669)、歌劇 (1669)、建築 (1671)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凡爾賽宮 Versailles：政治控制 + 藝術展演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貴族長住宮中 → 受王權掌控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花園幾何對稱 = 中央集權秩序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宮廷舞蹈文化：danses à deux / 宮廷芭蕾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Pierre Beauchamp：五個基本腳位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Feuillet (1700)：首套完整舞譜系統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Dance reinforced order, refinement, and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subordination — the very image of the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monarchy.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987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at Court 宮廷音樂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三大音樂機構 (150–200 musicians):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The Chapel 皇家禮拜堂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歌手、管風琴師、宗教儀式器樂手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The Chamber 室內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獨唱、弦樂、魯特琴、大鍵琴、長笛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室內娛樂用途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The Great Stable 大馬廄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管樂與銅管 → 軍事 / 戶外典禮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催生現代雙簧管 (oboe)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Jean Hotteterre 家族：木管革新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弦樂團 String Orchestra: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Vingt-quatre Violons du Roi (24 把)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Petits Violons (18 把，1648)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"orchestra" 一詞 1670s 開始使用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呂利與法國歌劇 Lully &amp; French Opera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2860"/>
          </a:xfrm>
          <a:prstGeom prst="rect">
            <a:avLst/>
          </a:prstGeom>
          <a:solidFill>
            <a:srgbClr val="6A204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416052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8755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Jean-Baptiste Lully (1632–1687)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義大利佛羅倫斯出生 → 14 歲赴巴黎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以舞藝引起路易十四注意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1661 任器樂總監，掌管 Petits Violons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建立統一弓法、禁止自由裝飾 → 現代管弦樂團紀律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1672 取得皇家特許：法國唯一歌劇演出權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創立 Académie Royale de Musique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與劇作家 Philippe Quinault 合作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Tragédie en musique 音樂悲劇：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五幕劇；古典神話 / 騎士傳奇題材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結合戲劇、音樂、芭蕾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Quinault 劇本：暗頌路易 + 道德寓言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Lully 死於指揮 Te Deum 時杖擊足部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壞疽感染身亡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987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Armide (1686) — NAWM 85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Overture 法式序曲 (NAWM 85a):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兩段式：慢板（附點節奏 + 齊奏）→ 快板（模仿式）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快板末尾常回歸慢板速度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此形式流傳超過一世紀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Divertissement 穿插段 (NAWM 85b):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 II 內：仙女、牧人歌舞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Solo airs + 合唱 + 器樂舞曲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Airs：旋律優美、節拍規整、少花腔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與義大利 aria 截然不同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Armide 獨白 (Act II, Sc. 5 · NAWM 85c):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女巫 Armide 手持匕首面對沉睡的 Renaud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宣敘調自由轉換 2/4 和 3/4 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récitatif → air "Venez, venez" 三拍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Tirades：附點音型 + 快速音階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音樂服務戲劇，不為歌唱炫技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🎶 法國演奏風格與教會音樂 French Style &amp; Church Music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2860"/>
          </a:xfrm>
          <a:prstGeom prst="rect">
            <a:avLst/>
          </a:prstGeom>
          <a:solidFill>
            <a:srgbClr val="6A204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416052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8755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Practice 演奏慣例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inégales 不等分音符：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記譜為等值八分音符 → 演奏為長短交替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（類似搖擺三連音效果）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被視為 expression 與 elegance 的表現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Overdotting 加附點：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附點音符比記譜更長 → 短音更短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強化節奏尖銳感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Agréments 裝飾音：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固定裝飾：trills, appoggiatura, mordent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D'Anglebert (1689) 裝飾記號表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最完整的巴洛克裝飾音系統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強調 cadence 與重拍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法式 vs 義式裝飾：簡短固定 vs 即興華麗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"Nature and expression are the two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qualities of music" — Lecerf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987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Church Music &amp; Song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Motets 經文歌：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Petit motet：少數歌手 + 通奏低音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Grand motet：獨唱 + 大/小合唱 + 管弦樂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多段、多速度、多風格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Lully Te Deum (1677 · NAWM 86)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150人演出；獨唱 + 合唱 + 弦樂 + 銅管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Marc-Antoine Charpentier (1643–1704):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赴羅馬學習 Carissimi 風格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融合義大利不協和 + 法國高雅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reniement de Saint Pierre (NAWM 87)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彼得三次否認主：經文敘事體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結尾合唱：不協和掛留音 → 催人淚下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Michel-Richard de Lalande (1657–1726):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路易十四晚年寵臣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70+ grand motets：風格多變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Song: air sérieux / air à boire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Michel Lambert (ca. 1610–1696)：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Lully 岳父，air 先驅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🎹 魯特琴、鍵盤與舞曲組曲 Lute, Keyboard &amp; Suite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2860"/>
          </a:xfrm>
          <a:prstGeom prst="rect">
            <a:avLst/>
          </a:prstGeom>
          <a:solidFill>
            <a:srgbClr val="6A204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416052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8755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Lute &amp; Harpsichord 魯特琴與大鍵琴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Denis Gaultier (1603–1672)：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rhétorique des dieux 魯特琴集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coquette virtuose (NAWM 88) — courante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Style luthé / style brisé 碎和弦風格：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分散和弦替代齊奏 → 暗示多聲部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深刻影響大鍵琴音樂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Clavecin 大鍵琴 (= harpsichord)：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17世紀取代魯特琴成為主奏獨奏樂器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重要 clavecinists 鍵盤家：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Chambonnières (1601–1672)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D'Anglebert (1629–1691)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Jacquet de la Guerre (1665–1729)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François Couperin (1668–1733)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Agréments 在鍵盤的角色：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撥弦 → 快速衰減 → 裝飾音延長共鳴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模擬持續音效果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法國鍵盤風格的精髓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987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Suite &amp; Dance Forms 組曲與舞曲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Jacquet de la Guerre Suite No. 3 in Am (NAWM 89):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標準四舞曲 + 附加舞曲：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┌──────────────────────────────────┐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舞曲       拍子    性格     來源      │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├──────────────────────────────────┤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Allemande  4/4    莊重     德國      │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Courante   3/2    機智     法國      │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Sarabande  3/4    高貴     西/新世界  │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Gigue      6/8    活潑     英/愛     │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└──────────────────────────────────┘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(NAWM 89a) Unmeasured prelude 非量化前奏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(89b) Allemande — style luthé 碎和弦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(89c) Courante — 2/3拍交替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(89d) Sarabande — 強調第二拍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(89e) Gigue — 模仿式開頭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(89f) Chaconne — rondeau 形式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(89g) Gavotte — 半小節弱起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(89h) Minuet — 優雅三拍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form 二段式：I→V || V→I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🇬🇧 英格蘭：Purcell 與 Dido and Aeneas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2860"/>
          </a:xfrm>
          <a:prstGeom prst="rect">
            <a:avLst/>
          </a:prstGeom>
          <a:solidFill>
            <a:srgbClr val="6A204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416052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8755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England: Politics &amp; Music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政治動盪與音樂：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Charles I → 內戰 (1642–49) → 清教政權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Cromwell 禁止公開戲劇 (但非私人音樂)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1660 王政復辟 → Charles II（流亡法國，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帶回法國音樂品味）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Glorious Revolution (1689) → 君主立憲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王室財力遠不及法國 → 公共音樂發展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Masque 假面劇：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Henry VIII 以來的宮廷傳統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 + 舞蹈 + 佈景 + 台詞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非單一作曲家的統一歌劇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Cupid and Death (1653)：唯一存世完整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假面劇，Locke + Gibbons 音樂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兩部全唱英語歌劇：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John Blow, Venus and Adonis (ca. 1683)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Henry Purcell, Dido and Aeneas (ca. 1688)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987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Henry Purcell (1659–1695)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British Orpheus" 英國的奧菲歐：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Chapel Royal 唱詩班出身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Westminster Abbey 管風琴師 (1679)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Chapel Royal 管風琴師 (1682)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36歲英年早逝，葬於 Westminster Abbey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Dido and Aeneas (ca. 1688 · NAWM 90)：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女子寄宿學校私人演出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微型歌劇傑作：4角色，約1小時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融合義法英三風格：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French overture + homophonic choruses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Italian ground-bass arias (3首)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English tunefulness + word-painting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(90a) Thy hand, Belinda — 宣敘調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半音下行 → Dido 瀕死的哀傷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(90b) When I am laid in earth — Dido's Lament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下行四度 chromatic ground bass × 11 次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歌劇史上最動人的詠嘆調之一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(90c) With drooping wings — 結尾合唱</a:t>
            </a:r>
            <a:endParaRPr lang="en-US" sz="7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8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仿 Blow Venus and Adonis 的終曲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英國音樂生活 English Musical Life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2860"/>
          </a:xfrm>
          <a:prstGeom prst="rect">
            <a:avLst/>
          </a:prstGeom>
          <a:solidFill>
            <a:srgbClr val="6A204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416052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8755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Vocal &amp; Church Music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Purcell 的戲劇音樂 (1690s)：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Semi-opera / dramatic opera：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口語劇 + 四個以上 masque 段落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The Fairy Queen (1692)：改編莎翁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配樂 (incidental music) 近50齣戲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聲樂音樂 Vocal Music：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Ode for St. Cecilia's Day (1692)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受法式 grand motet 影響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直接啟發 Handel 清唱劇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Catch：輪唱式幽默歌曲（常粗俗）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全男性社交娛樂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Anglican Church Music 聖公會：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清教期間廢除 → 復辟後恢復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Charles II 偏好法式風格 → solo + 管弦伴奏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Anthem + Service 為主要體裁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Coronation music 加冕音樂尤其精緻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987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Instrumental Music &amp; Public Concert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0060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 Music 合奏音樂：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Viol consort：In Nomines + fantasias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Jenkins、Locke、Purcell (ca. 1680)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英格蘭此類體裁的最後重要作品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Purcell 亦寫大鍵琴舞曲、trio sonatas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受義大利影響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社交舞蹈：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John Playford, The English Dancing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Master (1651)：鄉村舞曲集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最早印刷民間曲調集之一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暢銷至1728年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公共音樂會的誕生 The Public Concert：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英國獨創發明！1672年12月倫敦首創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John Banister："George Tavern"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每週收費公演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很快傳播：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1725 巴黎 Concert Spirituel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1730s 北美殖民地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現代音樂會制度的起源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🌎 西班牙、新世界與俄羅斯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2860"/>
          </a:xfrm>
          <a:prstGeom prst="rect">
            <a:avLst/>
          </a:prstGeom>
          <a:solidFill>
            <a:srgbClr val="6A204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416052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8755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Spain &amp; the New World 西班牙與新世界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西班牙黃金時代：Cervantes · Lope de Vega · Velázquez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&amp; Zarzuela 歌劇與查蘇艾拉：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Juan Hidalgo (1614–1685) + Calderón de la Barca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首部 zarzuela：輕鬆神話劇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歌唱 + 對白交替（非全唱）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Torrejón y Velasco, La púrpura de la rosa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(1701 · NAWM 91)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新世界首部歌劇！（利馬，秘魯）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對話非宣敘調 → 使用 strophic song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 Music 教會音樂：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Villancico 聖誕/復活節合唱曲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vernacular（方言）非拉丁文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estribillo 疊句 + coplas 詩節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Padilla, Albricias pastores (NAWM 92)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Puebla, Mexico 大教堂唱詩班長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雙合唱 antiphonal 對唱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Instrumental: organ tiento + guitar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987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Russia 俄羅斯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3258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俄羅斯正教會 Russian Orthodox Church：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拜占庭傳統 → 禁止樂器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Znamenny chant 標記聖歌：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單聲部、專用記譜法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16世紀：三聲部 polyphony 加入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1600年：沙皇與教會支持合唱團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偉大的無伴奏合唱傳統之始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西方影響 (1650s–)：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Patriarch Nikon (1652)：開放西方風格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五線譜 + 西歐和聲觀念傳入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Nikolay Diletsky (ca. 1630–1680+)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Idea grammatikii musikiyskoy (1679)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最早的完整五度圈描述之一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Kontsert 聲樂協奏曲：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改自 sacred concerto，純聲樂（無樂器）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Vasiliy Titov (ca. 1650–1715)：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Psaltir' rifmovannaya (1686)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Beznevestnaya Devo 複合唱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Kanty 三聲部頌歌：簡單、平行三度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the Great (r. 1682–1725)：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強力西化 → 彼得堡 (1703)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8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📝 關鍵詞彙 · 延伸閱讀 · 聆聽 Key Terms &amp; Listening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2860"/>
          </a:xfrm>
          <a:prstGeom prst="rect">
            <a:avLst/>
          </a:prstGeom>
          <a:solidFill>
            <a:srgbClr val="6A204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416052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8755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關鍵詞彙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39776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court ballet / ballet de cour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tragédie en musique / tragédie lyrique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French overture · ouverture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divertissement · entrée · air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récitatif simple / récitatif mesuré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tirade · notes inégales · overdotting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agréments · tremblement · pincé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style luthé / style brisé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clavecin · clavecinists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suite · binary form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allemande · courante · sarabande · gigue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gavotte · minuet · chaconne · rondeau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unmeasured prelude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petit motet · grand motet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masque · semi-opera · catch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zarzuela · villancico · tiento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kontsert · kanty · znamenny chant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Vingt-quatre Violons du Roi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English Dancing Master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10" name="Text 8"/>
          <p:cNvSpPr/>
          <p:nvPr/>
        </p:nvSpPr>
        <p:spPr>
          <a:xfrm>
            <a:off x="4800600" y="98755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8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Further Reading &amp; 🎧 Listening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298448"/>
            <a:ext cx="39776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Isherwood. Music in the Service of the King (1973)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Anthony, James. French Baroque Music (1997)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Holman. Henry Purcell (1994)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Price, Curtis. Henry Purcell and the London Stage (1984)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NAWM 精選聆聽 (YouTube)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85 · Lully · Armide (overture+scene)  youtu.be/HWIaanFmhYY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86 · Lully · Te Deum  youtu.be/QARAbmTbArU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87 · Charpentier · Le reniement de St Pierre  youtu.be/S3diWOcgSOI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88 · Gaultier · La coquette virtuose  youtu.be/rB2iH0N1Np4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89 · Jacquet de la Guerre · Suite No. 3  youtu.be/CD9DYeq4_FQ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 · Purcell · Dido: When I am laid in earth  youtu.be/uGQq3HcOB0Y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91 · Torrejón · La púrpura de la rosa  youtu.be/ZJ_OxrK177A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92 · Padilla · Albricias pastores  youtu.be/CNvMJxwt4FQ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16: France, England, Spain, the New World, and Russia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2026-04-13T00:22:03Z</dcterms:created>
  <dcterms:modified xsi:type="dcterms:W3CDTF">2026-04-13T00:22:03Z</dcterms:modified>
</cp:coreProperties>
</file>