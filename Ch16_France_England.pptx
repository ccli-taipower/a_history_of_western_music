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7FcAzxSa1xo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_wYhLVX5kPQ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_EkjmEFk6uk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7FcAzxSa1xo" TargetMode="External"/><Relationship Id="rId2" Type="http://schemas.openxmlformats.org/officeDocument/2006/relationships/hyperlink" Target="https://www.youtube.com/watch?v=r798LTlyZTU" TargetMode="External"/><Relationship Id="rId3" Type="http://schemas.openxmlformats.org/officeDocument/2006/relationships/hyperlink" Target="https://www.youtube.com/watch?v=_wYhLVX5kPQ" TargetMode="External"/><Relationship Id="rId4" Type="http://schemas.openxmlformats.org/officeDocument/2006/relationships/hyperlink" Target="https://www.youtube.com/watch?v=_EkjmEFk6uk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300" kern="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HISTORY OF WESTERN MUSIC  ·  TENTH EDITION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600" kern="0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16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8595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FRANCE, ENGLAND, SPAIN,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NEW WORLD, AND RUSSIA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SEVENTEENTH CENTURY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286000" y="3520440"/>
            <a:ext cx="4572000" cy="36576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657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Louis XIV · Lully · Purcell · Jacquet de la Guerre · Hidalgo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pp. 339–370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本章概覽 Chapter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60120"/>
            <a:ext cx="73152" cy="640080"/>
          </a:xfrm>
          <a:prstGeom prst="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960120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4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France 法國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1289304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Louis XIV · 宮廷舞蹈文化 · 音樂機構 · Lully 的悲劇歌劇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5760" y="1764792"/>
            <a:ext cx="73152" cy="640080"/>
          </a:xfrm>
          <a:prstGeom prst="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76479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4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French Style 法式風格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4360" y="2093976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inegales · agrements · grand motet · 魯特琴與大鍵琴音樂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760" y="2569464"/>
            <a:ext cx="73152" cy="640080"/>
          </a:xfrm>
          <a:prstGeom prst="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569464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4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England 英格蘭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94360" y="2898648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內戰與復辟 · 假面劇 · Purcell 與 Dido and Aeneas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65760" y="3374136"/>
            <a:ext cx="73152" cy="640080"/>
          </a:xfrm>
          <a:prstGeom prst="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374136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4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Spain &amp; New World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94360" y="370332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Zarzuela · Hidalgo · 新世界第一部歌劇 · villancico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65760" y="4178808"/>
            <a:ext cx="73152" cy="640080"/>
          </a:xfrm>
          <a:prstGeom prst="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4178808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4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Russia 俄羅斯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94360" y="450799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東正教傳統 · kontsert · kanty · 彼得大帝西化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太陽王路易十四 Louis XIV, the Sun King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1643–1715 · 七十年統治改變了歐洲文化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自稱「太陽王」，以希臘太陽神 Apollo 自居</a:t>
            </a:r>
            <a:endParaRPr lang="en-US" sz="18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Styled himself the Sun King; identified with Apollo, god of music &amp; light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集中藝術權力：建立皇家學院——舞蹈(1661)、文學(1663)、科學(1669)、歌劇(1669)、建築(1671)</a:t>
            </a:r>
            <a:endParaRPr lang="en-US" sz="18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arts through royal academies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重建羅浮宮，興建凡爾賽宮——貴族被「留」在宮中</a:t>
            </a:r>
            <a:endParaRPr lang="en-US" sz="18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the Louvre; built Versailles to control the nobility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法國藝術強調秩序、優雅、克制——與義大利炫技形成對比</a:t>
            </a:r>
            <a:endParaRPr lang="en-US" sz="18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art emphasized order, elegance, and restraint vs. Italian virtuosity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宮廷舞蹈文化 Dance at Court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舞蹈是法國文化核心——展現自制、優雅、高貴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Dance was central to French culture: self-control, grace, grandeur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ballet (ballet de cour)：結合歌曲、合唱、器樂舞蹈的戲劇作品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Louis XIII &amp; XIV regularly performed in ballets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523744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Beauchamp 建立芭蕾五個基本腳位（至今沿用）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5 basic foot positions still used in ballet today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328416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Feuillet《Choregraphie》(1700)：第一套完整舞蹈記譜法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complete method for recording dance steps and gestures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13308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舞蹈作為政治控制工具——貴族忙於練舞，遠離權力鬥爭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Dance as political control: kept nobility busy at Versailles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宮廷音樂機構 Music at Court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宮廷音樂分為三大部門，共 150–200 位音樂家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divisions with 150–200 musicians, organized like the state itself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8412480" cy="868680"/>
          </a:xfrm>
          <a:prstGeom prst="rect">
            <a:avLst>
              <a:gd name="adj" fmla="val 8421"/>
            </a:avLst>
          </a:prstGeom>
          <a:solidFill>
            <a:srgbClr val="1A244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Chapel 教堂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0" y="146304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歌手、管風琴家、器樂手——負責宗教禮拜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Singers, organists, instrumentalists for religious services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868680"/>
          </a:xfrm>
          <a:prstGeom prst="rect">
            <a:avLst>
              <a:gd name="adj" fmla="val 8421"/>
            </a:avLst>
          </a:prstGeom>
          <a:solidFill>
            <a:srgbClr val="1A244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6888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Chamber 室內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0" y="246888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獨唱、弦樂、魯特琴、大鍵琴、長笛——室內娛樂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singers, strings, lute, harpsichord, flute for indoor entertainment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8412480" cy="868680"/>
          </a:xfrm>
          <a:prstGeom prst="rect">
            <a:avLst>
              <a:gd name="adj" fmla="val 8421"/>
            </a:avLst>
          </a:prstGeom>
          <a:solidFill>
            <a:srgbClr val="1A244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47472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Great Stable 大馬廄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57600" y="347472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管樂、銅管、定音鼓——軍事與戶外儀式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Wind, brass, timpani for military and outdoor ceremonies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45262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8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Vingt-quatre Violons du Roi (24 Violins) — 首個大型弦樂合奏 = 現代管弦樂團原型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8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Petits Violons (18 strings) — Louis XIV 的私人樂團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呂利 Jean-Baptiste Lully (1632–1687)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生於佛羅倫斯，14 歲來巴黎——雖為義大利人，卻塑造了法國音樂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in Florence; came to Paris at 14 as Italian tutor to a cousin of Louis XIV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出色的舞者——在《Ballet de la nuit》(1653) 中與國王共舞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Brilliant dancer; Louis appointed him court composer &amp; director of Petits Violons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523744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1661 成為國王室內樂總監，掌管所有宮廷樂團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Superintendent of Music for the King's Chamber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328416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1672 購得皇家特許——獨佔法國歌劇製作權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Purchased royal privilege: exclusive right to produce sung drama in France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13308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1687 指揮《Te Deum》時以指揮杖擊中腳趾，傷口感染壞疽而亡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Died after hitting his foot with conducting staff; gangrene followed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悲劇歌劇 Tragedie en musique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Lully 與劇作家 Philippe Quinault 合作創造的法國歌劇形式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五幕結構，取材古代神話或騎士傳奇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Five-act dramas from ancient mythology or chivalric tales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序幕(prologue)歌頌國王——劇情暗喻克制激情的美德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Prologue with allegorical praise of the king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779776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穿插大量 divertissements（舞蹈、合唱、器樂插曲）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divertissements: dances, choruses, instrumental interludes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529584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overture：慢-快兩段式序曲（莊嚴附點節奏 + 賦格快板）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overture: slow dotted section + fast imitative section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2793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歌唱「airs」比義大利詠嘆調更簡潔——強調詩意與旋律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Airs: simpler than Italian arias; syllabic, tuneful, no virtuosic display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85b · Lully, Armide (1686)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 的 divertissement — 女巫 Armide 命魔鬼引誘戰士 Renaud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牧羊人/牧羊女/仙女歌頌愛的歡愉，穿插器樂舞蹈</a:t>
            </a:r>
            <a:endParaRPr lang="en-US" sz="18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Shepherds &amp; nymphs sing of love; instrumental dances interspersed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NAWM 85c：Armide 的獨白——宣敘調與詠嘆調交融</a:t>
            </a:r>
            <a:endParaRPr lang="en-US" sz="18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Armide's monologue: recitative flows into air without a break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Lully 的宣敘調模仿法語語調——不規則拍號交替</a:t>
            </a:r>
            <a:endParaRPr lang="en-US" sz="18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Recitative follows French speech: irregular meters (duple/triple alternate)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附點節奏的管弦序奏 = tirades，象徵超自然力量</a:t>
            </a:r>
            <a:endParaRPr lang="en-US" sz="18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Orchestral prelude with dotted rhythms (tirades) = supernatural power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71600" y="4572000"/>
            <a:ext cx="6400800" cy="365760"/>
          </a:xfrm>
          <a:prstGeom prst="rect">
            <a:avLst>
              <a:gd name="adj" fmla="val 20000"/>
            </a:avLst>
          </a:prstGeom>
          <a:solidFill>
            <a:srgbClr val="1B2838"/>
          </a:solidFill>
          <a:ln/>
        </p:spPr>
      </p:sp>
      <p:sp>
        <p:nvSpPr>
          <p:cNvPr id="12" name="Text 10">
            <a:hlinkClick r:id="rId1" tooltip=""/>
          </p:cNvPr>
          <p:cNvSpPr/>
          <p:nvPr/>
        </p:nvSpPr>
        <p:spPr>
          <a:xfrm>
            <a:off x="1371600" y="4572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u="sng" dirty="0">
                <a:solidFill>
                  <a:srgbClr val="C8A03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https://www.youtube.com/watch?v=7FcAzxSa1xo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法式演奏慣例 French Performance Practice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60120"/>
            <a:ext cx="2377440" cy="1097280"/>
          </a:xfrm>
          <a:prstGeom prst="rect">
            <a:avLst>
              <a:gd name="adj" fmla="val 6667"/>
            </a:avLst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Notes inegales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不等音符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926080" y="96012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記譜為均等的音符，演奏時長短交替（如搖擺節奏）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Evenly notated notes performed with alternating long-short durations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2377440" cy="1097280"/>
          </a:xfrm>
          <a:prstGeom prst="rect">
            <a:avLst>
              <a:gd name="adj" fmla="val 6667"/>
            </a:avLst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402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Overdotting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過度附點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26080" y="224028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附點音符被延長得比記譜更長——使節奏更銳利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Dotted notes held longer than written; sharpens rhythmic profile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760" y="3520440"/>
            <a:ext cx="2377440" cy="1097280"/>
          </a:xfrm>
          <a:prstGeom prst="rect">
            <a:avLst>
              <a:gd name="adj" fmla="val 6667"/>
            </a:avLst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5204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Agrements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裝飾音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926080" y="352044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顫音、倚音等小裝飾——強調重要音、增添表情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Trills, appoggiaturas: emphasize cadences, enhance expression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這些慣例是法國品味的象徵——義大利人的炫技裝飾被視為粗俗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practices were signs of refined French taste; Italian embellishments were seen as vulgar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法國教會音樂 French Church Music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 motet（小經文歌）：少數聲部 + 數字低音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motet for few voices with continuo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motet（大經文歌）：獨唱、大小合唱團、管弦樂團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motet for soloists, double chorus, and orchestra — Lully's Te Deum (NAWM 86)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523744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Marc-Antoine Charpentier (1643–1704)：引入義大利不協和與半音對位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Italian dissonance &amp; chromaticism; studied with Carissimi in Rome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328416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Charpentier, Le reniement de Saint Pierre (NAWM 87)：音樂化彼得三次不認主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Dramatizes Peter's threefold denial; closing chorus of ravishing dissonant suspensions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13308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Michel-Richard de Lalande (1657–1726)：Louis XIV 晚年最愛的教會作曲家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70+ grand motets with masterly command of the genre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法國歌曲 Air de cour &amp; Song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Air（歌謠）是 17 世紀法國最重要的聲樂室內曲類型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air was the leading genre of vocal chamber music in France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de cour（宮廷歌）逐漸退流行，被 air serieux（嚴肅歌）取代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de cour gradually replaced by air serieux (serious air)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523744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a boire（飲酒歌）：輕鬆、幽默、政治或愛情主題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Drinking songs on love, pastoral, political, or frivolous topics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328416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Michel Lambert (ca.1610–1696)：Lully 的岳父，最具影響力的歌曲作曲家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Lully's father-in-law; published first collection of airs with basso continuo (1660)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13308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通常為分節歌形式，1–3 聲部 + 魯特琴或數字低音伴奏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Strophic; scored for 1–3 voices with lute or continuo accompaniment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魯特琴與大鍵琴音樂 Lute &amp; Keyboard Music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Denis Gaultier (1603–1672)：最重要的魯特琴作曲家</a:t>
            </a:r>
            <a:endParaRPr lang="en-US" sz="18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lute composer; La rhetorique des dieux (NAWM 88)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大鍵琴(clavecin)在 17 世紀中取代魯特琴成為主要獨奏樂器</a:t>
            </a:r>
            <a:endParaRPr lang="en-US" sz="18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Harpsichord displaced the lute as the main solo instrument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luthe / Style brise（琉特風格 / 碎奏風格）：和弦琶音化而非同時彈奏</a:t>
            </a:r>
            <a:endParaRPr lang="en-US" sz="18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Broken-chord texture imitating lute style; chords arpeggiated, not blocked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重要大鍵琴家：Chambonnieres · D'Anglebert · Jacquet de la Guerre · F. Couperin</a:t>
            </a:r>
            <a:endParaRPr lang="en-US" sz="18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Clavecinists served Louis XIV and published collections for amateurs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組曲與套曲 Suite &amp; Ordre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法國作曲家將一系列舞曲組合為 suite（組曲）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composers grouped dances into suites, each dance with unique character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2011680" cy="594360"/>
          </a:xfrm>
          <a:prstGeom prst="rect">
            <a:avLst>
              <a:gd name="adj" fmla="val 9231"/>
            </a:avLst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630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Allemande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60320" y="14630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中慢速、4/4、嚴肅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577840" y="14630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origin; serious character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2011680" cy="594360"/>
          </a:xfrm>
          <a:prstGeom prst="rect">
            <a:avLst>
              <a:gd name="adj" fmla="val 9231"/>
            </a:avLst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Courante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60320" y="21488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中速、3/2 或 6/4、機智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77840" y="21488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French; witty, metric ambiguity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2011680" cy="594360"/>
          </a:xfrm>
          <a:prstGeom prst="rect">
            <a:avLst>
              <a:gd name="adj" fmla="val 9231"/>
            </a:avLst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8346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Sarabande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560320" y="28346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慢速、3/4、莊嚴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77840" y="28346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Spanish/New World; stress on beat 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65760" y="3520440"/>
            <a:ext cx="2011680" cy="594360"/>
          </a:xfrm>
          <a:prstGeom prst="rect">
            <a:avLst>
              <a:gd name="adj" fmla="val 9231"/>
            </a:avLst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5204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Gigue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560320" y="35204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快速、6/8 或 12/8、活潑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77840" y="35204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English/Irish; lively, imitative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多數舞曲為 binary form（二段體）：||: A :||: B :|| — 各段調性走向不同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dances in binary form; optional dances: gavotte, minuet, chaconne, etc.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89 · Jacquet de la Guerre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Pieces de clavecin, Suite No. 3 in A Minor (1687)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Elisabeth-Claude Jacquet de la Guerre (1665–1729)：五歲即為太陽王演奏</a:t>
            </a:r>
            <a:endParaRPr lang="en-US" sz="18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prodigy who sang and played harpsichord for Louis XIV from age 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89a Prelude：unmeasured prelude（無拍號前奏曲）——法國獨特體裁</a:t>
            </a:r>
            <a:endParaRPr lang="en-US" sz="18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rhythmic notation; sounds improvisatory, like a toccata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889504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89b Allemande → 89c Courante → 89d Sarabande → 89e Gigue</a:t>
            </a:r>
            <a:endParaRPr lang="en-US" sz="18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展示組曲四大標準舞曲，全為二段體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694176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89f Chaconne：rondeau 形式 + 89g Gavotte + 89h Minuet</a:t>
            </a:r>
            <a:endParaRPr lang="en-US" sz="18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Rondeau form with alternating couplets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71600" y="4617720"/>
            <a:ext cx="6400800" cy="347472"/>
          </a:xfrm>
          <a:prstGeom prst="rect">
            <a:avLst>
              <a:gd name="adj" fmla="val 21053"/>
            </a:avLst>
          </a:prstGeom>
          <a:solidFill>
            <a:srgbClr val="1B2838"/>
          </a:solidFill>
          <a:ln/>
        </p:spPr>
      </p:sp>
      <p:sp>
        <p:nvSpPr>
          <p:cNvPr id="12" name="Text 10">
            <a:hlinkClick r:id="rId1" tooltip=""/>
          </p:cNvPr>
          <p:cNvSpPr/>
          <p:nvPr/>
        </p:nvSpPr>
        <p:spPr>
          <a:xfrm>
            <a:off x="1371600" y="461772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u="sng" dirty="0">
                <a:solidFill>
                  <a:srgbClr val="C8A03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https://www.youtube.com/watch?v=_wYhLVX5kPQ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法國風格的歐洲影響 Emulation of French Style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三十年戰爭後法國成為歐洲領導強權（1648–）</a:t>
            </a:r>
            <a:endParaRPr lang="en-US" sz="18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was the leading power in Europe after the Thirty Years' War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法國品味、禮儀、藝術被廣泛模仿——從英國到俄國</a:t>
            </a:r>
            <a:endParaRPr lang="en-US" sz="18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tastes, manners, and arts widely imitated across Europe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1660s 起歐洲存在兩大音樂風格：義大利 vs. 法國</a:t>
            </a:r>
            <a:endParaRPr lang="en-US" sz="18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dominant national styles: Italian (opera, sonata, toccata) vs. French (dance, suite, overture)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法式序曲影響 Bach、Handel 的序曲與組曲</a:t>
            </a:r>
            <a:endParaRPr lang="en-US" sz="18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overture used across Europe for ballets, operas, oratorios, instrumental works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英格蘭歷史背景 England: Civil War to Restoration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英國為有限君主制——國王與國會共享權力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monarchy: king shared rule with Parliament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 I (r.1625–49) 擴張王權，引發內戰(1642–49)——被處決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War; king executed 1649; Commonwealth under Cromwell (1649–58)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523744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1660 Restoration 復辟：Charles II 回歸——宮廷音樂復興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Monarchy restored; Charles II returned from exile in France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328416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1689 光榮革命 &amp; 權利法案：君主立憲確立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Glorious Revolution; Bill of Rights → constitutional monarchy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13308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王室財力不及法國——公眾付費音樂會因此誕生(1672)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house had less money → public concerts invented in England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假面劇與劇場 English Masque &amp; Theater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Masque（假面劇）：自亨利八世以來的宮廷娛樂——結合舞蹈、歌唱、佈景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 court entertainment since Henry VIII; shared elements with opera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Cromwell 清教徒時期禁止舞台戲劇——但允許私人音樂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Puritans banned stage plays but not private musical entertainments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523744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僅存完整假面劇：Cupid and Death (1653) — Locke &amp; Gibbons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complete masque whose music survives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328416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復辟後劇場加入音樂插曲——但英國觀眾不接受全唱歌劇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1660, plays included musical episodes; fully sung opera didn't catch 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13308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僅兩部全唱歌劇：Blow's Venus and Adonis (ca.1683) &amp; Purcell's Dido and Aeneas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through-sung dramas for private audiences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乍浦爾 Henry Purcell (1659–1695)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British Orpheus" — 英國最偉大的巴洛克作曲家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父親為皇家教堂成員；Purcell 自幼加入教堂唱詩班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 was Chapel Royal member; Purcell joined as choirboy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八歲出版第一首歌曲——公認的神童作曲家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first song at age 8; recognized as a gifted prodigy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1677 繼 Matthew Locke 為宮廷小提琴作曲家；1679 西敏寺管風琴師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Composer-in-ordinary for the violins; organist of Westminster Abbey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創作涵蓋幾乎所有體裁：歌劇、附隨音樂、頌歌、歌曲、室內樂、鍵盤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in almost every genre: opera, incidental music, anthems, songs, chamber, keyboard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歲英年早逝，葬於西敏寺——被譽為「不列顛的奧菲斯」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Died at 36; buried in Westminster Abbey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Dido and Aeneas (ca. 1687–88)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迷你歌劇傑作——三幕僅約一小時，四位主角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首演於女子寄宿學校——可能原為宮廷創作</a:t>
            </a:r>
            <a:endParaRPr lang="en-US" sz="18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known performance at a girls' boarding school; may have been intended for court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Blow 的 Venus and Adonis 為範本——融合英、法、義三國風格</a:t>
            </a:r>
            <a:endParaRPr lang="en-US" sz="18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on Blow's Venus and Adonis; combines English, French, Italian elements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overture + Lully 式齊唱合唱 + 義大利式詠嘆調（建立在固定低音上）</a:t>
            </a:r>
            <a:endParaRPr lang="en-US" sz="18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overture; homophonic choruses like Lully; Italian arias over ground bass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英式宣敘調：靈活配合英語的重音、節奏與情感</a:t>
            </a:r>
            <a:endParaRPr lang="en-US" sz="18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recitatives mold flexibly to accents and emotions of English text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90b · Purcell, "When I am laid in earth"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Dido's Lament — 歌劇史上最動人的詠嘆調之一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建立在下行半音固定低音(descending chromatic tetrachord)之上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Descending chromatic ground bass — Italian tradition of lament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8928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Purcell 在低音線加入更多半音，增強悲劇色彩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chromaticism to bass line; sighing figures in voice and violins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55117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懸留音(suspensions)落在強拍，強化不協和的痛苦感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Suspended notes rearticulated on strong beats intensify dissonance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209544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NAWM 90a：Dido 的臨終宣敘調 "Thy hand, Belinda"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stepwise chromatic descent; portrays dying Dido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86791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NAWM 90c：結尾合唱 "With drooping wings" — 模仿 Blow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chorus with descending figures; profound sorrow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71600" y="4617720"/>
            <a:ext cx="6400800" cy="347472"/>
          </a:xfrm>
          <a:prstGeom prst="rect">
            <a:avLst>
              <a:gd name="adj" fmla="val 21053"/>
            </a:avLst>
          </a:prstGeom>
          <a:solidFill>
            <a:srgbClr val="1B2838"/>
          </a:solidFill>
          <a:ln/>
        </p:spPr>
      </p:sp>
      <p:sp>
        <p:nvSpPr>
          <p:cNvPr id="13" name="Text 11">
            <a:hlinkClick r:id="rId1" tooltip=""/>
          </p:cNvPr>
          <p:cNvSpPr/>
          <p:nvPr/>
        </p:nvSpPr>
        <p:spPr>
          <a:xfrm>
            <a:off x="1371600" y="461772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u="sng" dirty="0">
                <a:solidFill>
                  <a:srgbClr val="C8A03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https://www.youtube.com/watch?v=_EkjmEFk6uk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英國聲樂與器樂 English Vocal &amp; Instrumental Music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Semi-opera（半歌劇）：spoken play + overture + masques，如 The Fairy Queen (1692)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Dramatic opera: spoken play with 4+ masques or musical episodes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Catch（輪唱曲）：幽默、粗俗的卡農——紳士社交娛樂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or canon with humorous, often ribald text; gentlemen's entertainment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523744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Anglican church music：復辟後恢復 anthem 與 Service 傳統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Restoration, anthems and Services revived; Charles II favored French grand motet style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328416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 consort 音樂：In Nomines &amp; fantasias — Jenkins, Locke, Purcell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Amateur music-making; last important examples ca. 1680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13308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concerts 公開音樂會：1672 年 London 首創——付費入場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public concert series advertised in London Gazette, December 1672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西班牙與新世界 Spain and the New World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1600 年西班牙帝國為全球最富——白銀來自新世界殖民地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1600, Spain was the richest country: silver from New World colonies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Hidalgo (1614–1685)：西班牙音樂劇場之父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of Spanish musical theater; created the zarzuela with Calderon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523744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Zarzuela：交替唱說的輕歌劇——西班牙的 national genre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mythological play alternating sung and spoken dialogue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328416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purpura de la rosa (NAWM 91)：1701 Lima——新世界第一部歌劇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opera produced in the New World; by Tomas de Torrejon y Velasco (1644–1728)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13308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教會音樂：villancico（聖誕歌）——Padilla (NAWM 92) 在 Puebla, Mexico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Christmas villancico Albricias pastores by Juan Gutierrez de Padilla (ca.1590–1664)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西班牙器樂與教會音樂 Spanish Instrumental &amp; Sacred Music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管風琴：tiento（提恩托）——即興式模仿作品，類似幻想曲</a:t>
            </a:r>
            <a:endParaRPr lang="en-US" sz="18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Tiento: improvisatory imitative genre akin to the fantasia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Bautista Jose Cabanilles (1644–1712)：西班牙管風琴領袖</a:t>
            </a:r>
            <a:endParaRPr lang="en-US" sz="18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Spanish organist; Tiento de batalla imitates trumpet calls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豎琴與吉他：主要室內樂器——圍繞舞曲與固定低音變奏</a:t>
            </a:r>
            <a:endParaRPr lang="en-US" sz="18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Harp and guitar: main chamber instruments; sarabande, chacona, passacalle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殖民地教會音樂將歐洲技法與當地文化融合</a:t>
            </a:r>
            <a:endParaRPr lang="en-US" sz="18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Colonial church music blended European polyphony with local traditions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俄羅斯 Russia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中世紀以來文化孤立——17 世紀開始吸收西歐影響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俄羅斯東正教會：禁止樂器——znamenny chant（知名聖詠）為單聲部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Russian Orthodox Church banned instruments; znamenny chant was monophonic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Nikolay Diletsky (ca.1630–after 1680)：引入西方和聲與對位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grammatikii musikiyskoy (1679): earliest known description of the circle of fifths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779776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Kontsert（聖樂協奏曲）：多聲部合唱，Vasiliy Titov (ca.1650–1715) 為代表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Sacred concerto for voices alone; Titov set all 150 psalms as kanty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529584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Kanty（三聲部歌曲）：上二聲部平行三度——簡單、流行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Three-voice song; top voices in parallel thirds; sacred or secular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2793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the Great (r.1682–1725)：西化改革——建立聖彼得堡，引入歐洲音樂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Westernization: founded St. Petersburg (1703); brought European music and theater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年表 Timeline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686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1621–65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868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 IV of Spain 西班牙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14173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1625–49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417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 I (England) 英國內戰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" y="19659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1643–1715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1965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Louis XIV 法國太陽王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4320" y="25146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1652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514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London coffeehouse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4320" y="30632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1653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063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Ballet de la nuit; Cupid &amp; Death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74320" y="36118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1657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611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Hidalgo: first zarzuela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74320" y="41605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1660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4160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Restoration of English monarchy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54880" y="868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1661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852160" y="868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Louis XIV takes power; Versailles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54880" y="1417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1672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852160" y="14173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Lully begins operas; first public concert (London)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754880" y="19659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1679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852160" y="1965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Diletsky, Idea of Musical Grammar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754880" y="25146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1686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852160" y="2514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Lully, Armide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754880" y="30632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1687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852160" y="3063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Jacquet de la Guerre, Pieces de clavecin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754880" y="36118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ca.1688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852160" y="3611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Purcell, Dido and Aeneas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754880" y="4160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1701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852160" y="4160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Torrejon, La purpura de la rosa (Lima)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關鍵術語 Key Terms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ballet / ballet de cour 宮廷芭蕾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Tragedie en musique 悲劇歌劇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865376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overture 法式序曲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340864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Divertissement 嬉遊曲插段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816352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/ air serieux 歌謠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inegales 不等音符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3767328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Overdotting 過度附點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4242816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Agrements 裝飾音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91440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luthe / brise 琉特/碎奏風格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1389888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/ ordre 組曲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54880" y="1865376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motet 大經文歌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54880" y="2340864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Masque 假面劇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54880" y="2816352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Semi-opera 半歌劇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54880" y="329184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輪唱曲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54880" y="3767328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Zarzuela 薩蘇拉歌劇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54880" y="4242816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Kontsert / kanty 俄式聖樂/歌曲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聆聽指南 Listening Guide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85</a:t>
            </a:r>
            <a:endParaRPr lang="en-US" sz="18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1737360" y="914400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u="sng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Lully, Armide (overture, divertissement, monologue)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86</a:t>
            </a:r>
            <a:endParaRPr lang="en-US" sz="1800" dirty="0"/>
          </a:p>
        </p:txBody>
      </p:sp>
      <p:sp>
        <p:nvSpPr>
          <p:cNvPr id="9" name="Text 7">
            <a:hlinkClick r:id="rId2" tooltip=""/>
          </p:cNvPr>
          <p:cNvSpPr/>
          <p:nvPr/>
        </p:nvSpPr>
        <p:spPr>
          <a:xfrm>
            <a:off x="1737360" y="1417320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u="sng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Lully, Te Deum (conclusion)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19202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87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37360" y="1920240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Charpentier, Le reniement de Saint Pierre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" y="242316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88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37360" y="2423160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Denis Gaultier, La coquette virtuose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" y="292608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89</a:t>
            </a:r>
            <a:endParaRPr lang="en-US" sz="1800" dirty="0"/>
          </a:p>
        </p:txBody>
      </p:sp>
      <p:sp>
        <p:nvSpPr>
          <p:cNvPr id="15" name="Text 13">
            <a:hlinkClick r:id="rId3" tooltip=""/>
          </p:cNvPr>
          <p:cNvSpPr/>
          <p:nvPr/>
        </p:nvSpPr>
        <p:spPr>
          <a:xfrm>
            <a:off x="1737360" y="2926080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u="sng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Jacquet de la Guerre, Suite No. 3 in A Minor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" y="342900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90</a:t>
            </a:r>
            <a:endParaRPr lang="en-US" sz="1800" dirty="0"/>
          </a:p>
        </p:txBody>
      </p:sp>
      <p:sp>
        <p:nvSpPr>
          <p:cNvPr id="17" name="Text 15">
            <a:hlinkClick r:id="rId4" tooltip=""/>
          </p:cNvPr>
          <p:cNvSpPr/>
          <p:nvPr/>
        </p:nvSpPr>
        <p:spPr>
          <a:xfrm>
            <a:off x="1737360" y="3429000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u="sng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Purcell, Dido and Aeneas (recit, lament, chorus)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5760" y="393192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91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37360" y="3931920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Torrejon y Velasco, La purpura de la rosa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65760" y="44348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92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737360" y="4434840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Padilla, Albricias pastores (villancico)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600" kern="0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16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France, England, Spain,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New World, and Russia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Seventeenth Century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286000" y="3337560"/>
            <a:ext cx="4572000" cy="36576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of Chapter 16 · 第十六章結束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Chapter 17 — Italy and Germany in the Late Seventeenth Century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16: France, England, Spain, the New World, and Russia in the Seventeenth Century</dc:title>
  <dc:subject>PptxGenJS Presentation</dc:subject>
  <dc:creator>A History of Western Music, 10th ed.</dc:creator>
  <cp:lastModifiedBy>A History of Western Music, 10th ed.</cp:lastModifiedBy>
  <cp:revision>1</cp:revision>
  <dcterms:created xsi:type="dcterms:W3CDTF">2026-04-17T23:26:14Z</dcterms:created>
  <dcterms:modified xsi:type="dcterms:W3CDTF">2026-04-17T23:26:14Z</dcterms:modified>
</cp:coreProperties>
</file>