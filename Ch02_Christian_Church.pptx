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8A020"/>
          </a:solidFill>
          <a:ln/>
        </p:spPr>
      </p:sp>
      <p:sp>
        <p:nvSpPr>
          <p:cNvPr id="3" name="Shape 1"/>
          <p:cNvSpPr/>
          <p:nvPr/>
        </p:nvSpPr>
        <p:spPr>
          <a:xfrm>
            <a:off x="0" y="5001768"/>
            <a:ext cx="9144000" cy="141732"/>
          </a:xfrm>
          <a:prstGeom prst="rect">
            <a:avLst/>
          </a:prstGeom>
          <a:solidFill>
            <a:srgbClr val="C8A020"/>
          </a:solidFill>
          <a:ln/>
        </p:spPr>
      </p:sp>
      <p:sp>
        <p:nvSpPr>
          <p:cNvPr id="4" name="Text 2"/>
          <p:cNvSpPr/>
          <p:nvPr/>
        </p:nvSpPr>
        <p:spPr>
          <a:xfrm>
            <a:off x="457200" y="411480"/>
            <a:ext cx="8229600" cy="320040"/>
          </a:xfrm>
          <a:prstGeom prst="rect">
            <a:avLst/>
          </a:prstGeom>
          <a:noFill/>
          <a:ln/>
        </p:spPr>
        <p:txBody>
          <a:bodyPr wrap="square" rtlCol="0" anchor="ctr"/>
          <a:lstStyle/>
          <a:p>
            <a:pPr algn="ctr" indent="0" marL="0">
              <a:buNone/>
            </a:pPr>
            <a:r>
              <a:rPr lang="en-US" sz="1400" spc="300" kern="0" dirty="0">
                <a:solidFill>
                  <a:srgbClr val="E8D8A8"/>
                </a:solidFill>
                <a:latin typeface="Georgia" pitchFamily="34" charset="0"/>
                <a:ea typeface="Georgia" pitchFamily="34" charset="-122"/>
                <a:cs typeface="Georgia" pitchFamily="34" charset="-120"/>
              </a:rPr>
              <a:t>A HISTORY OF WESTERN MUSIC · TENTH EDITION</a:t>
            </a:r>
            <a:endParaRPr lang="en-US" sz="1400" dirty="0"/>
          </a:p>
        </p:txBody>
      </p:sp>
      <p:sp>
        <p:nvSpPr>
          <p:cNvPr id="5" name="Text 3"/>
          <p:cNvSpPr/>
          <p:nvPr/>
        </p:nvSpPr>
        <p:spPr>
          <a:xfrm>
            <a:off x="457200" y="822960"/>
            <a:ext cx="8229600" cy="502920"/>
          </a:xfrm>
          <a:prstGeom prst="rect">
            <a:avLst/>
          </a:prstGeom>
          <a:noFill/>
          <a:ln/>
        </p:spPr>
        <p:txBody>
          <a:bodyPr wrap="square" rtlCol="0" anchor="ctr"/>
          <a:lstStyle/>
          <a:p>
            <a:pPr algn="ctr" indent="0" marL="0">
              <a:buNone/>
            </a:pPr>
            <a:r>
              <a:rPr lang="en-US" sz="2000" b="1" spc="600" kern="0" dirty="0">
                <a:solidFill>
                  <a:srgbClr val="C8A020"/>
                </a:solidFill>
                <a:latin typeface="Georgia" pitchFamily="34" charset="0"/>
                <a:ea typeface="Georgia" pitchFamily="34" charset="-122"/>
                <a:cs typeface="Georgia" pitchFamily="34" charset="-120"/>
              </a:rPr>
              <a:t>CHAPTER 2</a:t>
            </a:r>
            <a:endParaRPr lang="en-US" sz="2000" dirty="0"/>
          </a:p>
        </p:txBody>
      </p:sp>
      <p:sp>
        <p:nvSpPr>
          <p:cNvPr id="6" name="Text 4"/>
          <p:cNvSpPr/>
          <p:nvPr/>
        </p:nvSpPr>
        <p:spPr>
          <a:xfrm>
            <a:off x="274320" y="1234440"/>
            <a:ext cx="8595360" cy="1828800"/>
          </a:xfrm>
          <a:prstGeom prst="rect">
            <a:avLst/>
          </a:prstGeom>
          <a:noFill/>
          <a:ln/>
        </p:spPr>
        <p:txBody>
          <a:bodyPr wrap="square" rtlCol="0" anchor="ctr"/>
          <a:lstStyle/>
          <a:p>
            <a:pPr algn="ctr" indent="0" marL="0">
              <a:buNone/>
            </a:pPr>
            <a:r>
              <a:rPr lang="en-US" sz="4000" b="1" dirty="0">
                <a:solidFill>
                  <a:srgbClr val="FBF5E6"/>
                </a:solidFill>
                <a:latin typeface="Georgia" pitchFamily="34" charset="0"/>
                <a:ea typeface="Georgia" pitchFamily="34" charset="-122"/>
                <a:cs typeface="Georgia" pitchFamily="34" charset="-120"/>
              </a:rPr>
              <a:t>THE CHRISTIAN CHURCH</a:t>
            </a:r>
            <a:endParaRPr lang="en-US" sz="4000" dirty="0"/>
          </a:p>
          <a:p>
            <a:pPr algn="ctr" indent="0" marL="0">
              <a:buNone/>
            </a:pPr>
            <a:r>
              <a:rPr lang="en-US" sz="4000" b="1" dirty="0">
                <a:solidFill>
                  <a:srgbClr val="FBF5E6"/>
                </a:solidFill>
                <a:latin typeface="Georgia" pitchFamily="34" charset="0"/>
                <a:ea typeface="Georgia" pitchFamily="34" charset="-122"/>
                <a:cs typeface="Georgia" pitchFamily="34" charset="-120"/>
              </a:rPr>
              <a:t>IN THE FIRST MILLENNIUM</a:t>
            </a:r>
            <a:endParaRPr lang="en-US" sz="4000" dirty="0"/>
          </a:p>
        </p:txBody>
      </p:sp>
      <p:sp>
        <p:nvSpPr>
          <p:cNvPr id="7" name="Shape 5"/>
          <p:cNvSpPr/>
          <p:nvPr/>
        </p:nvSpPr>
        <p:spPr>
          <a:xfrm>
            <a:off x="2286000" y="3154680"/>
            <a:ext cx="4572000" cy="36576"/>
          </a:xfrm>
          <a:prstGeom prst="rect">
            <a:avLst/>
          </a:prstGeom>
          <a:solidFill>
            <a:srgbClr val="C8A020"/>
          </a:solidFill>
          <a:ln/>
        </p:spPr>
      </p:sp>
      <p:sp>
        <p:nvSpPr>
          <p:cNvPr id="8" name="Text 6"/>
          <p:cNvSpPr/>
          <p:nvPr/>
        </p:nvSpPr>
        <p:spPr>
          <a:xfrm>
            <a:off x="457200" y="3291840"/>
            <a:ext cx="8229600" cy="365760"/>
          </a:xfrm>
          <a:prstGeom prst="rect">
            <a:avLst/>
          </a:prstGeom>
          <a:noFill/>
          <a:ln/>
        </p:spPr>
        <p:txBody>
          <a:bodyPr wrap="square" rtlCol="0" anchor="ctr"/>
          <a:lstStyle/>
          <a:p>
            <a:pPr algn="ctr" indent="0" marL="0">
              <a:buNone/>
            </a:pPr>
            <a:r>
              <a:rPr lang="en-US" sz="1500" i="1" dirty="0">
                <a:solidFill>
                  <a:srgbClr val="E8D8A8"/>
                </a:solidFill>
                <a:latin typeface="Georgia" pitchFamily="34" charset="0"/>
                <a:ea typeface="Georgia" pitchFamily="34" charset="-122"/>
                <a:cs typeface="Georgia" pitchFamily="34" charset="-120"/>
              </a:rPr>
              <a:t>The Diffusion of Christianity · The Judaic Heritage · Chant · Notation</a:t>
            </a:r>
            <a:endParaRPr lang="en-US" sz="1500" dirty="0"/>
          </a:p>
        </p:txBody>
      </p:sp>
      <p:sp>
        <p:nvSpPr>
          <p:cNvPr id="9" name="Text 7"/>
          <p:cNvSpPr/>
          <p:nvPr/>
        </p:nvSpPr>
        <p:spPr>
          <a:xfrm>
            <a:off x="457200" y="4389120"/>
            <a:ext cx="8229600" cy="274320"/>
          </a:xfrm>
          <a:prstGeom prst="rect">
            <a:avLst/>
          </a:prstGeom>
          <a:noFill/>
          <a:ln/>
        </p:spPr>
        <p:txBody>
          <a:bodyPr wrap="square" rtlCol="0" anchor="t"/>
          <a:lstStyle/>
          <a:p>
            <a:pPr algn="ctr" indent="0" marL="0">
              <a:buNone/>
            </a:pPr>
            <a:r>
              <a:rPr lang="en-US" sz="1400" dirty="0">
                <a:solidFill>
                  <a:srgbClr val="C8A020"/>
                </a:solidFill>
                <a:latin typeface="Calibri" pitchFamily="34" charset="0"/>
                <a:ea typeface="Calibri" pitchFamily="34" charset="-122"/>
                <a:cs typeface="Calibri" pitchFamily="34" charset="-120"/>
              </a:rPr>
              <a:t>Textbook pp. 20–41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6"/>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A2830"/>
          </a:solidFill>
          <a:ln/>
        </p:spPr>
      </p:sp>
      <p:sp>
        <p:nvSpPr>
          <p:cNvPr id="3" name="Shape 1"/>
          <p:cNvSpPr/>
          <p:nvPr/>
        </p:nvSpPr>
        <p:spPr>
          <a:xfrm>
            <a:off x="0" y="5029200"/>
            <a:ext cx="9144000" cy="114300"/>
          </a:xfrm>
          <a:prstGeom prst="rect">
            <a:avLst/>
          </a:prstGeom>
          <a:solidFill>
            <a:srgbClr val="7A2830"/>
          </a:solidFill>
          <a:ln/>
        </p:spPr>
      </p:sp>
      <p:sp>
        <p:nvSpPr>
          <p:cNvPr id="4" name="Text 2"/>
          <p:cNvSpPr/>
          <p:nvPr/>
        </p:nvSpPr>
        <p:spPr>
          <a:xfrm>
            <a:off x="365760" y="182880"/>
            <a:ext cx="8412480" cy="548640"/>
          </a:xfrm>
          <a:prstGeom prst="rect">
            <a:avLst/>
          </a:prstGeom>
          <a:noFill/>
          <a:ln/>
        </p:spPr>
        <p:txBody>
          <a:bodyPr wrap="square" lIns="0" tIns="0" rIns="0" bIns="0" rtlCol="0" anchor="ctr"/>
          <a:lstStyle/>
          <a:p>
            <a:pPr indent="0" marL="0">
              <a:buNone/>
            </a:pPr>
            <a:r>
              <a:rPr lang="en-US" sz="2600" b="1" dirty="0">
                <a:solidFill>
                  <a:srgbClr val="7A2830"/>
                </a:solidFill>
                <a:latin typeface="Georgia" pitchFamily="34" charset="0"/>
                <a:ea typeface="Georgia" pitchFamily="34" charset="-122"/>
                <a:cs typeface="Georgia" pitchFamily="34" charset="-120"/>
              </a:rPr>
              <a:t>本章概覽 Chapter Overview</a:t>
            </a:r>
            <a:endParaRPr lang="en-US" sz="2600" dirty="0"/>
          </a:p>
        </p:txBody>
      </p:sp>
      <p:sp>
        <p:nvSpPr>
          <p:cNvPr id="5" name="Shape 3"/>
          <p:cNvSpPr/>
          <p:nvPr/>
        </p:nvSpPr>
        <p:spPr>
          <a:xfrm>
            <a:off x="365760" y="749808"/>
            <a:ext cx="8412480" cy="27432"/>
          </a:xfrm>
          <a:prstGeom prst="rect">
            <a:avLst/>
          </a:prstGeom>
          <a:solidFill>
            <a:srgbClr val="E8D8A8"/>
          </a:solidFill>
          <a:ln/>
        </p:spPr>
      </p:sp>
      <p:sp>
        <p:nvSpPr>
          <p:cNvPr id="6" name="Shape 4"/>
          <p:cNvSpPr/>
          <p:nvPr/>
        </p:nvSpPr>
        <p:spPr>
          <a:xfrm>
            <a:off x="365760" y="914400"/>
            <a:ext cx="548640" cy="530352"/>
          </a:xfrm>
          <a:prstGeom prst="rect">
            <a:avLst/>
          </a:prstGeom>
          <a:solidFill>
            <a:srgbClr val="7A2830"/>
          </a:solidFill>
          <a:ln/>
        </p:spPr>
      </p:sp>
      <p:sp>
        <p:nvSpPr>
          <p:cNvPr id="7" name="Text 5"/>
          <p:cNvSpPr/>
          <p:nvPr/>
        </p:nvSpPr>
        <p:spPr>
          <a:xfrm>
            <a:off x="365760" y="960120"/>
            <a:ext cx="54864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1051560" y="914400"/>
            <a:ext cx="7680960" cy="27432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基督教的傳播 The Diffusion of Christianity</a:t>
            </a:r>
            <a:endParaRPr lang="en-US" sz="1400" dirty="0"/>
          </a:p>
        </p:txBody>
      </p:sp>
      <p:sp>
        <p:nvSpPr>
          <p:cNvPr id="9" name="Text 7"/>
          <p:cNvSpPr/>
          <p:nvPr/>
        </p:nvSpPr>
        <p:spPr>
          <a:xfrm>
            <a:off x="1051560" y="1170432"/>
            <a:ext cx="7680960" cy="237744"/>
          </a:xfrm>
          <a:prstGeom prst="rect">
            <a:avLst/>
          </a:prstGeom>
          <a:noFill/>
          <a:ln/>
        </p:spPr>
        <p:txBody>
          <a:bodyPr wrap="square" lIns="0" tIns="0" rIns="0" bIns="0" rtlCol="0" anchor="t"/>
          <a:lstStyle/>
          <a:p>
            <a:pPr indent="0" marL="0">
              <a:buNone/>
            </a:pPr>
            <a:r>
              <a:rPr lang="en-US" sz="1400" dirty="0">
                <a:solidFill>
                  <a:srgbClr val="5C3A28"/>
                </a:solidFill>
                <a:latin typeface="Calibri" pitchFamily="34" charset="0"/>
                <a:ea typeface="Calibri" pitchFamily="34" charset="-122"/>
                <a:cs typeface="Calibri" pitchFamily="34" charset="-120"/>
              </a:rPr>
              <a:t>從耶穌到君士坦丁，基督教如何在羅馬帝國擴散</a:t>
            </a:r>
            <a:endParaRPr lang="en-US" sz="1400" dirty="0"/>
          </a:p>
        </p:txBody>
      </p:sp>
      <p:sp>
        <p:nvSpPr>
          <p:cNvPr id="10" name="Shape 8"/>
          <p:cNvSpPr/>
          <p:nvPr/>
        </p:nvSpPr>
        <p:spPr>
          <a:xfrm>
            <a:off x="365760" y="1600200"/>
            <a:ext cx="548640" cy="530352"/>
          </a:xfrm>
          <a:prstGeom prst="rect">
            <a:avLst/>
          </a:prstGeom>
          <a:solidFill>
            <a:srgbClr val="7A2830"/>
          </a:solidFill>
          <a:ln/>
        </p:spPr>
      </p:sp>
      <p:sp>
        <p:nvSpPr>
          <p:cNvPr id="11" name="Text 9"/>
          <p:cNvSpPr/>
          <p:nvPr/>
        </p:nvSpPr>
        <p:spPr>
          <a:xfrm>
            <a:off x="365760" y="1645920"/>
            <a:ext cx="54864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1051560" y="1600200"/>
            <a:ext cx="7680960" cy="27432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猶太傳統 The Judaic Heritage</a:t>
            </a:r>
            <a:endParaRPr lang="en-US" sz="1400" dirty="0"/>
          </a:p>
        </p:txBody>
      </p:sp>
      <p:sp>
        <p:nvSpPr>
          <p:cNvPr id="13" name="Text 11"/>
          <p:cNvSpPr/>
          <p:nvPr/>
        </p:nvSpPr>
        <p:spPr>
          <a:xfrm>
            <a:off x="1051560" y="1856232"/>
            <a:ext cx="7680960" cy="237744"/>
          </a:xfrm>
          <a:prstGeom prst="rect">
            <a:avLst/>
          </a:prstGeom>
          <a:noFill/>
          <a:ln/>
        </p:spPr>
        <p:txBody>
          <a:bodyPr wrap="square" lIns="0" tIns="0" rIns="0" bIns="0" rtlCol="0" anchor="t"/>
          <a:lstStyle/>
          <a:p>
            <a:pPr indent="0" marL="0">
              <a:buNone/>
            </a:pPr>
            <a:r>
              <a:rPr lang="en-US" sz="1400" dirty="0">
                <a:solidFill>
                  <a:srgbClr val="5C3A28"/>
                </a:solidFill>
                <a:latin typeface="Calibri" pitchFamily="34" charset="0"/>
                <a:ea typeface="Calibri" pitchFamily="34" charset="-122"/>
                <a:cs typeface="Calibri" pitchFamily="34" charset="-120"/>
              </a:rPr>
              <a:t>聖殿詩篇、吟誦、對早期基督教音樂的影響</a:t>
            </a:r>
            <a:endParaRPr lang="en-US" sz="1400" dirty="0"/>
          </a:p>
        </p:txBody>
      </p:sp>
      <p:sp>
        <p:nvSpPr>
          <p:cNvPr id="14" name="Shape 12"/>
          <p:cNvSpPr/>
          <p:nvPr/>
        </p:nvSpPr>
        <p:spPr>
          <a:xfrm>
            <a:off x="365760" y="2286000"/>
            <a:ext cx="548640" cy="530352"/>
          </a:xfrm>
          <a:prstGeom prst="rect">
            <a:avLst/>
          </a:prstGeom>
          <a:solidFill>
            <a:srgbClr val="7A2830"/>
          </a:solidFill>
          <a:ln/>
        </p:spPr>
      </p:sp>
      <p:sp>
        <p:nvSpPr>
          <p:cNvPr id="15" name="Text 13"/>
          <p:cNvSpPr/>
          <p:nvPr/>
        </p:nvSpPr>
        <p:spPr>
          <a:xfrm>
            <a:off x="365760" y="2331720"/>
            <a:ext cx="54864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1051560" y="2286000"/>
            <a:ext cx="7680960" cy="27432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早期教會音樂 Music in the Early Church</a:t>
            </a:r>
            <a:endParaRPr lang="en-US" sz="1400" dirty="0"/>
          </a:p>
        </p:txBody>
      </p:sp>
      <p:sp>
        <p:nvSpPr>
          <p:cNvPr id="17" name="Text 15"/>
          <p:cNvSpPr/>
          <p:nvPr/>
        </p:nvSpPr>
        <p:spPr>
          <a:xfrm>
            <a:off x="1051560" y="2542032"/>
            <a:ext cx="7680960" cy="237744"/>
          </a:xfrm>
          <a:prstGeom prst="rect">
            <a:avLst/>
          </a:prstGeom>
          <a:noFill/>
          <a:ln/>
        </p:spPr>
        <p:txBody>
          <a:bodyPr wrap="square" lIns="0" tIns="0" rIns="0" bIns="0" rtlCol="0" anchor="t"/>
          <a:lstStyle/>
          <a:p>
            <a:pPr indent="0" marL="0">
              <a:buNone/>
            </a:pPr>
            <a:r>
              <a:rPr lang="en-US" sz="1400" dirty="0">
                <a:solidFill>
                  <a:srgbClr val="5C3A28"/>
                </a:solidFill>
                <a:latin typeface="Calibri" pitchFamily="34" charset="0"/>
                <a:ea typeface="Calibri" pitchFamily="34" charset="-122"/>
                <a:cs typeface="Calibri" pitchFamily="34" charset="-120"/>
              </a:rPr>
              <a:t>感恩詩篇、教父思想、單聲部演唱傳統</a:t>
            </a:r>
            <a:endParaRPr lang="en-US" sz="1400" dirty="0"/>
          </a:p>
        </p:txBody>
      </p:sp>
      <p:sp>
        <p:nvSpPr>
          <p:cNvPr id="18" name="Shape 16"/>
          <p:cNvSpPr/>
          <p:nvPr/>
        </p:nvSpPr>
        <p:spPr>
          <a:xfrm>
            <a:off x="365760" y="2971800"/>
            <a:ext cx="548640" cy="530352"/>
          </a:xfrm>
          <a:prstGeom prst="rect">
            <a:avLst/>
          </a:prstGeom>
          <a:solidFill>
            <a:srgbClr val="7A2830"/>
          </a:solidFill>
          <a:ln/>
        </p:spPr>
      </p:sp>
      <p:sp>
        <p:nvSpPr>
          <p:cNvPr id="19" name="Text 17"/>
          <p:cNvSpPr/>
          <p:nvPr/>
        </p:nvSpPr>
        <p:spPr>
          <a:xfrm>
            <a:off x="365760" y="3017520"/>
            <a:ext cx="54864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1051560" y="2971800"/>
            <a:ext cx="7680960" cy="27432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教會分裂與聖詠方言 Divisions &amp; Dialects of Chant</a:t>
            </a:r>
            <a:endParaRPr lang="en-US" sz="1400" dirty="0"/>
          </a:p>
        </p:txBody>
      </p:sp>
      <p:sp>
        <p:nvSpPr>
          <p:cNvPr id="21" name="Text 19"/>
          <p:cNvSpPr/>
          <p:nvPr/>
        </p:nvSpPr>
        <p:spPr>
          <a:xfrm>
            <a:off x="1051560" y="3227832"/>
            <a:ext cx="7680960" cy="237744"/>
          </a:xfrm>
          <a:prstGeom prst="rect">
            <a:avLst/>
          </a:prstGeom>
          <a:noFill/>
          <a:ln/>
        </p:spPr>
        <p:txBody>
          <a:bodyPr wrap="square" lIns="0" tIns="0" rIns="0" bIns="0" rtlCol="0" anchor="t"/>
          <a:lstStyle/>
          <a:p>
            <a:pPr indent="0" marL="0">
              <a:buNone/>
            </a:pPr>
            <a:r>
              <a:rPr lang="en-US" sz="1400" dirty="0">
                <a:solidFill>
                  <a:srgbClr val="5C3A28"/>
                </a:solidFill>
                <a:latin typeface="Calibri" pitchFamily="34" charset="0"/>
                <a:ea typeface="Calibri" pitchFamily="34" charset="-122"/>
                <a:cs typeface="Calibri" pitchFamily="34" charset="-120"/>
              </a:rPr>
              <a:t>拜占庭、格里高利、安布羅西等聖詠傳統</a:t>
            </a:r>
            <a:endParaRPr lang="en-US" sz="1400" dirty="0"/>
          </a:p>
        </p:txBody>
      </p:sp>
      <p:sp>
        <p:nvSpPr>
          <p:cNvPr id="22" name="Shape 20"/>
          <p:cNvSpPr/>
          <p:nvPr/>
        </p:nvSpPr>
        <p:spPr>
          <a:xfrm>
            <a:off x="365760" y="3657600"/>
            <a:ext cx="548640" cy="530352"/>
          </a:xfrm>
          <a:prstGeom prst="rect">
            <a:avLst/>
          </a:prstGeom>
          <a:solidFill>
            <a:srgbClr val="7A2830"/>
          </a:solidFill>
          <a:ln/>
        </p:spPr>
      </p:sp>
      <p:sp>
        <p:nvSpPr>
          <p:cNvPr id="23" name="Text 21"/>
          <p:cNvSpPr/>
          <p:nvPr/>
        </p:nvSpPr>
        <p:spPr>
          <a:xfrm>
            <a:off x="365760" y="3703320"/>
            <a:ext cx="54864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1051560" y="3657600"/>
            <a:ext cx="7680960" cy="27432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記譜法的發展 The Development of Notation</a:t>
            </a:r>
            <a:endParaRPr lang="en-US" sz="1400" dirty="0"/>
          </a:p>
        </p:txBody>
      </p:sp>
      <p:sp>
        <p:nvSpPr>
          <p:cNvPr id="25" name="Text 23"/>
          <p:cNvSpPr/>
          <p:nvPr/>
        </p:nvSpPr>
        <p:spPr>
          <a:xfrm>
            <a:off x="1051560" y="3913632"/>
            <a:ext cx="7680960" cy="237744"/>
          </a:xfrm>
          <a:prstGeom prst="rect">
            <a:avLst/>
          </a:prstGeom>
          <a:noFill/>
          <a:ln/>
        </p:spPr>
        <p:txBody>
          <a:bodyPr wrap="square" lIns="0" tIns="0" rIns="0" bIns="0" rtlCol="0" anchor="t"/>
          <a:lstStyle/>
          <a:p>
            <a:pPr indent="0" marL="0">
              <a:buNone/>
            </a:pPr>
            <a:r>
              <a:rPr lang="en-US" sz="1400" dirty="0">
                <a:solidFill>
                  <a:srgbClr val="5C3A28"/>
                </a:solidFill>
                <a:latin typeface="Calibri" pitchFamily="34" charset="0"/>
                <a:ea typeface="Calibri" pitchFamily="34" charset="-122"/>
                <a:cs typeface="Calibri" pitchFamily="34" charset="-120"/>
              </a:rPr>
              <a:t>紐姆符號 → 有線譜 → 阿雷佐的桂多</a:t>
            </a:r>
            <a:endParaRPr lang="en-US" sz="1400" dirty="0"/>
          </a:p>
        </p:txBody>
      </p:sp>
      <p:sp>
        <p:nvSpPr>
          <p:cNvPr id="26" name="Shape 24"/>
          <p:cNvSpPr/>
          <p:nvPr/>
        </p:nvSpPr>
        <p:spPr>
          <a:xfrm>
            <a:off x="365760" y="4343400"/>
            <a:ext cx="548640" cy="530352"/>
          </a:xfrm>
          <a:prstGeom prst="rect">
            <a:avLst/>
          </a:prstGeom>
          <a:solidFill>
            <a:srgbClr val="7A2830"/>
          </a:solidFill>
          <a:ln/>
        </p:spPr>
      </p:sp>
      <p:sp>
        <p:nvSpPr>
          <p:cNvPr id="27" name="Text 25"/>
          <p:cNvSpPr/>
          <p:nvPr/>
        </p:nvSpPr>
        <p:spPr>
          <a:xfrm>
            <a:off x="365760" y="4389120"/>
            <a:ext cx="54864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1051560" y="4343400"/>
            <a:ext cx="7680960" cy="274320"/>
          </a:xfrm>
          <a:prstGeom prst="rect">
            <a:avLst/>
          </a:prstGeom>
          <a:noFill/>
          <a:ln/>
        </p:spPr>
        <p:txBody>
          <a:bodyPr wrap="square" lIns="0" tIns="0" rIns="0" bIns="0" rtlCol="0" anchor="ctr"/>
          <a:lstStyle/>
          <a:p>
            <a:pPr indent="0" marL="0">
              <a:buNone/>
            </a:pPr>
            <a:r>
              <a:rPr lang="en-US" sz="1400" b="1" dirty="0">
                <a:solidFill>
                  <a:srgbClr val="2C1810"/>
                </a:solidFill>
                <a:latin typeface="Georgia" pitchFamily="34" charset="0"/>
                <a:ea typeface="Georgia" pitchFamily="34" charset="-122"/>
                <a:cs typeface="Georgia" pitchFamily="34" charset="-120"/>
              </a:rPr>
              <a:t>音樂理論與實踐 Music Theory and Practice</a:t>
            </a:r>
            <a:endParaRPr lang="en-US" sz="1400" dirty="0"/>
          </a:p>
        </p:txBody>
      </p:sp>
      <p:sp>
        <p:nvSpPr>
          <p:cNvPr id="29" name="Text 27"/>
          <p:cNvSpPr/>
          <p:nvPr/>
        </p:nvSpPr>
        <p:spPr>
          <a:xfrm>
            <a:off x="1051560" y="4599432"/>
            <a:ext cx="7680960" cy="237744"/>
          </a:xfrm>
          <a:prstGeom prst="rect">
            <a:avLst/>
          </a:prstGeom>
          <a:noFill/>
          <a:ln/>
        </p:spPr>
        <p:txBody>
          <a:bodyPr wrap="square" lIns="0" tIns="0" rIns="0" bIns="0" rtlCol="0" anchor="t"/>
          <a:lstStyle/>
          <a:p>
            <a:pPr indent="0" marL="0">
              <a:buNone/>
            </a:pPr>
            <a:r>
              <a:rPr lang="en-US" sz="1400" dirty="0">
                <a:solidFill>
                  <a:srgbClr val="5C3A28"/>
                </a:solidFill>
                <a:latin typeface="Calibri" pitchFamily="34" charset="0"/>
                <a:ea typeface="Calibri" pitchFamily="34" charset="-122"/>
                <a:cs typeface="Calibri" pitchFamily="34" charset="-120"/>
              </a:rPr>
              <a:t>波愛修斯、調式體系、唱名法（ut re mi fa sol la）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A020"/>
          </a:solidFill>
          <a:ln/>
        </p:spPr>
      </p:sp>
      <p:sp>
        <p:nvSpPr>
          <p:cNvPr id="3" name="Shape 1"/>
          <p:cNvSpPr/>
          <p:nvPr/>
        </p:nvSpPr>
        <p:spPr>
          <a:xfrm>
            <a:off x="0" y="5029200"/>
            <a:ext cx="9144000" cy="114300"/>
          </a:xfrm>
          <a:prstGeom prst="rect">
            <a:avLst/>
          </a:prstGeom>
          <a:solidFill>
            <a:srgbClr val="C8A020"/>
          </a:solidFill>
          <a:ln/>
        </p:spPr>
      </p:sp>
      <p:sp>
        <p:nvSpPr>
          <p:cNvPr id="4" name="Text 2"/>
          <p:cNvSpPr/>
          <p:nvPr/>
        </p:nvSpPr>
        <p:spPr>
          <a:xfrm>
            <a:off x="365760" y="164592"/>
            <a:ext cx="8412480" cy="502920"/>
          </a:xfrm>
          <a:prstGeom prst="rect">
            <a:avLst/>
          </a:prstGeom>
          <a:noFill/>
          <a:ln/>
        </p:spPr>
        <p:txBody>
          <a:bodyPr wrap="square" rtlCol="0" anchor="ctr"/>
          <a:lstStyle/>
          <a:p>
            <a:pPr algn="ctr" indent="0" marL="0">
              <a:buNone/>
            </a:pPr>
            <a:r>
              <a:rPr lang="en-US" sz="3000" b="1" dirty="0">
                <a:solidFill>
                  <a:srgbClr val="C8A020"/>
                </a:solidFill>
                <a:latin typeface="Georgia" pitchFamily="34" charset="0"/>
                <a:ea typeface="Georgia" pitchFamily="34" charset="-122"/>
                <a:cs typeface="Georgia" pitchFamily="34" charset="-120"/>
              </a:rPr>
              <a:t>基督教的傳播</a:t>
            </a:r>
            <a:endParaRPr lang="en-US" sz="3000" dirty="0"/>
          </a:p>
        </p:txBody>
      </p:sp>
      <p:sp>
        <p:nvSpPr>
          <p:cNvPr id="5" name="Text 3"/>
          <p:cNvSpPr/>
          <p:nvPr/>
        </p:nvSpPr>
        <p:spPr>
          <a:xfrm>
            <a:off x="365760" y="658368"/>
            <a:ext cx="8412480" cy="347472"/>
          </a:xfrm>
          <a:prstGeom prst="rect">
            <a:avLst/>
          </a:prstGeom>
          <a:noFill/>
          <a:ln/>
        </p:spPr>
        <p:txBody>
          <a:bodyPr wrap="square" rtlCol="0" anchor="ctr"/>
          <a:lstStyle/>
          <a:p>
            <a:pPr algn="ctr" indent="0" marL="0">
              <a:buNone/>
            </a:pPr>
            <a:r>
              <a:rPr lang="en-US" sz="1800" i="1" dirty="0">
                <a:solidFill>
                  <a:srgbClr val="E8D8A8"/>
                </a:solidFill>
                <a:latin typeface="Georgia" pitchFamily="34" charset="0"/>
                <a:ea typeface="Georgia" pitchFamily="34" charset="-122"/>
                <a:cs typeface="Georgia" pitchFamily="34" charset="-120"/>
              </a:rPr>
              <a:t>The Diffusion of Christianity</a:t>
            </a:r>
            <a:endParaRPr lang="en-US" sz="1800" dirty="0"/>
          </a:p>
        </p:txBody>
      </p:sp>
      <p:sp>
        <p:nvSpPr>
          <p:cNvPr id="6" name="Shape 4"/>
          <p:cNvSpPr/>
          <p:nvPr/>
        </p:nvSpPr>
        <p:spPr>
          <a:xfrm>
            <a:off x="1371600" y="1024128"/>
            <a:ext cx="6400800" cy="36576"/>
          </a:xfrm>
          <a:prstGeom prst="rect">
            <a:avLst/>
          </a:prstGeom>
          <a:solidFill>
            <a:srgbClr val="C8A020"/>
          </a:solidFill>
          <a:ln/>
        </p:spPr>
      </p:sp>
      <p:sp>
        <p:nvSpPr>
          <p:cNvPr id="7" name="Shape 5"/>
          <p:cNvSpPr/>
          <p:nvPr/>
        </p:nvSpPr>
        <p:spPr>
          <a:xfrm>
            <a:off x="274320" y="1115568"/>
            <a:ext cx="8595360" cy="667512"/>
          </a:xfrm>
          <a:prstGeom prst="rect">
            <a:avLst/>
          </a:prstGeom>
          <a:solidFill>
            <a:srgbClr val="3A2015"/>
          </a:solidFill>
          <a:ln/>
        </p:spPr>
      </p:sp>
      <p:sp>
        <p:nvSpPr>
          <p:cNvPr id="8" name="Text 6"/>
          <p:cNvSpPr/>
          <p:nvPr/>
        </p:nvSpPr>
        <p:spPr>
          <a:xfrm>
            <a:off x="411480" y="1179576"/>
            <a:ext cx="1920240" cy="50292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起源 Origin</a:t>
            </a:r>
            <a:endParaRPr lang="en-US" sz="1400" dirty="0"/>
          </a:p>
        </p:txBody>
      </p:sp>
      <p:sp>
        <p:nvSpPr>
          <p:cNvPr id="9" name="Text 7"/>
          <p:cNvSpPr/>
          <p:nvPr/>
        </p:nvSpPr>
        <p:spPr>
          <a:xfrm>
            <a:off x="2331720" y="1161288"/>
            <a:ext cx="6355080" cy="56692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拿撒勒耶穌（Jesus of Nazareth）—猶太人，羅馬帝國臣民；其教導催生基督教運動</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Jesus of Nazareth, a Jew and subject of Rome; his teachings sparked Christianity</a:t>
            </a:r>
            <a:endParaRPr lang="en-US" sz="1400" dirty="0"/>
          </a:p>
        </p:txBody>
      </p:sp>
      <p:sp>
        <p:nvSpPr>
          <p:cNvPr id="10" name="Shape 8"/>
          <p:cNvSpPr/>
          <p:nvPr/>
        </p:nvSpPr>
        <p:spPr>
          <a:xfrm>
            <a:off x="274320" y="1874520"/>
            <a:ext cx="8595360" cy="667512"/>
          </a:xfrm>
          <a:prstGeom prst="rect">
            <a:avLst/>
          </a:prstGeom>
          <a:solidFill>
            <a:srgbClr val="3A2015"/>
          </a:solidFill>
          <a:ln/>
        </p:spPr>
      </p:sp>
      <p:sp>
        <p:nvSpPr>
          <p:cNvPr id="11" name="Text 9"/>
          <p:cNvSpPr/>
          <p:nvPr/>
        </p:nvSpPr>
        <p:spPr>
          <a:xfrm>
            <a:off x="411480" y="1938528"/>
            <a:ext cx="1920240" cy="50292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傳播 Spread</a:t>
            </a:r>
            <a:endParaRPr lang="en-US" sz="1400" dirty="0"/>
          </a:p>
        </p:txBody>
      </p:sp>
      <p:sp>
        <p:nvSpPr>
          <p:cNvPr id="12" name="Text 10"/>
          <p:cNvSpPr/>
          <p:nvPr/>
        </p:nvSpPr>
        <p:spPr>
          <a:xfrm>
            <a:off x="2331720" y="1920240"/>
            <a:ext cx="6355080" cy="56692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聖彼得、聖保羅等使徒將信仰帶至近東、希臘、義大利各地</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Apostles (St. Peter, St. Paul) spread the faith throughout the Near East, Greece, and Italy</a:t>
            </a:r>
            <a:endParaRPr lang="en-US" sz="1400" dirty="0"/>
          </a:p>
        </p:txBody>
      </p:sp>
      <p:sp>
        <p:nvSpPr>
          <p:cNvPr id="13" name="Shape 11"/>
          <p:cNvSpPr/>
          <p:nvPr/>
        </p:nvSpPr>
        <p:spPr>
          <a:xfrm>
            <a:off x="274320" y="2633472"/>
            <a:ext cx="8595360" cy="667512"/>
          </a:xfrm>
          <a:prstGeom prst="rect">
            <a:avLst/>
          </a:prstGeom>
          <a:solidFill>
            <a:srgbClr val="3A2015"/>
          </a:solidFill>
          <a:ln/>
        </p:spPr>
      </p:sp>
      <p:sp>
        <p:nvSpPr>
          <p:cNvPr id="14" name="Text 12"/>
          <p:cNvSpPr/>
          <p:nvPr/>
        </p:nvSpPr>
        <p:spPr>
          <a:xfrm>
            <a:off x="411480" y="2697480"/>
            <a:ext cx="1920240" cy="50292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迫害到合法 Legal</a:t>
            </a:r>
            <a:endParaRPr lang="en-US" sz="1400" dirty="0"/>
          </a:p>
        </p:txBody>
      </p:sp>
      <p:sp>
        <p:nvSpPr>
          <p:cNvPr id="15" name="Text 13"/>
          <p:cNvSpPr/>
          <p:nvPr/>
        </p:nvSpPr>
        <p:spPr>
          <a:xfrm>
            <a:off x="2331720" y="2679192"/>
            <a:ext cx="6355080" cy="56692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313 CE：君士坦丁一世頒布《米蘭勒令》，基督教合法化</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Constantine I issued the Edict of Milan (313 CE); Christianity legalized</a:t>
            </a:r>
            <a:endParaRPr lang="en-US" sz="1400" dirty="0"/>
          </a:p>
        </p:txBody>
      </p:sp>
      <p:sp>
        <p:nvSpPr>
          <p:cNvPr id="16" name="Shape 14"/>
          <p:cNvSpPr/>
          <p:nvPr/>
        </p:nvSpPr>
        <p:spPr>
          <a:xfrm>
            <a:off x="274320" y="3392424"/>
            <a:ext cx="8595360" cy="667512"/>
          </a:xfrm>
          <a:prstGeom prst="rect">
            <a:avLst/>
          </a:prstGeom>
          <a:solidFill>
            <a:srgbClr val="3A2015"/>
          </a:solidFill>
          <a:ln/>
        </p:spPr>
      </p:sp>
      <p:sp>
        <p:nvSpPr>
          <p:cNvPr id="17" name="Text 15"/>
          <p:cNvSpPr/>
          <p:nvPr/>
        </p:nvSpPr>
        <p:spPr>
          <a:xfrm>
            <a:off x="411480" y="3456432"/>
            <a:ext cx="1920240" cy="50292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國教 Official</a:t>
            </a:r>
            <a:endParaRPr lang="en-US" sz="1400" dirty="0"/>
          </a:p>
        </p:txBody>
      </p:sp>
      <p:sp>
        <p:nvSpPr>
          <p:cNvPr id="18" name="Text 16"/>
          <p:cNvSpPr/>
          <p:nvPr/>
        </p:nvSpPr>
        <p:spPr>
          <a:xfrm>
            <a:off x="2331720" y="3438144"/>
            <a:ext cx="6355080" cy="56692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392 CE：狄奧多西一世定基督教為羅馬帝國唯一官方宗教</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Emperor Theodosius I (392 CE) made Christianity the sole official religion</a:t>
            </a:r>
            <a:endParaRPr lang="en-US" sz="1400" dirty="0"/>
          </a:p>
        </p:txBody>
      </p:sp>
      <p:sp>
        <p:nvSpPr>
          <p:cNvPr id="19" name="Shape 17"/>
          <p:cNvSpPr/>
          <p:nvPr/>
        </p:nvSpPr>
        <p:spPr>
          <a:xfrm>
            <a:off x="274320" y="4151376"/>
            <a:ext cx="8595360" cy="667512"/>
          </a:xfrm>
          <a:prstGeom prst="rect">
            <a:avLst/>
          </a:prstGeom>
          <a:solidFill>
            <a:srgbClr val="3A2015"/>
          </a:solidFill>
          <a:ln/>
        </p:spPr>
      </p:sp>
      <p:sp>
        <p:nvSpPr>
          <p:cNvPr id="20" name="Text 18"/>
          <p:cNvSpPr/>
          <p:nvPr/>
        </p:nvSpPr>
        <p:spPr>
          <a:xfrm>
            <a:off x="411480" y="4215384"/>
            <a:ext cx="1920240" cy="50292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版圖 Reach</a:t>
            </a:r>
            <a:endParaRPr lang="en-US" sz="1400" dirty="0"/>
          </a:p>
        </p:txBody>
      </p:sp>
      <p:sp>
        <p:nvSpPr>
          <p:cNvPr id="21" name="Text 19"/>
          <p:cNvSpPr/>
          <p:nvPr/>
        </p:nvSpPr>
        <p:spPr>
          <a:xfrm>
            <a:off x="2331720" y="4197096"/>
            <a:ext cx="6355080" cy="56692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600 CE 前，前羅馬帝國幾乎全境皆已基督教化</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By 600 CE, virtually all of the former Roman Empire was Christian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6"/>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A84030"/>
          </a:solidFill>
          <a:ln/>
        </p:spPr>
      </p:sp>
      <p:sp>
        <p:nvSpPr>
          <p:cNvPr id="3" name="Shape 1"/>
          <p:cNvSpPr/>
          <p:nvPr/>
        </p:nvSpPr>
        <p:spPr>
          <a:xfrm>
            <a:off x="0" y="5029200"/>
            <a:ext cx="9144000" cy="114300"/>
          </a:xfrm>
          <a:prstGeom prst="rect">
            <a:avLst/>
          </a:prstGeom>
          <a:solidFill>
            <a:srgbClr val="A84030"/>
          </a:solidFill>
          <a:ln/>
        </p:spPr>
      </p:sp>
      <p:sp>
        <p:nvSpPr>
          <p:cNvPr id="4" name="Text 2"/>
          <p:cNvSpPr/>
          <p:nvPr/>
        </p:nvSpPr>
        <p:spPr>
          <a:xfrm>
            <a:off x="365760" y="164592"/>
            <a:ext cx="8412480" cy="502920"/>
          </a:xfrm>
          <a:prstGeom prst="rect">
            <a:avLst/>
          </a:prstGeom>
          <a:noFill/>
          <a:ln/>
        </p:spPr>
        <p:txBody>
          <a:bodyPr wrap="square" lIns="0" tIns="0" rIns="0" bIns="0" rtlCol="0" anchor="ctr"/>
          <a:lstStyle/>
          <a:p>
            <a:pPr indent="0" marL="0">
              <a:buNone/>
            </a:pPr>
            <a:r>
              <a:rPr lang="en-US" sz="2600" b="1" dirty="0">
                <a:solidFill>
                  <a:srgbClr val="A84030"/>
                </a:solidFill>
                <a:latin typeface="Georgia" pitchFamily="34" charset="0"/>
                <a:ea typeface="Georgia" pitchFamily="34" charset="-122"/>
                <a:cs typeface="Georgia" pitchFamily="34" charset="-120"/>
              </a:rPr>
              <a:t>猶太傳統 The Judaic Heritage</a:t>
            </a:r>
            <a:endParaRPr lang="en-US" sz="2600" dirty="0"/>
          </a:p>
        </p:txBody>
      </p:sp>
      <p:sp>
        <p:nvSpPr>
          <p:cNvPr id="5" name="Shape 3"/>
          <p:cNvSpPr/>
          <p:nvPr/>
        </p:nvSpPr>
        <p:spPr>
          <a:xfrm>
            <a:off x="365760" y="713232"/>
            <a:ext cx="8412480" cy="27432"/>
          </a:xfrm>
          <a:prstGeom prst="rect">
            <a:avLst/>
          </a:prstGeom>
          <a:solidFill>
            <a:srgbClr val="E8D8A8"/>
          </a:solidFill>
          <a:ln/>
        </p:spPr>
      </p:sp>
      <p:sp>
        <p:nvSpPr>
          <p:cNvPr id="6" name="Text 4"/>
          <p:cNvSpPr/>
          <p:nvPr/>
        </p:nvSpPr>
        <p:spPr>
          <a:xfrm>
            <a:off x="365760" y="804672"/>
            <a:ext cx="5029200" cy="365760"/>
          </a:xfrm>
          <a:prstGeom prst="rect">
            <a:avLst/>
          </a:prstGeom>
          <a:noFill/>
          <a:ln/>
        </p:spPr>
        <p:txBody>
          <a:bodyPr wrap="square" lIns="0" tIns="0" rIns="0" bIns="0" rtlCol="0" anchor="ctr"/>
          <a:lstStyle/>
          <a:p>
            <a:pPr indent="0" marL="0">
              <a:buNone/>
            </a:pPr>
            <a:r>
              <a:rPr lang="en-US" sz="1600" b="1" dirty="0">
                <a:solidFill>
                  <a:srgbClr val="7A2830"/>
                </a:solidFill>
                <a:latin typeface="Georgia" pitchFamily="34" charset="0"/>
                <a:ea typeface="Georgia" pitchFamily="34" charset="-122"/>
                <a:cs typeface="Georgia" pitchFamily="34" charset="-120"/>
              </a:rPr>
              <a:t>聖殿儀式 Temple Rites</a:t>
            </a:r>
            <a:endParaRPr lang="en-US" sz="1600" dirty="0"/>
          </a:p>
        </p:txBody>
      </p:sp>
      <p:sp>
        <p:nvSpPr>
          <p:cNvPr id="7" name="Text 5"/>
          <p:cNvSpPr/>
          <p:nvPr/>
        </p:nvSpPr>
        <p:spPr>
          <a:xfrm>
            <a:off x="365760" y="1207008"/>
            <a:ext cx="5120640" cy="3200400"/>
          </a:xfrm>
          <a:prstGeom prst="rect">
            <a:avLst/>
          </a:prstGeom>
          <a:noFill/>
          <a:ln/>
        </p:spPr>
        <p:txBody>
          <a:bodyPr wrap="square" rtlCol="0" anchor="ctr"/>
          <a:lstStyle/>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第二聖殿（ca. 516 BCE – 70 CE）：利未人唱詩班演唱詩篇，豎琴與聖詠相伴</a:t>
            </a:r>
            <a:endParaRPr lang="en-US" sz="1400" dirty="0"/>
          </a:p>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Second Temple (ca. 516 BCE – 70 CE): Levite choirs sang psalms with harp and psaltery</a:t>
            </a:r>
            <a:endParaRPr lang="en-US" sz="1400" dirty="0"/>
          </a:p>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節日與安息日舉行犧牲獻祭，配以吹號與銅鈸</a:t>
            </a:r>
            <a:endParaRPr lang="en-US" sz="1400" dirty="0"/>
          </a:p>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Sacrifices on festivals and Sabbath accompanied by trumpets and cymbals</a:t>
            </a:r>
            <a:endParaRPr lang="en-US" sz="1400" dirty="0"/>
          </a:p>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70 CE 羅馬摧毀聖殿 → 儀式轉移至會堂（synagogue）</a:t>
            </a:r>
            <a:endParaRPr lang="en-US" sz="1400" dirty="0"/>
          </a:p>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Romans destroyed the Temple (70 CE) → worship moved to synagogues</a:t>
            </a:r>
            <a:endParaRPr lang="en-US" sz="1400" dirty="0"/>
          </a:p>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會堂以誦讀聖經為主，採用吟誦（cantillation）公式</a:t>
            </a:r>
            <a:endParaRPr lang="en-US" sz="1400" dirty="0"/>
          </a:p>
          <a:p>
            <a:pPr marL="342900" indent="-342900">
              <a:spcAft>
                <a:spcPts val="500"/>
              </a:spcAft>
              <a:buSzPct val="100000"/>
              <a:buChar char="•"/>
            </a:pPr>
            <a:r>
              <a:rPr lang="en-US" sz="1400" dirty="0">
                <a:solidFill>
                  <a:srgbClr val="2C1810"/>
                </a:solidFill>
                <a:latin typeface="Calibri" pitchFamily="34" charset="0"/>
                <a:ea typeface="Calibri" pitchFamily="34" charset="-122"/>
                <a:cs typeface="Calibri" pitchFamily="34" charset="-120"/>
              </a:rPr>
              <a:t>Synagogue centered on public reading of Scripture using cantillation (chanting formulas)</a:t>
            </a:r>
            <a:endParaRPr lang="en-US" sz="1400" dirty="0"/>
          </a:p>
        </p:txBody>
      </p:sp>
      <p:sp>
        <p:nvSpPr>
          <p:cNvPr id="8" name="Shape 6"/>
          <p:cNvSpPr/>
          <p:nvPr/>
        </p:nvSpPr>
        <p:spPr>
          <a:xfrm>
            <a:off x="5669280" y="804672"/>
            <a:ext cx="3108960" cy="3840480"/>
          </a:xfrm>
          <a:prstGeom prst="rect">
            <a:avLst/>
          </a:prstGeom>
          <a:solidFill>
            <a:srgbClr val="7A2830"/>
          </a:solidFill>
          <a:ln/>
        </p:spPr>
      </p:sp>
      <p:sp>
        <p:nvSpPr>
          <p:cNvPr id="9" name="Text 7"/>
          <p:cNvSpPr/>
          <p:nvPr/>
        </p:nvSpPr>
        <p:spPr>
          <a:xfrm>
            <a:off x="5760720" y="896112"/>
            <a:ext cx="2926080" cy="365760"/>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 關鍵詞 Key Terms</a:t>
            </a:r>
            <a:endParaRPr lang="en-US" sz="1400" dirty="0"/>
          </a:p>
        </p:txBody>
      </p:sp>
      <p:sp>
        <p:nvSpPr>
          <p:cNvPr id="10" name="Shape 8"/>
          <p:cNvSpPr/>
          <p:nvPr/>
        </p:nvSpPr>
        <p:spPr>
          <a:xfrm>
            <a:off x="5806440" y="1353312"/>
            <a:ext cx="2834640" cy="749808"/>
          </a:xfrm>
          <a:prstGeom prst="rect">
            <a:avLst/>
          </a:prstGeom>
          <a:solidFill>
            <a:srgbClr val="5A2020"/>
          </a:solidFill>
          <a:ln/>
        </p:spPr>
      </p:sp>
      <p:sp>
        <p:nvSpPr>
          <p:cNvPr id="11" name="Text 9"/>
          <p:cNvSpPr/>
          <p:nvPr/>
        </p:nvSpPr>
        <p:spPr>
          <a:xfrm>
            <a:off x="5897880" y="1389888"/>
            <a:ext cx="2651760" cy="292608"/>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Psalms 詩篇</a:t>
            </a:r>
            <a:endParaRPr lang="en-US" sz="1400" dirty="0"/>
          </a:p>
        </p:txBody>
      </p:sp>
      <p:sp>
        <p:nvSpPr>
          <p:cNvPr id="12" name="Text 10"/>
          <p:cNvSpPr/>
          <p:nvPr/>
        </p:nvSpPr>
        <p:spPr>
          <a:xfrm>
            <a:off x="5897880" y="1700784"/>
            <a:ext cx="2651760" cy="3474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希伯來詩歌聖詩；基督教與猶太教皆用</a:t>
            </a:r>
            <a:endParaRPr lang="en-US" sz="1400" dirty="0"/>
          </a:p>
        </p:txBody>
      </p:sp>
      <p:sp>
        <p:nvSpPr>
          <p:cNvPr id="13" name="Shape 11"/>
          <p:cNvSpPr/>
          <p:nvPr/>
        </p:nvSpPr>
        <p:spPr>
          <a:xfrm>
            <a:off x="5806440" y="2194560"/>
            <a:ext cx="2834640" cy="749808"/>
          </a:xfrm>
          <a:prstGeom prst="rect">
            <a:avLst/>
          </a:prstGeom>
          <a:solidFill>
            <a:srgbClr val="5A2020"/>
          </a:solidFill>
          <a:ln/>
        </p:spPr>
      </p:sp>
      <p:sp>
        <p:nvSpPr>
          <p:cNvPr id="14" name="Text 12"/>
          <p:cNvSpPr/>
          <p:nvPr/>
        </p:nvSpPr>
        <p:spPr>
          <a:xfrm>
            <a:off x="5897880" y="2231136"/>
            <a:ext cx="2651760" cy="292608"/>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Cantillation 吟誦</a:t>
            </a:r>
            <a:endParaRPr lang="en-US" sz="1400" dirty="0"/>
          </a:p>
        </p:txBody>
      </p:sp>
      <p:sp>
        <p:nvSpPr>
          <p:cNvPr id="15" name="Text 13"/>
          <p:cNvSpPr/>
          <p:nvPr/>
        </p:nvSpPr>
        <p:spPr>
          <a:xfrm>
            <a:off x="5897880" y="2542032"/>
            <a:ext cx="2651760" cy="3474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以旋律公式演唱聖典，依句法分段</a:t>
            </a:r>
            <a:endParaRPr lang="en-US" sz="1400" dirty="0"/>
          </a:p>
        </p:txBody>
      </p:sp>
      <p:sp>
        <p:nvSpPr>
          <p:cNvPr id="16" name="Shape 14"/>
          <p:cNvSpPr/>
          <p:nvPr/>
        </p:nvSpPr>
        <p:spPr>
          <a:xfrm>
            <a:off x="5806440" y="3035808"/>
            <a:ext cx="2834640" cy="749808"/>
          </a:xfrm>
          <a:prstGeom prst="rect">
            <a:avLst/>
          </a:prstGeom>
          <a:solidFill>
            <a:srgbClr val="5A2020"/>
          </a:solidFill>
          <a:ln/>
        </p:spPr>
      </p:sp>
      <p:sp>
        <p:nvSpPr>
          <p:cNvPr id="17" name="Text 15"/>
          <p:cNvSpPr/>
          <p:nvPr/>
        </p:nvSpPr>
        <p:spPr>
          <a:xfrm>
            <a:off x="5897880" y="3072384"/>
            <a:ext cx="2651760" cy="292608"/>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Levites 利未人</a:t>
            </a:r>
            <a:endParaRPr lang="en-US" sz="1400" dirty="0"/>
          </a:p>
        </p:txBody>
      </p:sp>
      <p:sp>
        <p:nvSpPr>
          <p:cNvPr id="18" name="Text 16"/>
          <p:cNvSpPr/>
          <p:nvPr/>
        </p:nvSpPr>
        <p:spPr>
          <a:xfrm>
            <a:off x="5897880" y="3383280"/>
            <a:ext cx="2651760" cy="3474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聖殿中負責音樂的祭司階層</a:t>
            </a:r>
            <a:endParaRPr lang="en-US" sz="1400" dirty="0"/>
          </a:p>
        </p:txBody>
      </p:sp>
      <p:sp>
        <p:nvSpPr>
          <p:cNvPr id="19" name="Shape 17"/>
          <p:cNvSpPr/>
          <p:nvPr/>
        </p:nvSpPr>
        <p:spPr>
          <a:xfrm>
            <a:off x="5806440" y="3877056"/>
            <a:ext cx="2834640" cy="749808"/>
          </a:xfrm>
          <a:prstGeom prst="rect">
            <a:avLst/>
          </a:prstGeom>
          <a:solidFill>
            <a:srgbClr val="5A2020"/>
          </a:solidFill>
          <a:ln/>
        </p:spPr>
      </p:sp>
      <p:sp>
        <p:nvSpPr>
          <p:cNvPr id="20" name="Text 18"/>
          <p:cNvSpPr/>
          <p:nvPr/>
        </p:nvSpPr>
        <p:spPr>
          <a:xfrm>
            <a:off x="5897880" y="3913632"/>
            <a:ext cx="2651760" cy="292608"/>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Synagogue 會堂</a:t>
            </a:r>
            <a:endParaRPr lang="en-US" sz="1400" dirty="0"/>
          </a:p>
        </p:txBody>
      </p:sp>
      <p:sp>
        <p:nvSpPr>
          <p:cNvPr id="21" name="Text 19"/>
          <p:cNvSpPr/>
          <p:nvPr/>
        </p:nvSpPr>
        <p:spPr>
          <a:xfrm>
            <a:off x="5897880" y="4224528"/>
            <a:ext cx="2651760" cy="3474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猶太教聚會場所，聖殿崩毀後的禮拜中心</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5E6"/>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A84030"/>
          </a:solidFill>
          <a:ln/>
        </p:spPr>
      </p:sp>
      <p:sp>
        <p:nvSpPr>
          <p:cNvPr id="3" name="Shape 1"/>
          <p:cNvSpPr/>
          <p:nvPr/>
        </p:nvSpPr>
        <p:spPr>
          <a:xfrm>
            <a:off x="0" y="5029200"/>
            <a:ext cx="9144000" cy="114300"/>
          </a:xfrm>
          <a:prstGeom prst="rect">
            <a:avLst/>
          </a:prstGeom>
          <a:solidFill>
            <a:srgbClr val="A84030"/>
          </a:solidFill>
          <a:ln/>
        </p:spPr>
      </p:sp>
      <p:sp>
        <p:nvSpPr>
          <p:cNvPr id="4" name="Text 2"/>
          <p:cNvSpPr/>
          <p:nvPr/>
        </p:nvSpPr>
        <p:spPr>
          <a:xfrm>
            <a:off x="365760" y="164592"/>
            <a:ext cx="8412480" cy="502920"/>
          </a:xfrm>
          <a:prstGeom prst="rect">
            <a:avLst/>
          </a:prstGeom>
          <a:noFill/>
          <a:ln/>
        </p:spPr>
        <p:txBody>
          <a:bodyPr wrap="square" lIns="0" tIns="0" rIns="0" bIns="0" rtlCol="0" anchor="ctr"/>
          <a:lstStyle/>
          <a:p>
            <a:pPr indent="0" marL="0">
              <a:buNone/>
            </a:pPr>
            <a:r>
              <a:rPr lang="en-US" sz="2400" b="1" dirty="0">
                <a:solidFill>
                  <a:srgbClr val="A84030"/>
                </a:solidFill>
                <a:latin typeface="Georgia" pitchFamily="34" charset="0"/>
                <a:ea typeface="Georgia" pitchFamily="34" charset="-122"/>
                <a:cs typeface="Georgia" pitchFamily="34" charset="-120"/>
              </a:rPr>
              <a:t>早期教會音樂 Music in the Early Church</a:t>
            </a:r>
            <a:endParaRPr lang="en-US" sz="2400" dirty="0"/>
          </a:p>
        </p:txBody>
      </p:sp>
      <p:sp>
        <p:nvSpPr>
          <p:cNvPr id="5" name="Shape 3"/>
          <p:cNvSpPr/>
          <p:nvPr/>
        </p:nvSpPr>
        <p:spPr>
          <a:xfrm>
            <a:off x="365760" y="713232"/>
            <a:ext cx="8412480" cy="27432"/>
          </a:xfrm>
          <a:prstGeom prst="rect">
            <a:avLst/>
          </a:prstGeom>
          <a:solidFill>
            <a:srgbClr val="E8D8A8"/>
          </a:solidFill>
          <a:ln/>
        </p:spPr>
      </p:sp>
      <p:sp>
        <p:nvSpPr>
          <p:cNvPr id="6" name="Text 4"/>
          <p:cNvSpPr/>
          <p:nvPr/>
        </p:nvSpPr>
        <p:spPr>
          <a:xfrm>
            <a:off x="365760" y="768096"/>
            <a:ext cx="8412480" cy="502920"/>
          </a:xfrm>
          <a:prstGeom prst="rect">
            <a:avLst/>
          </a:prstGeom>
          <a:noFill/>
          <a:ln/>
        </p:spPr>
        <p:txBody>
          <a:bodyPr wrap="square" rtlCol="0" anchor="t"/>
          <a:lstStyle/>
          <a:p>
            <a:pPr indent="0" marL="0">
              <a:buNone/>
            </a:pPr>
            <a:r>
              <a:rPr lang="en-US" sz="1400" i="1" dirty="0">
                <a:solidFill>
                  <a:srgbClr val="4A3828"/>
                </a:solidFill>
                <a:latin typeface="Calibri" pitchFamily="34" charset="0"/>
                <a:ea typeface="Calibri" pitchFamily="34" charset="-122"/>
                <a:cs typeface="Calibri" pitchFamily="34" charset="-120"/>
              </a:rPr>
              <a:t>最早有文字記載的基督教音樂活動是演唱讚美詩與詩篇（馬太 26:30；馬可 14:26；以弗所書 5:19）</a:t>
            </a:r>
            <a:endParaRPr lang="en-US" sz="1400" dirty="0"/>
          </a:p>
          <a:p>
            <a:pPr indent="0" marL="0">
              <a:buNone/>
            </a:pPr>
            <a:r>
              <a:rPr lang="en-US" sz="1400" i="1" dirty="0">
                <a:solidFill>
                  <a:srgbClr val="4A3828"/>
                </a:solidFill>
                <a:latin typeface="Calibri" pitchFamily="34" charset="0"/>
                <a:ea typeface="Calibri" pitchFamily="34" charset="-122"/>
                <a:cs typeface="Calibri" pitchFamily="34" charset="-120"/>
              </a:rPr>
              <a:t>Earliest recorded musical activity: singing hymns and psalms (Matthew 26:30; Ephesians 5:19)</a:t>
            </a:r>
            <a:endParaRPr lang="en-US" sz="1400" dirty="0"/>
          </a:p>
        </p:txBody>
      </p:sp>
      <p:sp>
        <p:nvSpPr>
          <p:cNvPr id="7" name="Shape 5"/>
          <p:cNvSpPr/>
          <p:nvPr/>
        </p:nvSpPr>
        <p:spPr>
          <a:xfrm>
            <a:off x="274320" y="1353312"/>
            <a:ext cx="1965960" cy="3429000"/>
          </a:xfrm>
          <a:prstGeom prst="rect">
            <a:avLst/>
          </a:prstGeom>
          <a:solidFill>
            <a:srgbClr val="7A2830"/>
          </a:solidFill>
          <a:ln/>
        </p:spPr>
      </p:sp>
      <p:sp>
        <p:nvSpPr>
          <p:cNvPr id="8" name="Text 6"/>
          <p:cNvSpPr/>
          <p:nvPr/>
        </p:nvSpPr>
        <p:spPr>
          <a:xfrm>
            <a:off x="274320" y="1417320"/>
            <a:ext cx="196596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a:p>
            <a:pPr algn="ctr" indent="0" marL="0">
              <a:buNone/>
            </a:pPr>
            <a:r>
              <a:rPr lang="en-US" sz="2200" dirty="0">
                <a:solidFill>
                  <a:srgbClr val="000000"/>
                </a:solidFill>
              </a:rPr>
              <a:t>會堂</a:t>
            </a:r>
            <a:endParaRPr lang="en-US" sz="2200" dirty="0"/>
          </a:p>
        </p:txBody>
      </p:sp>
      <p:sp>
        <p:nvSpPr>
          <p:cNvPr id="9" name="Text 7"/>
          <p:cNvSpPr/>
          <p:nvPr/>
        </p:nvSpPr>
        <p:spPr>
          <a:xfrm>
            <a:off x="365760" y="2084832"/>
            <a:ext cx="1783080" cy="347472"/>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Basilica</a:t>
            </a:r>
            <a:endParaRPr lang="en-US" sz="1400" dirty="0"/>
          </a:p>
        </p:txBody>
      </p:sp>
      <p:sp>
        <p:nvSpPr>
          <p:cNvPr id="10" name="Shape 8"/>
          <p:cNvSpPr/>
          <p:nvPr/>
        </p:nvSpPr>
        <p:spPr>
          <a:xfrm>
            <a:off x="548640" y="2450592"/>
            <a:ext cx="1417320" cy="27432"/>
          </a:xfrm>
          <a:prstGeom prst="rect">
            <a:avLst/>
          </a:prstGeom>
          <a:solidFill>
            <a:srgbClr val="C8A020"/>
          </a:solidFill>
          <a:ln/>
        </p:spPr>
      </p:sp>
      <p:sp>
        <p:nvSpPr>
          <p:cNvPr id="11" name="Text 9"/>
          <p:cNvSpPr/>
          <p:nvPr/>
        </p:nvSpPr>
        <p:spPr>
          <a:xfrm>
            <a:off x="347472" y="2505456"/>
            <a:ext cx="1819656" cy="1188720"/>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四世紀起公開禮拜在大型教堂舉行</a:t>
            </a:r>
            <a:endParaRPr lang="en-US" sz="1400" dirty="0"/>
          </a:p>
          <a:p>
            <a:pPr algn="ctr" indent="0" marL="0">
              <a:buNone/>
            </a:pPr>
            <a:r>
              <a:rPr lang="en-US" sz="1400" dirty="0">
                <a:solidFill>
                  <a:srgbClr val="FBF5E6"/>
                </a:solidFill>
                <a:latin typeface="Calibri" pitchFamily="34" charset="0"/>
                <a:ea typeface="Calibri" pitchFamily="34" charset="-122"/>
                <a:cs typeface="Calibri" pitchFamily="34" charset="-120"/>
              </a:rPr>
              <a:t>吟誦有助聲音傳播</a:t>
            </a:r>
            <a:endParaRPr lang="en-US" sz="1400" dirty="0"/>
          </a:p>
        </p:txBody>
      </p:sp>
      <p:sp>
        <p:nvSpPr>
          <p:cNvPr id="12" name="Text 10"/>
          <p:cNvSpPr/>
          <p:nvPr/>
        </p:nvSpPr>
        <p:spPr>
          <a:xfrm>
            <a:off x="347472" y="3730752"/>
            <a:ext cx="1819656" cy="914400"/>
          </a:xfrm>
          <a:prstGeom prst="rect">
            <a:avLst/>
          </a:prstGeom>
          <a:noFill/>
          <a:ln/>
        </p:spPr>
        <p:txBody>
          <a:bodyPr wrap="square" rtlCol="0" anchor="t"/>
          <a:lstStyle/>
          <a:p>
            <a:pPr algn="ctr" indent="0" marL="0">
              <a:buNone/>
            </a:pPr>
            <a:r>
              <a:rPr lang="en-US" sz="1400" i="1" dirty="0">
                <a:solidFill>
                  <a:srgbClr val="E8D8A8"/>
                </a:solidFill>
                <a:latin typeface="Calibri" pitchFamily="34" charset="0"/>
                <a:ea typeface="Calibri" pitchFamily="34" charset="-122"/>
                <a:cs typeface="Calibri" pitchFamily="34" charset="-120"/>
              </a:rPr>
              <a:t>Large basilica buildings</a:t>
            </a:r>
            <a:endParaRPr lang="en-US" sz="1400" dirty="0"/>
          </a:p>
          <a:p>
            <a:pPr algn="ctr" indent="0" marL="0">
              <a:buNone/>
            </a:pPr>
            <a:r>
              <a:rPr lang="en-US" sz="1400" i="1" dirty="0">
                <a:solidFill>
                  <a:srgbClr val="E8D8A8"/>
                </a:solidFill>
                <a:latin typeface="Calibri" pitchFamily="34" charset="0"/>
                <a:ea typeface="Calibri" pitchFamily="34" charset="-122"/>
                <a:cs typeface="Calibri" pitchFamily="34" charset="-120"/>
              </a:rPr>
              <a:t>chanting carries clearly</a:t>
            </a:r>
            <a:endParaRPr lang="en-US" sz="1400" dirty="0"/>
          </a:p>
        </p:txBody>
      </p:sp>
      <p:sp>
        <p:nvSpPr>
          <p:cNvPr id="13" name="Shape 11"/>
          <p:cNvSpPr/>
          <p:nvPr/>
        </p:nvSpPr>
        <p:spPr>
          <a:xfrm>
            <a:off x="2423160" y="1353312"/>
            <a:ext cx="1965960" cy="3429000"/>
          </a:xfrm>
          <a:prstGeom prst="rect">
            <a:avLst/>
          </a:prstGeom>
          <a:solidFill>
            <a:srgbClr val="7A2830"/>
          </a:solidFill>
          <a:ln/>
        </p:spPr>
      </p:sp>
      <p:sp>
        <p:nvSpPr>
          <p:cNvPr id="14" name="Text 12"/>
          <p:cNvSpPr/>
          <p:nvPr/>
        </p:nvSpPr>
        <p:spPr>
          <a:xfrm>
            <a:off x="2423160" y="1417320"/>
            <a:ext cx="196596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a:p>
            <a:pPr algn="ctr" indent="0" marL="0">
              <a:buNone/>
            </a:pPr>
            <a:r>
              <a:rPr lang="en-US" sz="2200" dirty="0">
                <a:solidFill>
                  <a:srgbClr val="000000"/>
                </a:solidFill>
              </a:rPr>
              <a:t>修道院</a:t>
            </a:r>
            <a:endParaRPr lang="en-US" sz="2200" dirty="0"/>
          </a:p>
        </p:txBody>
      </p:sp>
      <p:sp>
        <p:nvSpPr>
          <p:cNvPr id="15" name="Text 13"/>
          <p:cNvSpPr/>
          <p:nvPr/>
        </p:nvSpPr>
        <p:spPr>
          <a:xfrm>
            <a:off x="2514600" y="2084832"/>
            <a:ext cx="1783080" cy="347472"/>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Monasteries</a:t>
            </a:r>
            <a:endParaRPr lang="en-US" sz="1400" dirty="0"/>
          </a:p>
        </p:txBody>
      </p:sp>
      <p:sp>
        <p:nvSpPr>
          <p:cNvPr id="16" name="Shape 14"/>
          <p:cNvSpPr/>
          <p:nvPr/>
        </p:nvSpPr>
        <p:spPr>
          <a:xfrm>
            <a:off x="2697480" y="2450592"/>
            <a:ext cx="1417320" cy="27432"/>
          </a:xfrm>
          <a:prstGeom prst="rect">
            <a:avLst/>
          </a:prstGeom>
          <a:solidFill>
            <a:srgbClr val="C8A020"/>
          </a:solidFill>
          <a:ln/>
        </p:spPr>
      </p:sp>
      <p:sp>
        <p:nvSpPr>
          <p:cNvPr id="17" name="Text 15"/>
          <p:cNvSpPr/>
          <p:nvPr/>
        </p:nvSpPr>
        <p:spPr>
          <a:xfrm>
            <a:off x="2496312" y="2505456"/>
            <a:ext cx="1819656" cy="1188720"/>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修士每日數次吟誦詩篇</a:t>
            </a:r>
            <a:endParaRPr lang="en-US" sz="1400" dirty="0"/>
          </a:p>
          <a:p>
            <a:pPr algn="ctr" indent="0" marL="0">
              <a:buNone/>
            </a:pPr>
            <a:r>
              <a:rPr lang="en-US" sz="1400" dirty="0">
                <a:solidFill>
                  <a:srgbClr val="FBF5E6"/>
                </a:solidFill>
                <a:latin typeface="Calibri" pitchFamily="34" charset="0"/>
                <a:ea typeface="Calibri" pitchFamily="34" charset="-122"/>
                <a:cs typeface="Calibri" pitchFamily="34" charset="-120"/>
              </a:rPr>
              <a:t>靈性操練的核心</a:t>
            </a:r>
            <a:endParaRPr lang="en-US" sz="1400" dirty="0"/>
          </a:p>
        </p:txBody>
      </p:sp>
      <p:sp>
        <p:nvSpPr>
          <p:cNvPr id="18" name="Text 16"/>
          <p:cNvSpPr/>
          <p:nvPr/>
        </p:nvSpPr>
        <p:spPr>
          <a:xfrm>
            <a:off x="2496312" y="3730752"/>
            <a:ext cx="1819656" cy="914400"/>
          </a:xfrm>
          <a:prstGeom prst="rect">
            <a:avLst/>
          </a:prstGeom>
          <a:noFill/>
          <a:ln/>
        </p:spPr>
        <p:txBody>
          <a:bodyPr wrap="square" rtlCol="0" anchor="t"/>
          <a:lstStyle/>
          <a:p>
            <a:pPr algn="ctr" indent="0" marL="0">
              <a:buNone/>
            </a:pPr>
            <a:r>
              <a:rPr lang="en-US" sz="1400" i="1" dirty="0">
                <a:solidFill>
                  <a:srgbClr val="E8D8A8"/>
                </a:solidFill>
                <a:latin typeface="Calibri" pitchFamily="34" charset="0"/>
                <a:ea typeface="Calibri" pitchFamily="34" charset="-122"/>
                <a:cs typeface="Calibri" pitchFamily="34" charset="-120"/>
              </a:rPr>
              <a:t>Psalm singing</a:t>
            </a:r>
            <a:endParaRPr lang="en-US" sz="1400" dirty="0"/>
          </a:p>
          <a:p>
            <a:pPr algn="ctr" indent="0" marL="0">
              <a:buNone/>
            </a:pPr>
            <a:r>
              <a:rPr lang="en-US" sz="1400" i="1" dirty="0">
                <a:solidFill>
                  <a:srgbClr val="E8D8A8"/>
                </a:solidFill>
                <a:latin typeface="Calibri" pitchFamily="34" charset="0"/>
                <a:ea typeface="Calibri" pitchFamily="34" charset="-122"/>
                <a:cs typeface="Calibri" pitchFamily="34" charset="-120"/>
              </a:rPr>
              <a:t>as spiritual discipline</a:t>
            </a:r>
            <a:endParaRPr lang="en-US" sz="1400" dirty="0"/>
          </a:p>
        </p:txBody>
      </p:sp>
      <p:sp>
        <p:nvSpPr>
          <p:cNvPr id="19" name="Shape 17"/>
          <p:cNvSpPr/>
          <p:nvPr/>
        </p:nvSpPr>
        <p:spPr>
          <a:xfrm>
            <a:off x="4572000" y="1353312"/>
            <a:ext cx="1965960" cy="3429000"/>
          </a:xfrm>
          <a:prstGeom prst="rect">
            <a:avLst/>
          </a:prstGeom>
          <a:solidFill>
            <a:srgbClr val="7A2830"/>
          </a:solidFill>
          <a:ln/>
        </p:spPr>
      </p:sp>
      <p:sp>
        <p:nvSpPr>
          <p:cNvPr id="20" name="Text 18"/>
          <p:cNvSpPr/>
          <p:nvPr/>
        </p:nvSpPr>
        <p:spPr>
          <a:xfrm>
            <a:off x="4572000" y="1417320"/>
            <a:ext cx="196596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a:p>
            <a:pPr algn="ctr" indent="0" marL="0">
              <a:buNone/>
            </a:pPr>
            <a:r>
              <a:rPr lang="en-US" sz="2200" dirty="0">
                <a:solidFill>
                  <a:srgbClr val="000000"/>
                </a:solidFill>
              </a:rPr>
              <a:t>教父</a:t>
            </a:r>
            <a:endParaRPr lang="en-US" sz="2200" dirty="0"/>
          </a:p>
        </p:txBody>
      </p:sp>
      <p:sp>
        <p:nvSpPr>
          <p:cNvPr id="21" name="Text 19"/>
          <p:cNvSpPr/>
          <p:nvPr/>
        </p:nvSpPr>
        <p:spPr>
          <a:xfrm>
            <a:off x="4663440" y="2084832"/>
            <a:ext cx="1783080" cy="347472"/>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Church Fathers</a:t>
            </a:r>
            <a:endParaRPr lang="en-US" sz="1400" dirty="0"/>
          </a:p>
        </p:txBody>
      </p:sp>
      <p:sp>
        <p:nvSpPr>
          <p:cNvPr id="22" name="Shape 20"/>
          <p:cNvSpPr/>
          <p:nvPr/>
        </p:nvSpPr>
        <p:spPr>
          <a:xfrm>
            <a:off x="4846320" y="2450592"/>
            <a:ext cx="1417320" cy="27432"/>
          </a:xfrm>
          <a:prstGeom prst="rect">
            <a:avLst/>
          </a:prstGeom>
          <a:solidFill>
            <a:srgbClr val="C8A020"/>
          </a:solidFill>
          <a:ln/>
        </p:spPr>
      </p:sp>
      <p:sp>
        <p:nvSpPr>
          <p:cNvPr id="23" name="Text 21"/>
          <p:cNvSpPr/>
          <p:nvPr/>
        </p:nvSpPr>
        <p:spPr>
          <a:xfrm>
            <a:off x="4645152" y="2505456"/>
            <a:ext cx="1819656" cy="1188720"/>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聖巴西流、聖奧古斯丁以希臘哲學詮釋音樂</a:t>
            </a:r>
            <a:endParaRPr lang="en-US" sz="1400" dirty="0"/>
          </a:p>
        </p:txBody>
      </p:sp>
      <p:sp>
        <p:nvSpPr>
          <p:cNvPr id="24" name="Text 22"/>
          <p:cNvSpPr/>
          <p:nvPr/>
        </p:nvSpPr>
        <p:spPr>
          <a:xfrm>
            <a:off x="4645152" y="3730752"/>
            <a:ext cx="1819656" cy="914400"/>
          </a:xfrm>
          <a:prstGeom prst="rect">
            <a:avLst/>
          </a:prstGeom>
          <a:noFill/>
          <a:ln/>
        </p:spPr>
        <p:txBody>
          <a:bodyPr wrap="square" rtlCol="0" anchor="t"/>
          <a:lstStyle/>
          <a:p>
            <a:pPr algn="ctr" indent="0" marL="0">
              <a:buNone/>
            </a:pPr>
            <a:r>
              <a:rPr lang="en-US" sz="1400" i="1" dirty="0">
                <a:solidFill>
                  <a:srgbClr val="E8D8A8"/>
                </a:solidFill>
                <a:latin typeface="Calibri" pitchFamily="34" charset="0"/>
                <a:ea typeface="Calibri" pitchFamily="34" charset="-122"/>
                <a:cs typeface="Calibri" pitchFamily="34" charset="-120"/>
              </a:rPr>
              <a:t>Music shapes soul</a:t>
            </a:r>
            <a:endParaRPr lang="en-US" sz="1400" dirty="0"/>
          </a:p>
          <a:p>
            <a:pPr algn="ctr" indent="0" marL="0">
              <a:buNone/>
            </a:pPr>
            <a:r>
              <a:rPr lang="en-US" sz="1400" i="1" dirty="0">
                <a:solidFill>
                  <a:srgbClr val="E8D8A8"/>
                </a:solidFill>
                <a:latin typeface="Calibri" pitchFamily="34" charset="0"/>
                <a:ea typeface="Calibri" pitchFamily="34" charset="-122"/>
                <a:cs typeface="Calibri" pitchFamily="34" charset="-120"/>
              </a:rPr>
              <a:t>but pleasure suspect</a:t>
            </a:r>
            <a:endParaRPr lang="en-US" sz="1400" dirty="0"/>
          </a:p>
        </p:txBody>
      </p:sp>
      <p:sp>
        <p:nvSpPr>
          <p:cNvPr id="25" name="Shape 23"/>
          <p:cNvSpPr/>
          <p:nvPr/>
        </p:nvSpPr>
        <p:spPr>
          <a:xfrm>
            <a:off x="6720840" y="1353312"/>
            <a:ext cx="1965960" cy="3429000"/>
          </a:xfrm>
          <a:prstGeom prst="rect">
            <a:avLst/>
          </a:prstGeom>
          <a:solidFill>
            <a:srgbClr val="7A2830"/>
          </a:solidFill>
          <a:ln/>
        </p:spPr>
      </p:sp>
      <p:sp>
        <p:nvSpPr>
          <p:cNvPr id="26" name="Text 24"/>
          <p:cNvSpPr/>
          <p:nvPr/>
        </p:nvSpPr>
        <p:spPr>
          <a:xfrm>
            <a:off x="6720840" y="1417320"/>
            <a:ext cx="196596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a:p>
            <a:pPr algn="ctr" indent="0" marL="0">
              <a:buNone/>
            </a:pPr>
            <a:r>
              <a:rPr lang="en-US" sz="2200" dirty="0">
                <a:solidFill>
                  <a:srgbClr val="000000"/>
                </a:solidFill>
              </a:rPr>
              <a:t>樂器</a:t>
            </a:r>
            <a:endParaRPr lang="en-US" sz="2200" dirty="0"/>
          </a:p>
        </p:txBody>
      </p:sp>
      <p:sp>
        <p:nvSpPr>
          <p:cNvPr id="27" name="Text 25"/>
          <p:cNvSpPr/>
          <p:nvPr/>
        </p:nvSpPr>
        <p:spPr>
          <a:xfrm>
            <a:off x="6812280" y="2084832"/>
            <a:ext cx="1783080" cy="347472"/>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Instruments</a:t>
            </a:r>
            <a:endParaRPr lang="en-US" sz="1400" dirty="0"/>
          </a:p>
        </p:txBody>
      </p:sp>
      <p:sp>
        <p:nvSpPr>
          <p:cNvPr id="28" name="Shape 26"/>
          <p:cNvSpPr/>
          <p:nvPr/>
        </p:nvSpPr>
        <p:spPr>
          <a:xfrm>
            <a:off x="6995160" y="2450592"/>
            <a:ext cx="1417320" cy="27432"/>
          </a:xfrm>
          <a:prstGeom prst="rect">
            <a:avLst/>
          </a:prstGeom>
          <a:solidFill>
            <a:srgbClr val="C8A020"/>
          </a:solidFill>
          <a:ln/>
        </p:spPr>
      </p:sp>
      <p:sp>
        <p:nvSpPr>
          <p:cNvPr id="29" name="Text 27"/>
          <p:cNvSpPr/>
          <p:nvPr/>
        </p:nvSpPr>
        <p:spPr>
          <a:xfrm>
            <a:off x="6793992" y="2505456"/>
            <a:ext cx="1819656" cy="1188720"/>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早期教會禁用器樂</a:t>
            </a:r>
            <a:endParaRPr lang="en-US" sz="1400" dirty="0"/>
          </a:p>
          <a:p>
            <a:pPr algn="ctr" indent="0" marL="0">
              <a:buNone/>
            </a:pPr>
            <a:r>
              <a:rPr lang="en-US" sz="1400" dirty="0">
                <a:solidFill>
                  <a:srgbClr val="FBF5E6"/>
                </a:solidFill>
                <a:latin typeface="Calibri" pitchFamily="34" charset="0"/>
                <a:ea typeface="Calibri" pitchFamily="34" charset="-122"/>
                <a:cs typeface="Calibri" pitchFamily="34" charset="-120"/>
              </a:rPr>
              <a:t>音樂只服侍語言</a:t>
            </a:r>
            <a:endParaRPr lang="en-US" sz="1400" dirty="0"/>
          </a:p>
        </p:txBody>
      </p:sp>
      <p:sp>
        <p:nvSpPr>
          <p:cNvPr id="30" name="Text 28"/>
          <p:cNvSpPr/>
          <p:nvPr/>
        </p:nvSpPr>
        <p:spPr>
          <a:xfrm>
            <a:off x="6793992" y="3730752"/>
            <a:ext cx="1819656" cy="914400"/>
          </a:xfrm>
          <a:prstGeom prst="rect">
            <a:avLst/>
          </a:prstGeom>
          <a:noFill/>
          <a:ln/>
        </p:spPr>
        <p:txBody>
          <a:bodyPr wrap="square" rtlCol="0" anchor="t"/>
          <a:lstStyle/>
          <a:p>
            <a:pPr algn="ctr" indent="0" marL="0">
              <a:buNone/>
            </a:pPr>
            <a:r>
              <a:rPr lang="en-US" sz="1400" i="1" dirty="0">
                <a:solidFill>
                  <a:srgbClr val="E8D8A8"/>
                </a:solidFill>
                <a:latin typeface="Calibri" pitchFamily="34" charset="0"/>
                <a:ea typeface="Calibri" pitchFamily="34" charset="-122"/>
                <a:cs typeface="Calibri" pitchFamily="34" charset="-120"/>
              </a:rPr>
              <a:t>Unaccompanied singing</a:t>
            </a:r>
            <a:endParaRPr lang="en-US" sz="1400" dirty="0"/>
          </a:p>
          <a:p>
            <a:pPr algn="ctr" indent="0" marL="0">
              <a:buNone/>
            </a:pPr>
            <a:r>
              <a:rPr lang="en-US" sz="1400" i="1" dirty="0">
                <a:solidFill>
                  <a:srgbClr val="E8D8A8"/>
                </a:solidFill>
                <a:latin typeface="Calibri" pitchFamily="34" charset="0"/>
                <a:ea typeface="Calibri" pitchFamily="34" charset="-122"/>
                <a:cs typeface="Calibri" pitchFamily="34" charset="-120"/>
              </a:rPr>
              <a:t>for a millennium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A020"/>
          </a:solidFill>
          <a:ln/>
        </p:spPr>
      </p:sp>
      <p:sp>
        <p:nvSpPr>
          <p:cNvPr id="3" name="Shape 1"/>
          <p:cNvSpPr/>
          <p:nvPr/>
        </p:nvSpPr>
        <p:spPr>
          <a:xfrm>
            <a:off x="0" y="5029200"/>
            <a:ext cx="9144000" cy="114300"/>
          </a:xfrm>
          <a:prstGeom prst="rect">
            <a:avLst/>
          </a:prstGeom>
          <a:solidFill>
            <a:srgbClr val="C8A020"/>
          </a:solidFill>
          <a:ln/>
        </p:spPr>
      </p:sp>
      <p:sp>
        <p:nvSpPr>
          <p:cNvPr id="4" name="Text 2"/>
          <p:cNvSpPr/>
          <p:nvPr/>
        </p:nvSpPr>
        <p:spPr>
          <a:xfrm>
            <a:off x="365760" y="164592"/>
            <a:ext cx="8412480" cy="502920"/>
          </a:xfrm>
          <a:prstGeom prst="rect">
            <a:avLst/>
          </a:prstGeom>
          <a:noFill/>
          <a:ln/>
        </p:spPr>
        <p:txBody>
          <a:bodyPr wrap="square" rtlCol="0" anchor="ctr"/>
          <a:lstStyle/>
          <a:p>
            <a:pPr algn="ctr" indent="0" marL="0">
              <a:buNone/>
            </a:pPr>
            <a:r>
              <a:rPr lang="en-US" sz="2600" b="1" dirty="0">
                <a:solidFill>
                  <a:srgbClr val="C8A020"/>
                </a:solidFill>
                <a:latin typeface="Georgia" pitchFamily="34" charset="0"/>
                <a:ea typeface="Georgia" pitchFamily="34" charset="-122"/>
                <a:cs typeface="Georgia" pitchFamily="34" charset="-120"/>
              </a:rPr>
              <a:t>教父論音樂 Church Fathers on Music</a:t>
            </a:r>
            <a:endParaRPr lang="en-US" sz="2600" dirty="0"/>
          </a:p>
        </p:txBody>
      </p:sp>
      <p:sp>
        <p:nvSpPr>
          <p:cNvPr id="5" name="Text 3"/>
          <p:cNvSpPr/>
          <p:nvPr/>
        </p:nvSpPr>
        <p:spPr>
          <a:xfrm>
            <a:off x="365760" y="658368"/>
            <a:ext cx="8412480" cy="320040"/>
          </a:xfrm>
          <a:prstGeom prst="rect">
            <a:avLst/>
          </a:prstGeom>
          <a:noFill/>
          <a:ln/>
        </p:spPr>
        <p:txBody>
          <a:bodyPr wrap="square" rtlCol="0" anchor="ctr"/>
          <a:lstStyle/>
          <a:p>
            <a:pPr algn="ctr" indent="0" marL="0">
              <a:buNone/>
            </a:pPr>
            <a:r>
              <a:rPr lang="en-US" sz="1400" i="1" dirty="0">
                <a:solidFill>
                  <a:srgbClr val="E8D8A8"/>
                </a:solidFill>
                <a:latin typeface="Georgia" pitchFamily="34" charset="0"/>
                <a:ea typeface="Georgia" pitchFamily="34" charset="-122"/>
                <a:cs typeface="Georgia" pitchFamily="34" charset="-120"/>
              </a:rPr>
              <a:t>Source Readings 原典摘錄</a:t>
            </a:r>
            <a:endParaRPr lang="en-US" sz="1400" dirty="0"/>
          </a:p>
        </p:txBody>
      </p:sp>
      <p:sp>
        <p:nvSpPr>
          <p:cNvPr id="6" name="Shape 4"/>
          <p:cNvSpPr/>
          <p:nvPr/>
        </p:nvSpPr>
        <p:spPr>
          <a:xfrm>
            <a:off x="1371600" y="1005840"/>
            <a:ext cx="6400800" cy="36576"/>
          </a:xfrm>
          <a:prstGeom prst="rect">
            <a:avLst/>
          </a:prstGeom>
          <a:solidFill>
            <a:srgbClr val="C8A020"/>
          </a:solidFill>
          <a:ln/>
        </p:spPr>
      </p:sp>
      <p:sp>
        <p:nvSpPr>
          <p:cNvPr id="7" name="Shape 5"/>
          <p:cNvSpPr/>
          <p:nvPr/>
        </p:nvSpPr>
        <p:spPr>
          <a:xfrm>
            <a:off x="274320" y="1097280"/>
            <a:ext cx="4114800" cy="3703320"/>
          </a:xfrm>
          <a:prstGeom prst="rect">
            <a:avLst/>
          </a:prstGeom>
          <a:solidFill>
            <a:srgbClr val="3A2015"/>
          </a:solidFill>
          <a:ln/>
        </p:spPr>
      </p:sp>
      <p:sp>
        <p:nvSpPr>
          <p:cNvPr id="8" name="Text 6"/>
          <p:cNvSpPr/>
          <p:nvPr/>
        </p:nvSpPr>
        <p:spPr>
          <a:xfrm>
            <a:off x="411480" y="1170432"/>
            <a:ext cx="3840480" cy="594360"/>
          </a:xfrm>
          <a:prstGeom prst="rect">
            <a:avLst/>
          </a:prstGeom>
          <a:noFill/>
          <a:ln/>
        </p:spPr>
        <p:txBody>
          <a:bodyPr wrap="square" rtlCol="0" anchor="ctr"/>
          <a:lstStyle/>
          <a:p>
            <a:pPr algn="ctr" indent="0" marL="0">
              <a:buNone/>
            </a:pPr>
            <a:r>
              <a:rPr lang="en-US" sz="1500" b="1" dirty="0">
                <a:solidFill>
                  <a:srgbClr val="C8A020"/>
                </a:solidFill>
                <a:latin typeface="Georgia" pitchFamily="34" charset="0"/>
                <a:ea typeface="Georgia" pitchFamily="34" charset="-122"/>
                <a:cs typeface="Georgia" pitchFamily="34" charset="-120"/>
              </a:rPr>
              <a:t>聖巴西流 St. Basil</a:t>
            </a:r>
            <a:endParaRPr lang="en-US" sz="1500" dirty="0"/>
          </a:p>
          <a:p>
            <a:pPr algn="ctr" indent="0" marL="0">
              <a:buNone/>
            </a:pPr>
            <a:r>
              <a:rPr lang="en-US" sz="1500" b="1" dirty="0">
                <a:solidFill>
                  <a:srgbClr val="C8A020"/>
                </a:solidFill>
                <a:latin typeface="Georgia" pitchFamily="34" charset="0"/>
                <a:ea typeface="Georgia" pitchFamily="34" charset="-122"/>
                <a:cs typeface="Georgia" pitchFamily="34" charset="-120"/>
              </a:rPr>
              <a:t>ca. 330–379 CE</a:t>
            </a:r>
            <a:endParaRPr lang="en-US" sz="1500" dirty="0"/>
          </a:p>
        </p:txBody>
      </p:sp>
      <p:sp>
        <p:nvSpPr>
          <p:cNvPr id="9" name="Shape 7"/>
          <p:cNvSpPr/>
          <p:nvPr/>
        </p:nvSpPr>
        <p:spPr>
          <a:xfrm>
            <a:off x="731520" y="1783080"/>
            <a:ext cx="3383280" cy="27432"/>
          </a:xfrm>
          <a:prstGeom prst="rect">
            <a:avLst/>
          </a:prstGeom>
          <a:solidFill>
            <a:srgbClr val="C8A020"/>
          </a:solidFill>
          <a:ln/>
        </p:spPr>
      </p:sp>
      <p:sp>
        <p:nvSpPr>
          <p:cNvPr id="10" name="Text 8"/>
          <p:cNvSpPr/>
          <p:nvPr/>
        </p:nvSpPr>
        <p:spPr>
          <a:xfrm>
            <a:off x="411480" y="1847088"/>
            <a:ext cx="3840480" cy="2834640"/>
          </a:xfrm>
          <a:prstGeom prst="rect">
            <a:avLst/>
          </a:prstGeom>
          <a:noFill/>
          <a:ln/>
        </p:spPr>
        <p:txBody>
          <a:bodyPr wrap="square" rtlCol="0" anchor="t"/>
          <a:lstStyle/>
          <a:p>
            <a:pPr indent="0" marL="0">
              <a:buNone/>
            </a:pPr>
            <a:r>
              <a:rPr lang="en-US" sz="1400" dirty="0">
                <a:solidFill>
                  <a:srgbClr val="E8D8A8"/>
                </a:solidFill>
                <a:latin typeface="Calibri" pitchFamily="34" charset="0"/>
                <a:ea typeface="Calibri" pitchFamily="34" charset="-122"/>
                <a:cs typeface="Calibri" pitchFamily="34" charset="-120"/>
              </a:rPr>
              <a:t>「聖靈見人心傾向罪惡，便將教義的甘甜與旋律融合，以使人在不知不覺中受到教化。」</a:t>
            </a:r>
            <a:endParaRPr lang="en-US" sz="1400" dirty="0"/>
          </a:p>
          <a:p>
            <a:pPr indent="0" marL="0">
              <a:buNone/>
            </a:pP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The Holy Spirit blended the delight of melody with doctrine, so that through the pleasantness of what is heard, we might unawares receive what is useful.</a:t>
            </a:r>
            <a:endParaRPr lang="en-US" sz="1400" dirty="0"/>
          </a:p>
          <a:p>
            <a:pPr indent="0" marL="0">
              <a:buNone/>
            </a:pP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讚美詩篇演唱：培育靈魂、凝聚社群、以音樂驅逐怒氣</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Psalm-singing: educates the soul, builds community, calms anger</a:t>
            </a:r>
            <a:endParaRPr lang="en-US" sz="1400" dirty="0"/>
          </a:p>
        </p:txBody>
      </p:sp>
      <p:sp>
        <p:nvSpPr>
          <p:cNvPr id="11" name="Shape 9"/>
          <p:cNvSpPr/>
          <p:nvPr/>
        </p:nvSpPr>
        <p:spPr>
          <a:xfrm>
            <a:off x="4754880" y="1097280"/>
            <a:ext cx="4114800" cy="3703320"/>
          </a:xfrm>
          <a:prstGeom prst="rect">
            <a:avLst/>
          </a:prstGeom>
          <a:solidFill>
            <a:srgbClr val="3A2015"/>
          </a:solidFill>
          <a:ln/>
        </p:spPr>
      </p:sp>
      <p:sp>
        <p:nvSpPr>
          <p:cNvPr id="12" name="Text 10"/>
          <p:cNvSpPr/>
          <p:nvPr/>
        </p:nvSpPr>
        <p:spPr>
          <a:xfrm>
            <a:off x="4892040" y="1170432"/>
            <a:ext cx="3840480" cy="594360"/>
          </a:xfrm>
          <a:prstGeom prst="rect">
            <a:avLst/>
          </a:prstGeom>
          <a:noFill/>
          <a:ln/>
        </p:spPr>
        <p:txBody>
          <a:bodyPr wrap="square" rtlCol="0" anchor="ctr"/>
          <a:lstStyle/>
          <a:p>
            <a:pPr algn="ctr" indent="0" marL="0">
              <a:buNone/>
            </a:pPr>
            <a:r>
              <a:rPr lang="en-US" sz="1500" b="1" dirty="0">
                <a:solidFill>
                  <a:srgbClr val="C8A020"/>
                </a:solidFill>
                <a:latin typeface="Georgia" pitchFamily="34" charset="0"/>
                <a:ea typeface="Georgia" pitchFamily="34" charset="-122"/>
                <a:cs typeface="Georgia" pitchFamily="34" charset="-120"/>
              </a:rPr>
              <a:t>聖奧古斯丁 St. Augustine</a:t>
            </a:r>
            <a:endParaRPr lang="en-US" sz="1500" dirty="0"/>
          </a:p>
          <a:p>
            <a:pPr algn="ctr" indent="0" marL="0">
              <a:buNone/>
            </a:pPr>
            <a:r>
              <a:rPr lang="en-US" sz="1500" b="1" dirty="0">
                <a:solidFill>
                  <a:srgbClr val="C8A020"/>
                </a:solidFill>
                <a:latin typeface="Georgia" pitchFamily="34" charset="0"/>
                <a:ea typeface="Georgia" pitchFamily="34" charset="-122"/>
                <a:cs typeface="Georgia" pitchFamily="34" charset="-120"/>
              </a:rPr>
              <a:t>354–430 CE</a:t>
            </a:r>
            <a:endParaRPr lang="en-US" sz="1500" dirty="0"/>
          </a:p>
        </p:txBody>
      </p:sp>
      <p:sp>
        <p:nvSpPr>
          <p:cNvPr id="13" name="Shape 11"/>
          <p:cNvSpPr/>
          <p:nvPr/>
        </p:nvSpPr>
        <p:spPr>
          <a:xfrm>
            <a:off x="5212080" y="1783080"/>
            <a:ext cx="3383280" cy="27432"/>
          </a:xfrm>
          <a:prstGeom prst="rect">
            <a:avLst/>
          </a:prstGeom>
          <a:solidFill>
            <a:srgbClr val="C8A020"/>
          </a:solidFill>
          <a:ln/>
        </p:spPr>
      </p:sp>
      <p:sp>
        <p:nvSpPr>
          <p:cNvPr id="14" name="Text 12"/>
          <p:cNvSpPr/>
          <p:nvPr/>
        </p:nvSpPr>
        <p:spPr>
          <a:xfrm>
            <a:off x="4892040" y="1847088"/>
            <a:ext cx="3840480" cy="2834640"/>
          </a:xfrm>
          <a:prstGeom prst="rect">
            <a:avLst/>
          </a:prstGeom>
          <a:noFill/>
          <a:ln/>
        </p:spPr>
        <p:txBody>
          <a:bodyPr wrap="square" rtlCol="0" anchor="t"/>
          <a:lstStyle/>
          <a:p>
            <a:pPr indent="0" marL="0">
              <a:buNone/>
            </a:pPr>
            <a:r>
              <a:rPr lang="en-US" sz="1400" dirty="0">
                <a:solidFill>
                  <a:srgbClr val="E8D8A8"/>
                </a:solidFill>
                <a:latin typeface="Calibri" pitchFamily="34" charset="0"/>
                <a:ea typeface="Calibri" pitchFamily="34" charset="-122"/>
                <a:cs typeface="Calibri" pitchFamily="34" charset="-120"/>
              </a:rPr>
              <a:t>「我在歌聲中所獲的感動……與歌詞的含意俱來；我承認這種做法是有益的。」</a:t>
            </a:r>
            <a:endParaRPr lang="en-US" sz="1400" dirty="0"/>
          </a:p>
          <a:p>
            <a:pPr indent="0" marL="0">
              <a:buNone/>
            </a:pP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I acknowledge the great benefit of singing in church, while wavering between the peril of pleasure and the benefit of my experience.</a:t>
            </a:r>
            <a:endParaRPr lang="en-US" sz="1400" dirty="0"/>
          </a:p>
          <a:p>
            <a:pPr indent="0" marL="0">
              <a:buNone/>
            </a:pP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態度：音樂有益於靈性，但若旋律比歌詞更動人，則視為罪</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Tension: music aids devotion, but if the song moves more than the text, it is sinful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6"/>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A2830"/>
          </a:solidFill>
          <a:ln/>
        </p:spPr>
      </p:sp>
      <p:sp>
        <p:nvSpPr>
          <p:cNvPr id="3" name="Shape 1"/>
          <p:cNvSpPr/>
          <p:nvPr/>
        </p:nvSpPr>
        <p:spPr>
          <a:xfrm>
            <a:off x="0" y="5029200"/>
            <a:ext cx="9144000" cy="114300"/>
          </a:xfrm>
          <a:prstGeom prst="rect">
            <a:avLst/>
          </a:prstGeom>
          <a:solidFill>
            <a:srgbClr val="7A2830"/>
          </a:solidFill>
          <a:ln/>
        </p:spPr>
      </p:sp>
      <p:sp>
        <p:nvSpPr>
          <p:cNvPr id="4" name="Text 2"/>
          <p:cNvSpPr/>
          <p:nvPr/>
        </p:nvSpPr>
        <p:spPr>
          <a:xfrm>
            <a:off x="365760" y="164592"/>
            <a:ext cx="8412480" cy="475488"/>
          </a:xfrm>
          <a:prstGeom prst="rect">
            <a:avLst/>
          </a:prstGeom>
          <a:noFill/>
          <a:ln/>
        </p:spPr>
        <p:txBody>
          <a:bodyPr wrap="square" lIns="0" tIns="0" rIns="0" bIns="0" rtlCol="0" anchor="ctr"/>
          <a:lstStyle/>
          <a:p>
            <a:pPr indent="0" marL="0">
              <a:buNone/>
            </a:pPr>
            <a:r>
              <a:rPr lang="en-US" sz="2600" b="1" dirty="0">
                <a:solidFill>
                  <a:srgbClr val="7A2830"/>
                </a:solidFill>
                <a:latin typeface="Georgia" pitchFamily="34" charset="0"/>
                <a:ea typeface="Georgia" pitchFamily="34" charset="-122"/>
                <a:cs typeface="Georgia" pitchFamily="34" charset="-120"/>
              </a:rPr>
              <a:t>教會分裂與聖詠方言</a:t>
            </a:r>
            <a:endParaRPr lang="en-US" sz="2600" dirty="0"/>
          </a:p>
        </p:txBody>
      </p:sp>
      <p:sp>
        <p:nvSpPr>
          <p:cNvPr id="5" name="Text 3"/>
          <p:cNvSpPr/>
          <p:nvPr/>
        </p:nvSpPr>
        <p:spPr>
          <a:xfrm>
            <a:off x="365760" y="640080"/>
            <a:ext cx="8412480" cy="274320"/>
          </a:xfrm>
          <a:prstGeom prst="rect">
            <a:avLst/>
          </a:prstGeom>
          <a:noFill/>
          <a:ln/>
        </p:spPr>
        <p:txBody>
          <a:bodyPr wrap="square" lIns="0" tIns="0" rIns="0" bIns="0" rtlCol="0" anchor="t"/>
          <a:lstStyle/>
          <a:p>
            <a:pPr indent="0" marL="0">
              <a:buNone/>
            </a:pPr>
            <a:r>
              <a:rPr lang="en-US" sz="1400" i="1" dirty="0">
                <a:solidFill>
                  <a:srgbClr val="5C3A28"/>
                </a:solidFill>
                <a:latin typeface="Calibri" pitchFamily="34" charset="0"/>
                <a:ea typeface="Calibri" pitchFamily="34" charset="-122"/>
                <a:cs typeface="Calibri" pitchFamily="34" charset="-120"/>
              </a:rPr>
              <a:t>Divisions in the Church and Dialects of Chant</a:t>
            </a:r>
            <a:endParaRPr lang="en-US" sz="1400" dirty="0"/>
          </a:p>
        </p:txBody>
      </p:sp>
      <p:sp>
        <p:nvSpPr>
          <p:cNvPr id="6" name="Shape 4"/>
          <p:cNvSpPr/>
          <p:nvPr/>
        </p:nvSpPr>
        <p:spPr>
          <a:xfrm>
            <a:off x="365760" y="932688"/>
            <a:ext cx="8412480" cy="27432"/>
          </a:xfrm>
          <a:prstGeom prst="rect">
            <a:avLst/>
          </a:prstGeom>
          <a:solidFill>
            <a:srgbClr val="E8D8A8"/>
          </a:solidFill>
          <a:ln/>
        </p:spPr>
      </p:sp>
      <p:sp>
        <p:nvSpPr>
          <p:cNvPr id="7" name="Shape 5"/>
          <p:cNvSpPr/>
          <p:nvPr/>
        </p:nvSpPr>
        <p:spPr>
          <a:xfrm>
            <a:off x="274320" y="1005840"/>
            <a:ext cx="4160520" cy="3520440"/>
          </a:xfrm>
          <a:prstGeom prst="rect">
            <a:avLst/>
          </a:prstGeom>
          <a:solidFill>
            <a:srgbClr val="A84030"/>
          </a:solidFill>
          <a:ln/>
        </p:spPr>
      </p:sp>
      <p:sp>
        <p:nvSpPr>
          <p:cNvPr id="8" name="Text 6"/>
          <p:cNvSpPr/>
          <p:nvPr/>
        </p:nvSpPr>
        <p:spPr>
          <a:xfrm>
            <a:off x="411480" y="1078992"/>
            <a:ext cx="3886200" cy="457200"/>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拜占庭聖詠 Byzantine Chant</a:t>
            </a:r>
            <a:endParaRPr lang="en-US" sz="1400" dirty="0"/>
          </a:p>
        </p:txBody>
      </p:sp>
      <p:sp>
        <p:nvSpPr>
          <p:cNvPr id="9" name="Shape 7"/>
          <p:cNvSpPr/>
          <p:nvPr/>
        </p:nvSpPr>
        <p:spPr>
          <a:xfrm>
            <a:off x="594360" y="1554480"/>
            <a:ext cx="3520440" cy="27432"/>
          </a:xfrm>
          <a:prstGeom prst="rect">
            <a:avLst/>
          </a:prstGeom>
          <a:solidFill>
            <a:srgbClr val="C8A020"/>
          </a:solidFill>
          <a:ln/>
        </p:spPr>
      </p:sp>
      <p:sp>
        <p:nvSpPr>
          <p:cNvPr id="10" name="Text 8"/>
          <p:cNvSpPr/>
          <p:nvPr/>
        </p:nvSpPr>
        <p:spPr>
          <a:xfrm>
            <a:off x="411480" y="1618488"/>
            <a:ext cx="3886200" cy="2834640"/>
          </a:xfrm>
          <a:prstGeom prst="rect">
            <a:avLst/>
          </a:prstGeom>
          <a:noFill/>
          <a:ln/>
        </p:spPr>
        <p:txBody>
          <a:bodyPr wrap="square" rtlCol="0" anchor="ctr"/>
          <a:lstStyle/>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東羅馬帝國（Constantinople）教會傳統</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Eastern Roman Empire (Constantinople)</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以希臘語演唱聖詠</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Chanted in Greek</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八種調式（echoi）——後成西方八種 modes 基礎</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Eight echoi (modes) → basis of Western 8 modes</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讚美詩（hymns）高度發展，現仍在希臘東正教使用</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Hymns highly developed, still sung in Greek Orthodox services</a:t>
            </a:r>
            <a:endParaRPr lang="en-US" sz="1400" dirty="0"/>
          </a:p>
        </p:txBody>
      </p:sp>
      <p:sp>
        <p:nvSpPr>
          <p:cNvPr id="11" name="Shape 9"/>
          <p:cNvSpPr/>
          <p:nvPr/>
        </p:nvSpPr>
        <p:spPr>
          <a:xfrm>
            <a:off x="4709160" y="1005840"/>
            <a:ext cx="4160520" cy="3520440"/>
          </a:xfrm>
          <a:prstGeom prst="rect">
            <a:avLst/>
          </a:prstGeom>
          <a:solidFill>
            <a:srgbClr val="7A2830"/>
          </a:solidFill>
          <a:ln/>
        </p:spPr>
      </p:sp>
      <p:sp>
        <p:nvSpPr>
          <p:cNvPr id="12" name="Text 10"/>
          <p:cNvSpPr/>
          <p:nvPr/>
        </p:nvSpPr>
        <p:spPr>
          <a:xfrm>
            <a:off x="4846320" y="1078992"/>
            <a:ext cx="3886200" cy="457200"/>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西方聖詠方言 Western Chant Dialects</a:t>
            </a:r>
            <a:endParaRPr lang="en-US" sz="1400" dirty="0"/>
          </a:p>
        </p:txBody>
      </p:sp>
      <p:sp>
        <p:nvSpPr>
          <p:cNvPr id="13" name="Shape 11"/>
          <p:cNvSpPr/>
          <p:nvPr/>
        </p:nvSpPr>
        <p:spPr>
          <a:xfrm>
            <a:off x="5029200" y="1554480"/>
            <a:ext cx="3520440" cy="27432"/>
          </a:xfrm>
          <a:prstGeom prst="rect">
            <a:avLst/>
          </a:prstGeom>
          <a:solidFill>
            <a:srgbClr val="C8A020"/>
          </a:solidFill>
          <a:ln/>
        </p:spPr>
      </p:sp>
      <p:sp>
        <p:nvSpPr>
          <p:cNvPr id="14" name="Text 12"/>
          <p:cNvSpPr/>
          <p:nvPr/>
        </p:nvSpPr>
        <p:spPr>
          <a:xfrm>
            <a:off x="4846320" y="1618488"/>
            <a:ext cx="3886200" cy="2834640"/>
          </a:xfrm>
          <a:prstGeom prst="rect">
            <a:avLst/>
          </a:prstGeom>
          <a:noFill/>
          <a:ln/>
        </p:spPr>
        <p:txBody>
          <a:bodyPr wrap="square" rtlCol="0" anchor="ctr"/>
          <a:lstStyle/>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各地域發展獨立傳統（使用拉丁語）</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Regional traditions developed (in Latin)</a:t>
            </a:r>
            <a:endParaRPr lang="en-US" sz="1400" dirty="0"/>
          </a:p>
          <a:p>
            <a:pPr indent="0" marL="0">
              <a:spcAft>
                <a:spcPts val="300"/>
              </a:spcAft>
              <a:buNone/>
            </a:pPr>
            <a:r>
              <a:rPr lang="en-US" sz="1400" dirty="0">
                <a:solidFill>
                  <a:srgbClr val="FBF5E6"/>
                </a:solidFill>
                <a:latin typeface="Calibri" pitchFamily="34" charset="0"/>
                <a:ea typeface="Calibri" pitchFamily="34" charset="-122"/>
                <a:cs typeface="Calibri" pitchFamily="34" charset="-120"/>
              </a:rPr>
              <a:t>• 高盧聖詠 Gallican (Gaul / France)</a:t>
            </a:r>
            <a:endParaRPr lang="en-US" sz="1400" dirty="0"/>
          </a:p>
          <a:p>
            <a:pPr indent="0" marL="0">
              <a:spcAft>
                <a:spcPts val="300"/>
              </a:spcAft>
              <a:buNone/>
            </a:pPr>
            <a:r>
              <a:rPr lang="en-US" sz="1400" dirty="0">
                <a:solidFill>
                  <a:srgbClr val="FBF5E6"/>
                </a:solidFill>
                <a:latin typeface="Calibri" pitchFamily="34" charset="0"/>
                <a:ea typeface="Calibri" pitchFamily="34" charset="-122"/>
                <a:cs typeface="Calibri" pitchFamily="34" charset="-120"/>
              </a:rPr>
              <a:t>• 塞爾特聖詠 Celtic (British Isles)</a:t>
            </a:r>
            <a:endParaRPr lang="en-US" sz="1400" dirty="0"/>
          </a:p>
          <a:p>
            <a:pPr indent="0" marL="0">
              <a:spcAft>
                <a:spcPts val="300"/>
              </a:spcAft>
              <a:buNone/>
            </a:pPr>
            <a:r>
              <a:rPr lang="en-US" sz="1400" dirty="0">
                <a:solidFill>
                  <a:srgbClr val="FBF5E6"/>
                </a:solidFill>
                <a:latin typeface="Calibri" pitchFamily="34" charset="0"/>
                <a:ea typeface="Calibri" pitchFamily="34" charset="-122"/>
                <a:cs typeface="Calibri" pitchFamily="34" charset="-120"/>
              </a:rPr>
              <a:t>• 莫扎拉伯聖詠 Mozarabic (Spain)</a:t>
            </a:r>
            <a:endParaRPr lang="en-US" sz="1400" dirty="0"/>
          </a:p>
          <a:p>
            <a:pPr indent="0" marL="0">
              <a:spcAft>
                <a:spcPts val="300"/>
              </a:spcAft>
              <a:buNone/>
            </a:pPr>
            <a:r>
              <a:rPr lang="en-US" sz="1400" dirty="0">
                <a:solidFill>
                  <a:srgbClr val="FBF5E6"/>
                </a:solidFill>
                <a:latin typeface="Calibri" pitchFamily="34" charset="0"/>
                <a:ea typeface="Calibri" pitchFamily="34" charset="-122"/>
                <a:cs typeface="Calibri" pitchFamily="34" charset="-120"/>
              </a:rPr>
              <a:t>• 安布羅西聖詠 Ambrosian (Milan)</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8–11世紀：羅馬教廷與法蘭克王國逐步統一為格里高利聖詠</a:t>
            </a:r>
            <a:endParaRPr lang="en-US" sz="1400" dirty="0"/>
          </a:p>
          <a:p>
            <a:pPr marL="342900" indent="-342900">
              <a:spcAft>
                <a:spcPts val="300"/>
              </a:spcAft>
              <a:buSzPct val="100000"/>
              <a:buChar char="•"/>
            </a:pPr>
            <a:r>
              <a:rPr lang="en-US" sz="1400" dirty="0">
                <a:solidFill>
                  <a:srgbClr val="FBF5E6"/>
                </a:solidFill>
                <a:latin typeface="Calibri" pitchFamily="34" charset="0"/>
                <a:ea typeface="Calibri" pitchFamily="34" charset="-122"/>
                <a:cs typeface="Calibri" pitchFamily="34" charset="-120"/>
              </a:rPr>
              <a:t>8th–11th c.: standardized as Gregorian chant under Rome &amp; Franks</a:t>
            </a:r>
            <a:endParaRPr lang="en-US" sz="1400" dirty="0"/>
          </a:p>
        </p:txBody>
      </p:sp>
      <p:sp>
        <p:nvSpPr>
          <p:cNvPr id="15" name="Text 13"/>
          <p:cNvSpPr/>
          <p:nvPr/>
        </p:nvSpPr>
        <p:spPr>
          <a:xfrm>
            <a:off x="274320" y="4553712"/>
            <a:ext cx="8595360" cy="384048"/>
          </a:xfrm>
          <a:prstGeom prst="rect">
            <a:avLst/>
          </a:prstGeom>
          <a:noFill/>
          <a:ln/>
        </p:spPr>
        <p:txBody>
          <a:bodyPr wrap="square" rtlCol="0" anchor="t"/>
          <a:lstStyle/>
          <a:p>
            <a:pPr algn="ctr" indent="0" marL="0">
              <a:buNone/>
            </a:pPr>
            <a:r>
              <a:rPr lang="en-US" sz="1400" i="1" dirty="0">
                <a:solidFill>
                  <a:srgbClr val="5C3A28"/>
                </a:solidFill>
                <a:latin typeface="Calibri" pitchFamily="34" charset="0"/>
                <a:ea typeface="Calibri" pitchFamily="34" charset="-122"/>
                <a:cs typeface="Calibri" pitchFamily="34" charset="-120"/>
              </a:rPr>
              <a:t>1054 CE：東西教會正式分裂 → 羅馬天主教 vs 東正教（拜占庭）</a:t>
            </a:r>
            <a:endParaRPr lang="en-US" sz="1400" dirty="0"/>
          </a:p>
          <a:p>
            <a:pPr algn="ctr" indent="0" marL="0">
              <a:buNone/>
            </a:pPr>
            <a:r>
              <a:rPr lang="en-US" sz="1400" i="1" dirty="0">
                <a:solidFill>
                  <a:srgbClr val="5C3A28"/>
                </a:solidFill>
                <a:latin typeface="Calibri" pitchFamily="34" charset="0"/>
                <a:ea typeface="Calibri" pitchFamily="34" charset="-122"/>
                <a:cs typeface="Calibri" pitchFamily="34" charset="-120"/>
              </a:rPr>
              <a:t>1054 CE: Final split — Roman Catholic Church vs. Eastern Orthodox (Byzantine) Church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A020"/>
          </a:solidFill>
          <a:ln/>
        </p:spPr>
      </p:sp>
      <p:sp>
        <p:nvSpPr>
          <p:cNvPr id="3" name="Shape 1"/>
          <p:cNvSpPr/>
          <p:nvPr/>
        </p:nvSpPr>
        <p:spPr>
          <a:xfrm>
            <a:off x="0" y="5029200"/>
            <a:ext cx="9144000" cy="114300"/>
          </a:xfrm>
          <a:prstGeom prst="rect">
            <a:avLst/>
          </a:prstGeom>
          <a:solidFill>
            <a:srgbClr val="C8A020"/>
          </a:solidFill>
          <a:ln/>
        </p:spPr>
      </p:sp>
      <p:sp>
        <p:nvSpPr>
          <p:cNvPr id="4" name="Text 2"/>
          <p:cNvSpPr/>
          <p:nvPr/>
        </p:nvSpPr>
        <p:spPr>
          <a:xfrm>
            <a:off x="365760" y="164592"/>
            <a:ext cx="8412480" cy="502920"/>
          </a:xfrm>
          <a:prstGeom prst="rect">
            <a:avLst/>
          </a:prstGeom>
          <a:noFill/>
          <a:ln/>
        </p:spPr>
        <p:txBody>
          <a:bodyPr wrap="square" rtlCol="0" anchor="ctr"/>
          <a:lstStyle/>
          <a:p>
            <a:pPr algn="ctr" indent="0" marL="0">
              <a:buNone/>
            </a:pPr>
            <a:r>
              <a:rPr lang="en-US" sz="2800" b="1" dirty="0">
                <a:solidFill>
                  <a:srgbClr val="C8A020"/>
                </a:solidFill>
                <a:latin typeface="Georgia" pitchFamily="34" charset="0"/>
                <a:ea typeface="Georgia" pitchFamily="34" charset="-122"/>
                <a:cs typeface="Georgia" pitchFamily="34" charset="-120"/>
              </a:rPr>
              <a:t>格里高利聖詠的形成</a:t>
            </a:r>
            <a:endParaRPr lang="en-US" sz="2800" dirty="0"/>
          </a:p>
        </p:txBody>
      </p:sp>
      <p:sp>
        <p:nvSpPr>
          <p:cNvPr id="5" name="Text 3"/>
          <p:cNvSpPr/>
          <p:nvPr/>
        </p:nvSpPr>
        <p:spPr>
          <a:xfrm>
            <a:off x="365760" y="658368"/>
            <a:ext cx="8412480" cy="320040"/>
          </a:xfrm>
          <a:prstGeom prst="rect">
            <a:avLst/>
          </a:prstGeom>
          <a:noFill/>
          <a:ln/>
        </p:spPr>
        <p:txBody>
          <a:bodyPr wrap="square" rtlCol="0" anchor="ctr"/>
          <a:lstStyle/>
          <a:p>
            <a:pPr algn="ctr" indent="0" marL="0">
              <a:buNone/>
            </a:pPr>
            <a:r>
              <a:rPr lang="en-US" sz="1600" i="1" dirty="0">
                <a:solidFill>
                  <a:srgbClr val="E8D8A8"/>
                </a:solidFill>
                <a:latin typeface="Georgia" pitchFamily="34" charset="0"/>
                <a:ea typeface="Georgia" pitchFamily="34" charset="-122"/>
                <a:cs typeface="Georgia" pitchFamily="34" charset="-120"/>
              </a:rPr>
              <a:t>The Creation of Gregorian Chant</a:t>
            </a:r>
            <a:endParaRPr lang="en-US" sz="1600" dirty="0"/>
          </a:p>
        </p:txBody>
      </p:sp>
      <p:sp>
        <p:nvSpPr>
          <p:cNvPr id="6" name="Shape 4"/>
          <p:cNvSpPr/>
          <p:nvPr/>
        </p:nvSpPr>
        <p:spPr>
          <a:xfrm>
            <a:off x="1371600" y="1005840"/>
            <a:ext cx="6400800" cy="36576"/>
          </a:xfrm>
          <a:prstGeom prst="rect">
            <a:avLst/>
          </a:prstGeom>
          <a:solidFill>
            <a:srgbClr val="C8A020"/>
          </a:solidFill>
          <a:ln/>
        </p:spPr>
      </p:sp>
      <p:sp>
        <p:nvSpPr>
          <p:cNvPr id="7" name="Shape 5"/>
          <p:cNvSpPr/>
          <p:nvPr/>
        </p:nvSpPr>
        <p:spPr>
          <a:xfrm>
            <a:off x="274320" y="1097280"/>
            <a:ext cx="8595360" cy="804672"/>
          </a:xfrm>
          <a:prstGeom prst="rect">
            <a:avLst/>
          </a:prstGeom>
          <a:solidFill>
            <a:srgbClr val="3A2015"/>
          </a:solidFill>
          <a:ln/>
        </p:spPr>
      </p:sp>
      <p:sp>
        <p:nvSpPr>
          <p:cNvPr id="8" name="Text 6"/>
          <p:cNvSpPr/>
          <p:nvPr/>
        </p:nvSpPr>
        <p:spPr>
          <a:xfrm>
            <a:off x="411480" y="1152144"/>
            <a:ext cx="2377440" cy="68580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教宗額我略一世</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Pope Gregory I (r. 590–604)</a:t>
            </a:r>
            <a:endParaRPr lang="en-US" sz="1400" dirty="0"/>
          </a:p>
        </p:txBody>
      </p:sp>
      <p:sp>
        <p:nvSpPr>
          <p:cNvPr id="9" name="Shape 7"/>
          <p:cNvSpPr/>
          <p:nvPr/>
        </p:nvSpPr>
        <p:spPr>
          <a:xfrm>
            <a:off x="2880360" y="1207008"/>
            <a:ext cx="36576" cy="594360"/>
          </a:xfrm>
          <a:prstGeom prst="rect">
            <a:avLst/>
          </a:prstGeom>
          <a:solidFill>
            <a:srgbClr val="C8A020"/>
          </a:solidFill>
          <a:ln/>
        </p:spPr>
      </p:sp>
      <p:sp>
        <p:nvSpPr>
          <p:cNvPr id="10" name="Text 8"/>
          <p:cNvSpPr/>
          <p:nvPr/>
        </p:nvSpPr>
        <p:spPr>
          <a:xfrm>
            <a:off x="2999232" y="1170432"/>
            <a:ext cx="5760720" cy="65836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建立詠唱學校（Schola Cantorum）；聖詠以「格里高利聖詠」之名流傳（實為後人追授）</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Founded Schola Cantorum; chant bears his name though he likely did not compose it</a:t>
            </a:r>
            <a:endParaRPr lang="en-US" sz="1400" dirty="0"/>
          </a:p>
        </p:txBody>
      </p:sp>
      <p:sp>
        <p:nvSpPr>
          <p:cNvPr id="11" name="Shape 9"/>
          <p:cNvSpPr/>
          <p:nvPr/>
        </p:nvSpPr>
        <p:spPr>
          <a:xfrm>
            <a:off x="274320" y="2011680"/>
            <a:ext cx="8595360" cy="804672"/>
          </a:xfrm>
          <a:prstGeom prst="rect">
            <a:avLst/>
          </a:prstGeom>
          <a:solidFill>
            <a:srgbClr val="3A2015"/>
          </a:solidFill>
          <a:ln/>
        </p:spPr>
      </p:sp>
      <p:sp>
        <p:nvSpPr>
          <p:cNvPr id="12" name="Text 10"/>
          <p:cNvSpPr/>
          <p:nvPr/>
        </p:nvSpPr>
        <p:spPr>
          <a:xfrm>
            <a:off x="411480" y="2066544"/>
            <a:ext cx="2377440" cy="68580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矮子丕平 Pippin the Short</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(r. 751–768)</a:t>
            </a:r>
            <a:endParaRPr lang="en-US" sz="1400" dirty="0"/>
          </a:p>
        </p:txBody>
      </p:sp>
      <p:sp>
        <p:nvSpPr>
          <p:cNvPr id="13" name="Shape 11"/>
          <p:cNvSpPr/>
          <p:nvPr/>
        </p:nvSpPr>
        <p:spPr>
          <a:xfrm>
            <a:off x="2880360" y="2121408"/>
            <a:ext cx="36576" cy="594360"/>
          </a:xfrm>
          <a:prstGeom prst="rect">
            <a:avLst/>
          </a:prstGeom>
          <a:solidFill>
            <a:srgbClr val="C8A020"/>
          </a:solidFill>
          <a:ln/>
        </p:spPr>
      </p:sp>
      <p:sp>
        <p:nvSpPr>
          <p:cNvPr id="14" name="Text 12"/>
          <p:cNvSpPr/>
          <p:nvPr/>
        </p:nvSpPr>
        <p:spPr>
          <a:xfrm>
            <a:off x="2999232" y="2084832"/>
            <a:ext cx="5760720" cy="65836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法蘭克王授命全國採用羅馬禮儀與聖詠，以鞏固王權</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Frankish king ordered Roman liturgy and chant throughout his lands to consolidate authority</a:t>
            </a:r>
            <a:endParaRPr lang="en-US" sz="1400" dirty="0"/>
          </a:p>
        </p:txBody>
      </p:sp>
      <p:sp>
        <p:nvSpPr>
          <p:cNvPr id="15" name="Shape 13"/>
          <p:cNvSpPr/>
          <p:nvPr/>
        </p:nvSpPr>
        <p:spPr>
          <a:xfrm>
            <a:off x="274320" y="2926080"/>
            <a:ext cx="8595360" cy="804672"/>
          </a:xfrm>
          <a:prstGeom prst="rect">
            <a:avLst/>
          </a:prstGeom>
          <a:solidFill>
            <a:srgbClr val="3A2015"/>
          </a:solidFill>
          <a:ln/>
        </p:spPr>
      </p:sp>
      <p:sp>
        <p:nvSpPr>
          <p:cNvPr id="16" name="Text 14"/>
          <p:cNvSpPr/>
          <p:nvPr/>
        </p:nvSpPr>
        <p:spPr>
          <a:xfrm>
            <a:off x="411480" y="2980944"/>
            <a:ext cx="2377440" cy="68580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查理曼 Charlemagne</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(r. 768–814)</a:t>
            </a:r>
            <a:endParaRPr lang="en-US" sz="1400" dirty="0"/>
          </a:p>
        </p:txBody>
      </p:sp>
      <p:sp>
        <p:nvSpPr>
          <p:cNvPr id="17" name="Shape 15"/>
          <p:cNvSpPr/>
          <p:nvPr/>
        </p:nvSpPr>
        <p:spPr>
          <a:xfrm>
            <a:off x="2880360" y="3035808"/>
            <a:ext cx="36576" cy="594360"/>
          </a:xfrm>
          <a:prstGeom prst="rect">
            <a:avLst/>
          </a:prstGeom>
          <a:solidFill>
            <a:srgbClr val="C8A020"/>
          </a:solidFill>
          <a:ln/>
        </p:spPr>
      </p:sp>
      <p:sp>
        <p:nvSpPr>
          <p:cNvPr id="18" name="Text 16"/>
          <p:cNvSpPr/>
          <p:nvPr/>
        </p:nvSpPr>
        <p:spPr>
          <a:xfrm>
            <a:off x="2999232" y="2999232"/>
            <a:ext cx="5760720" cy="65836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繼續推廣政策；派遣羅馬歌手北上教授聖詠；800 CE 由教宗加冕為皇帝</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Continued promotion; sent Roman singers north; crowned Emperor by the pope in 800 CE</a:t>
            </a:r>
            <a:endParaRPr lang="en-US" sz="1400" dirty="0"/>
          </a:p>
        </p:txBody>
      </p:sp>
      <p:sp>
        <p:nvSpPr>
          <p:cNvPr id="19" name="Shape 17"/>
          <p:cNvSpPr/>
          <p:nvPr/>
        </p:nvSpPr>
        <p:spPr>
          <a:xfrm>
            <a:off x="274320" y="3840480"/>
            <a:ext cx="8595360" cy="804672"/>
          </a:xfrm>
          <a:prstGeom prst="rect">
            <a:avLst/>
          </a:prstGeom>
          <a:solidFill>
            <a:srgbClr val="3A2015"/>
          </a:solidFill>
          <a:ln/>
        </p:spPr>
      </p:sp>
      <p:sp>
        <p:nvSpPr>
          <p:cNvPr id="20" name="Text 18"/>
          <p:cNvSpPr/>
          <p:nvPr/>
        </p:nvSpPr>
        <p:spPr>
          <a:xfrm>
            <a:off x="411480" y="3895344"/>
            <a:ext cx="2377440" cy="68580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西歐標準化 Standardization</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(9th–11th centuries)</a:t>
            </a:r>
            <a:endParaRPr lang="en-US" sz="1400" dirty="0"/>
          </a:p>
        </p:txBody>
      </p:sp>
      <p:sp>
        <p:nvSpPr>
          <p:cNvPr id="21" name="Shape 19"/>
          <p:cNvSpPr/>
          <p:nvPr/>
        </p:nvSpPr>
        <p:spPr>
          <a:xfrm>
            <a:off x="2880360" y="3950208"/>
            <a:ext cx="36576" cy="594360"/>
          </a:xfrm>
          <a:prstGeom prst="rect">
            <a:avLst/>
          </a:prstGeom>
          <a:solidFill>
            <a:srgbClr val="C8A020"/>
          </a:solidFill>
          <a:ln/>
        </p:spPr>
      </p:sp>
      <p:sp>
        <p:nvSpPr>
          <p:cNvPr id="22" name="Text 20"/>
          <p:cNvSpPr/>
          <p:nvPr/>
        </p:nvSpPr>
        <p:spPr>
          <a:xfrm>
            <a:off x="2999232" y="3913632"/>
            <a:ext cx="5760720" cy="658368"/>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格里高利聖詠成為西歐共同音樂語言；記譜法的發明使旋律固定化</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Gregorian chant became the common musical language of Western Europe; notation fixed the melodies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A020"/>
          </a:solidFill>
          <a:ln/>
        </p:spPr>
      </p:sp>
      <p:sp>
        <p:nvSpPr>
          <p:cNvPr id="3" name="Shape 1"/>
          <p:cNvSpPr/>
          <p:nvPr/>
        </p:nvSpPr>
        <p:spPr>
          <a:xfrm>
            <a:off x="0" y="5029200"/>
            <a:ext cx="9144000" cy="114300"/>
          </a:xfrm>
          <a:prstGeom prst="rect">
            <a:avLst/>
          </a:prstGeom>
          <a:solidFill>
            <a:srgbClr val="C8A020"/>
          </a:solidFill>
          <a:ln/>
        </p:spPr>
      </p:sp>
      <p:sp>
        <p:nvSpPr>
          <p:cNvPr id="4" name="Text 2"/>
          <p:cNvSpPr/>
          <p:nvPr/>
        </p:nvSpPr>
        <p:spPr>
          <a:xfrm>
            <a:off x="365760" y="164592"/>
            <a:ext cx="8412480" cy="475488"/>
          </a:xfrm>
          <a:prstGeom prst="rect">
            <a:avLst/>
          </a:prstGeom>
          <a:noFill/>
          <a:ln/>
        </p:spPr>
        <p:txBody>
          <a:bodyPr wrap="square" rtlCol="0" anchor="ctr"/>
          <a:lstStyle/>
          <a:p>
            <a:pPr algn="ctr" indent="0" marL="0">
              <a:buNone/>
            </a:pPr>
            <a:r>
              <a:rPr lang="en-US" sz="2800" b="1" dirty="0">
                <a:solidFill>
                  <a:srgbClr val="C8A020"/>
                </a:solidFill>
                <a:latin typeface="Georgia" pitchFamily="34" charset="0"/>
                <a:ea typeface="Georgia" pitchFamily="34" charset="-122"/>
                <a:cs typeface="Georgia" pitchFamily="34" charset="-120"/>
              </a:rPr>
              <a:t>歷史時間軸 Timeline</a:t>
            </a:r>
            <a:endParaRPr lang="en-US" sz="2800" dirty="0"/>
          </a:p>
        </p:txBody>
      </p:sp>
      <p:sp>
        <p:nvSpPr>
          <p:cNvPr id="5" name="Shape 3"/>
          <p:cNvSpPr/>
          <p:nvPr/>
        </p:nvSpPr>
        <p:spPr>
          <a:xfrm>
            <a:off x="2377440" y="777240"/>
            <a:ext cx="45720" cy="4114800"/>
          </a:xfrm>
          <a:prstGeom prst="rect">
            <a:avLst/>
          </a:prstGeom>
          <a:solidFill>
            <a:srgbClr val="C8A020"/>
          </a:solidFill>
          <a:ln/>
        </p:spPr>
      </p:sp>
      <p:sp>
        <p:nvSpPr>
          <p:cNvPr id="6" name="Shape 4"/>
          <p:cNvSpPr/>
          <p:nvPr/>
        </p:nvSpPr>
        <p:spPr>
          <a:xfrm>
            <a:off x="2249424" y="813816"/>
            <a:ext cx="256032" cy="256032"/>
          </a:xfrm>
          <a:prstGeom prst="ellipse">
            <a:avLst/>
          </a:prstGeom>
          <a:solidFill>
            <a:srgbClr val="C8A020"/>
          </a:solidFill>
          <a:ln/>
        </p:spPr>
      </p:sp>
      <p:sp>
        <p:nvSpPr>
          <p:cNvPr id="7" name="Text 5"/>
          <p:cNvSpPr/>
          <p:nvPr/>
        </p:nvSpPr>
        <p:spPr>
          <a:xfrm>
            <a:off x="91440" y="7772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ca. 530s–516 BCE</a:t>
            </a:r>
            <a:endParaRPr lang="en-US" sz="1400" dirty="0"/>
          </a:p>
        </p:txBody>
      </p:sp>
      <p:sp>
        <p:nvSpPr>
          <p:cNvPr id="8" name="Text 6"/>
          <p:cNvSpPr/>
          <p:nvPr/>
        </p:nvSpPr>
        <p:spPr>
          <a:xfrm>
            <a:off x="2697480" y="7772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耶路撒冷第二聖殿建立 Second Temple built in Jerusalem</a:t>
            </a:r>
            <a:endParaRPr lang="en-US" sz="1400" dirty="0"/>
          </a:p>
        </p:txBody>
      </p:sp>
      <p:sp>
        <p:nvSpPr>
          <p:cNvPr id="9" name="Shape 7"/>
          <p:cNvSpPr/>
          <p:nvPr/>
        </p:nvSpPr>
        <p:spPr>
          <a:xfrm>
            <a:off x="2249424" y="1156716"/>
            <a:ext cx="256032" cy="256032"/>
          </a:xfrm>
          <a:prstGeom prst="ellipse">
            <a:avLst/>
          </a:prstGeom>
          <a:solidFill>
            <a:srgbClr val="C8A020"/>
          </a:solidFill>
          <a:ln/>
        </p:spPr>
      </p:sp>
      <p:sp>
        <p:nvSpPr>
          <p:cNvPr id="10" name="Text 8"/>
          <p:cNvSpPr/>
          <p:nvPr/>
        </p:nvSpPr>
        <p:spPr>
          <a:xfrm>
            <a:off x="91440" y="11201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33 CE</a:t>
            </a:r>
            <a:endParaRPr lang="en-US" sz="1400" dirty="0"/>
          </a:p>
        </p:txBody>
      </p:sp>
      <p:sp>
        <p:nvSpPr>
          <p:cNvPr id="11" name="Text 9"/>
          <p:cNvSpPr/>
          <p:nvPr/>
        </p:nvSpPr>
        <p:spPr>
          <a:xfrm>
            <a:off x="2697480" y="11201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耶穌被釘十字架 Jesus's crucifixion</a:t>
            </a:r>
            <a:endParaRPr lang="en-US" sz="1400" dirty="0"/>
          </a:p>
        </p:txBody>
      </p:sp>
      <p:sp>
        <p:nvSpPr>
          <p:cNvPr id="12" name="Shape 10"/>
          <p:cNvSpPr/>
          <p:nvPr/>
        </p:nvSpPr>
        <p:spPr>
          <a:xfrm>
            <a:off x="2249424" y="1499616"/>
            <a:ext cx="256032" cy="256032"/>
          </a:xfrm>
          <a:prstGeom prst="ellipse">
            <a:avLst/>
          </a:prstGeom>
          <a:solidFill>
            <a:srgbClr val="C8A020"/>
          </a:solidFill>
          <a:ln/>
        </p:spPr>
      </p:sp>
      <p:sp>
        <p:nvSpPr>
          <p:cNvPr id="13" name="Text 11"/>
          <p:cNvSpPr/>
          <p:nvPr/>
        </p:nvSpPr>
        <p:spPr>
          <a:xfrm>
            <a:off x="91440" y="14630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70 CE</a:t>
            </a:r>
            <a:endParaRPr lang="en-US" sz="1400" dirty="0"/>
          </a:p>
        </p:txBody>
      </p:sp>
      <p:sp>
        <p:nvSpPr>
          <p:cNvPr id="14" name="Text 12"/>
          <p:cNvSpPr/>
          <p:nvPr/>
        </p:nvSpPr>
        <p:spPr>
          <a:xfrm>
            <a:off x="2697480" y="14630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羅馬摧毀聖殿，驅逐猶太人 Romans destroy Temple, expel the Jews</a:t>
            </a:r>
            <a:endParaRPr lang="en-US" sz="1400" dirty="0"/>
          </a:p>
        </p:txBody>
      </p:sp>
      <p:sp>
        <p:nvSpPr>
          <p:cNvPr id="15" name="Shape 13"/>
          <p:cNvSpPr/>
          <p:nvPr/>
        </p:nvSpPr>
        <p:spPr>
          <a:xfrm>
            <a:off x="2249424" y="1842516"/>
            <a:ext cx="256032" cy="256032"/>
          </a:xfrm>
          <a:prstGeom prst="ellipse">
            <a:avLst/>
          </a:prstGeom>
          <a:solidFill>
            <a:srgbClr val="C8A020"/>
          </a:solidFill>
          <a:ln/>
        </p:spPr>
      </p:sp>
      <p:sp>
        <p:nvSpPr>
          <p:cNvPr id="16" name="Text 14"/>
          <p:cNvSpPr/>
          <p:nvPr/>
        </p:nvSpPr>
        <p:spPr>
          <a:xfrm>
            <a:off x="91440" y="18059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313 CE</a:t>
            </a:r>
            <a:endParaRPr lang="en-US" sz="1400" dirty="0"/>
          </a:p>
        </p:txBody>
      </p:sp>
      <p:sp>
        <p:nvSpPr>
          <p:cNvPr id="17" name="Text 15"/>
          <p:cNvSpPr/>
          <p:nvPr/>
        </p:nvSpPr>
        <p:spPr>
          <a:xfrm>
            <a:off x="2697480" y="18059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君士坦丁《米蘭勒令》合法化基督教 Edict of Milan legalizes Christianity</a:t>
            </a:r>
            <a:endParaRPr lang="en-US" sz="1400" dirty="0"/>
          </a:p>
        </p:txBody>
      </p:sp>
      <p:sp>
        <p:nvSpPr>
          <p:cNvPr id="18" name="Shape 16"/>
          <p:cNvSpPr/>
          <p:nvPr/>
        </p:nvSpPr>
        <p:spPr>
          <a:xfrm>
            <a:off x="2249424" y="2185416"/>
            <a:ext cx="256032" cy="256032"/>
          </a:xfrm>
          <a:prstGeom prst="ellipse">
            <a:avLst/>
          </a:prstGeom>
          <a:solidFill>
            <a:srgbClr val="C8A020"/>
          </a:solidFill>
          <a:ln/>
        </p:spPr>
      </p:sp>
      <p:sp>
        <p:nvSpPr>
          <p:cNvPr id="19" name="Text 17"/>
          <p:cNvSpPr/>
          <p:nvPr/>
        </p:nvSpPr>
        <p:spPr>
          <a:xfrm>
            <a:off x="91440" y="21488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392 CE</a:t>
            </a:r>
            <a:endParaRPr lang="en-US" sz="1400" dirty="0"/>
          </a:p>
        </p:txBody>
      </p:sp>
      <p:sp>
        <p:nvSpPr>
          <p:cNvPr id="20" name="Text 18"/>
          <p:cNvSpPr/>
          <p:nvPr/>
        </p:nvSpPr>
        <p:spPr>
          <a:xfrm>
            <a:off x="2697480" y="21488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基督教成為羅馬官方宗教 Christianity becomes official Roman religion</a:t>
            </a:r>
            <a:endParaRPr lang="en-US" sz="1400" dirty="0"/>
          </a:p>
        </p:txBody>
      </p:sp>
      <p:sp>
        <p:nvSpPr>
          <p:cNvPr id="21" name="Shape 19"/>
          <p:cNvSpPr/>
          <p:nvPr/>
        </p:nvSpPr>
        <p:spPr>
          <a:xfrm>
            <a:off x="2249424" y="2528316"/>
            <a:ext cx="256032" cy="256032"/>
          </a:xfrm>
          <a:prstGeom prst="ellipse">
            <a:avLst/>
          </a:prstGeom>
          <a:solidFill>
            <a:srgbClr val="C8A020"/>
          </a:solidFill>
          <a:ln/>
        </p:spPr>
      </p:sp>
      <p:sp>
        <p:nvSpPr>
          <p:cNvPr id="22" name="Text 20"/>
          <p:cNvSpPr/>
          <p:nvPr/>
        </p:nvSpPr>
        <p:spPr>
          <a:xfrm>
            <a:off x="91440" y="24917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ca. 500–10 CE</a:t>
            </a:r>
            <a:endParaRPr lang="en-US" sz="1400" dirty="0"/>
          </a:p>
        </p:txBody>
      </p:sp>
      <p:sp>
        <p:nvSpPr>
          <p:cNvPr id="23" name="Text 21"/>
          <p:cNvSpPr/>
          <p:nvPr/>
        </p:nvSpPr>
        <p:spPr>
          <a:xfrm>
            <a:off x="2697480" y="24917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波愛修斯《音樂基礎》De institutione musica (Boethius)</a:t>
            </a:r>
            <a:endParaRPr lang="en-US" sz="1400" dirty="0"/>
          </a:p>
        </p:txBody>
      </p:sp>
      <p:sp>
        <p:nvSpPr>
          <p:cNvPr id="24" name="Shape 22"/>
          <p:cNvSpPr/>
          <p:nvPr/>
        </p:nvSpPr>
        <p:spPr>
          <a:xfrm>
            <a:off x="2249424" y="2871216"/>
            <a:ext cx="256032" cy="256032"/>
          </a:xfrm>
          <a:prstGeom prst="ellipse">
            <a:avLst/>
          </a:prstGeom>
          <a:solidFill>
            <a:srgbClr val="C8A020"/>
          </a:solidFill>
          <a:ln/>
        </p:spPr>
      </p:sp>
      <p:sp>
        <p:nvSpPr>
          <p:cNvPr id="25" name="Text 23"/>
          <p:cNvSpPr/>
          <p:nvPr/>
        </p:nvSpPr>
        <p:spPr>
          <a:xfrm>
            <a:off x="91440" y="28346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590–604 CE</a:t>
            </a:r>
            <a:endParaRPr lang="en-US" sz="1400" dirty="0"/>
          </a:p>
        </p:txBody>
      </p:sp>
      <p:sp>
        <p:nvSpPr>
          <p:cNvPr id="26" name="Text 24"/>
          <p:cNvSpPr/>
          <p:nvPr/>
        </p:nvSpPr>
        <p:spPr>
          <a:xfrm>
            <a:off x="2697480" y="28346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教宗額我略一世 Reign of Pope Gregory I (the Great)</a:t>
            </a:r>
            <a:endParaRPr lang="en-US" sz="1400" dirty="0"/>
          </a:p>
        </p:txBody>
      </p:sp>
      <p:sp>
        <p:nvSpPr>
          <p:cNvPr id="27" name="Shape 25"/>
          <p:cNvSpPr/>
          <p:nvPr/>
        </p:nvSpPr>
        <p:spPr>
          <a:xfrm>
            <a:off x="2249424" y="3214116"/>
            <a:ext cx="256032" cy="256032"/>
          </a:xfrm>
          <a:prstGeom prst="ellipse">
            <a:avLst/>
          </a:prstGeom>
          <a:solidFill>
            <a:srgbClr val="C8A020"/>
          </a:solidFill>
          <a:ln/>
        </p:spPr>
      </p:sp>
      <p:sp>
        <p:nvSpPr>
          <p:cNvPr id="28" name="Text 26"/>
          <p:cNvSpPr/>
          <p:nvPr/>
        </p:nvSpPr>
        <p:spPr>
          <a:xfrm>
            <a:off x="91440" y="31775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ca. 754 CE</a:t>
            </a:r>
            <a:endParaRPr lang="en-US" sz="1400" dirty="0"/>
          </a:p>
        </p:txBody>
      </p:sp>
      <p:sp>
        <p:nvSpPr>
          <p:cNvPr id="29" name="Text 27"/>
          <p:cNvSpPr/>
          <p:nvPr/>
        </p:nvSpPr>
        <p:spPr>
          <a:xfrm>
            <a:off x="2697480" y="31775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丕平令全境採用羅馬禮儀 Pippin orders Roman liturgy and chant</a:t>
            </a:r>
            <a:endParaRPr lang="en-US" sz="1400" dirty="0"/>
          </a:p>
        </p:txBody>
      </p:sp>
      <p:sp>
        <p:nvSpPr>
          <p:cNvPr id="30" name="Shape 28"/>
          <p:cNvSpPr/>
          <p:nvPr/>
        </p:nvSpPr>
        <p:spPr>
          <a:xfrm>
            <a:off x="2249424" y="3557016"/>
            <a:ext cx="256032" cy="256032"/>
          </a:xfrm>
          <a:prstGeom prst="ellipse">
            <a:avLst/>
          </a:prstGeom>
          <a:solidFill>
            <a:srgbClr val="C8A020"/>
          </a:solidFill>
          <a:ln/>
        </p:spPr>
      </p:sp>
      <p:sp>
        <p:nvSpPr>
          <p:cNvPr id="31" name="Text 29"/>
          <p:cNvSpPr/>
          <p:nvPr/>
        </p:nvSpPr>
        <p:spPr>
          <a:xfrm>
            <a:off x="91440" y="35204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800 CE</a:t>
            </a:r>
            <a:endParaRPr lang="en-US" sz="1400" dirty="0"/>
          </a:p>
        </p:txBody>
      </p:sp>
      <p:sp>
        <p:nvSpPr>
          <p:cNvPr id="32" name="Text 30"/>
          <p:cNvSpPr/>
          <p:nvPr/>
        </p:nvSpPr>
        <p:spPr>
          <a:xfrm>
            <a:off x="2697480" y="35204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查理曼加冕為皇帝 Charlemagne crowned emperor by the pope</a:t>
            </a:r>
            <a:endParaRPr lang="en-US" sz="1400" dirty="0"/>
          </a:p>
        </p:txBody>
      </p:sp>
      <p:sp>
        <p:nvSpPr>
          <p:cNvPr id="33" name="Shape 31"/>
          <p:cNvSpPr/>
          <p:nvPr/>
        </p:nvSpPr>
        <p:spPr>
          <a:xfrm>
            <a:off x="2249424" y="3899916"/>
            <a:ext cx="256032" cy="256032"/>
          </a:xfrm>
          <a:prstGeom prst="ellipse">
            <a:avLst/>
          </a:prstGeom>
          <a:solidFill>
            <a:srgbClr val="C8A020"/>
          </a:solidFill>
          <a:ln/>
        </p:spPr>
      </p:sp>
      <p:sp>
        <p:nvSpPr>
          <p:cNvPr id="34" name="Text 32"/>
          <p:cNvSpPr/>
          <p:nvPr/>
        </p:nvSpPr>
        <p:spPr>
          <a:xfrm>
            <a:off x="91440" y="38633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ca. 850–900 CE</a:t>
            </a:r>
            <a:endParaRPr lang="en-US" sz="1400" dirty="0"/>
          </a:p>
        </p:txBody>
      </p:sp>
      <p:sp>
        <p:nvSpPr>
          <p:cNvPr id="35" name="Text 33"/>
          <p:cNvSpPr/>
          <p:nvPr/>
        </p:nvSpPr>
        <p:spPr>
          <a:xfrm>
            <a:off x="2697480" y="38633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《音樂手冊》Musica enchiriadis and Scelica enchiriadis</a:t>
            </a:r>
            <a:endParaRPr lang="en-US" sz="1400" dirty="0"/>
          </a:p>
        </p:txBody>
      </p:sp>
      <p:sp>
        <p:nvSpPr>
          <p:cNvPr id="36" name="Shape 34"/>
          <p:cNvSpPr/>
          <p:nvPr/>
        </p:nvSpPr>
        <p:spPr>
          <a:xfrm>
            <a:off x="2249424" y="4242816"/>
            <a:ext cx="256032" cy="256032"/>
          </a:xfrm>
          <a:prstGeom prst="ellipse">
            <a:avLst/>
          </a:prstGeom>
          <a:solidFill>
            <a:srgbClr val="C8A020"/>
          </a:solidFill>
          <a:ln/>
        </p:spPr>
      </p:sp>
      <p:sp>
        <p:nvSpPr>
          <p:cNvPr id="37" name="Text 35"/>
          <p:cNvSpPr/>
          <p:nvPr/>
        </p:nvSpPr>
        <p:spPr>
          <a:xfrm>
            <a:off x="91440" y="42062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1025–28 CE</a:t>
            </a:r>
            <a:endParaRPr lang="en-US" sz="1400" dirty="0"/>
          </a:p>
        </p:txBody>
      </p:sp>
      <p:sp>
        <p:nvSpPr>
          <p:cNvPr id="38" name="Text 36"/>
          <p:cNvSpPr/>
          <p:nvPr/>
        </p:nvSpPr>
        <p:spPr>
          <a:xfrm>
            <a:off x="2697480" y="42062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阿雷佐的桂多《小論文》Guido of Arezzo, Micrologus</a:t>
            </a:r>
            <a:endParaRPr lang="en-US" sz="1400" dirty="0"/>
          </a:p>
        </p:txBody>
      </p:sp>
      <p:sp>
        <p:nvSpPr>
          <p:cNvPr id="39" name="Shape 37"/>
          <p:cNvSpPr/>
          <p:nvPr/>
        </p:nvSpPr>
        <p:spPr>
          <a:xfrm>
            <a:off x="2249424" y="4585716"/>
            <a:ext cx="256032" cy="256032"/>
          </a:xfrm>
          <a:prstGeom prst="ellipse">
            <a:avLst/>
          </a:prstGeom>
          <a:solidFill>
            <a:srgbClr val="C8A020"/>
          </a:solidFill>
          <a:ln/>
        </p:spPr>
      </p:sp>
      <p:sp>
        <p:nvSpPr>
          <p:cNvPr id="40" name="Text 38"/>
          <p:cNvSpPr/>
          <p:nvPr/>
        </p:nvSpPr>
        <p:spPr>
          <a:xfrm>
            <a:off x="91440" y="4549140"/>
            <a:ext cx="2084832" cy="301752"/>
          </a:xfrm>
          <a:prstGeom prst="rect">
            <a:avLst/>
          </a:prstGeom>
          <a:noFill/>
          <a:ln/>
        </p:spPr>
        <p:txBody>
          <a:bodyPr wrap="square" lIns="0" tIns="0" rIns="0" bIns="0" rtlCol="0" anchor="t"/>
          <a:lstStyle/>
          <a:p>
            <a:pPr algn="r" indent="0" marL="0">
              <a:buNone/>
            </a:pPr>
            <a:r>
              <a:rPr lang="en-US" sz="1400" dirty="0">
                <a:solidFill>
                  <a:srgbClr val="E8D8A8"/>
                </a:solidFill>
                <a:latin typeface="Calibri" pitchFamily="34" charset="0"/>
                <a:ea typeface="Calibri" pitchFamily="34" charset="-122"/>
                <a:cs typeface="Calibri" pitchFamily="34" charset="-120"/>
              </a:rPr>
              <a:t>1054 CE</a:t>
            </a:r>
            <a:endParaRPr lang="en-US" sz="1400" dirty="0"/>
          </a:p>
        </p:txBody>
      </p:sp>
      <p:sp>
        <p:nvSpPr>
          <p:cNvPr id="41" name="Text 39"/>
          <p:cNvSpPr/>
          <p:nvPr/>
        </p:nvSpPr>
        <p:spPr>
          <a:xfrm>
            <a:off x="2697480" y="4549140"/>
            <a:ext cx="6217920" cy="30175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東西教會正式分裂 Final split of Roman and Byzantine churches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5E6"/>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A84030"/>
          </a:solidFill>
          <a:ln/>
        </p:spPr>
      </p:sp>
      <p:sp>
        <p:nvSpPr>
          <p:cNvPr id="3" name="Shape 1"/>
          <p:cNvSpPr/>
          <p:nvPr/>
        </p:nvSpPr>
        <p:spPr>
          <a:xfrm>
            <a:off x="0" y="5029200"/>
            <a:ext cx="9144000" cy="114300"/>
          </a:xfrm>
          <a:prstGeom prst="rect">
            <a:avLst/>
          </a:prstGeom>
          <a:solidFill>
            <a:srgbClr val="A84030"/>
          </a:solidFill>
          <a:ln/>
        </p:spPr>
      </p:sp>
      <p:sp>
        <p:nvSpPr>
          <p:cNvPr id="4" name="Text 2"/>
          <p:cNvSpPr/>
          <p:nvPr/>
        </p:nvSpPr>
        <p:spPr>
          <a:xfrm>
            <a:off x="365760" y="164592"/>
            <a:ext cx="8412480" cy="502920"/>
          </a:xfrm>
          <a:prstGeom prst="rect">
            <a:avLst/>
          </a:prstGeom>
          <a:noFill/>
          <a:ln/>
        </p:spPr>
        <p:txBody>
          <a:bodyPr wrap="square" lIns="0" tIns="0" rIns="0" bIns="0" rtlCol="0" anchor="ctr"/>
          <a:lstStyle/>
          <a:p>
            <a:pPr indent="0" marL="0">
              <a:buNone/>
            </a:pPr>
            <a:r>
              <a:rPr lang="en-US" sz="2400" b="1" dirty="0">
                <a:solidFill>
                  <a:srgbClr val="A84030"/>
                </a:solidFill>
                <a:latin typeface="Georgia" pitchFamily="34" charset="0"/>
                <a:ea typeface="Georgia" pitchFamily="34" charset="-122"/>
                <a:cs typeface="Georgia" pitchFamily="34" charset="-120"/>
              </a:rPr>
              <a:t>記譜法的發展 The Development of Notation</a:t>
            </a:r>
            <a:endParaRPr lang="en-US" sz="2400" dirty="0"/>
          </a:p>
        </p:txBody>
      </p:sp>
      <p:sp>
        <p:nvSpPr>
          <p:cNvPr id="5" name="Shape 3"/>
          <p:cNvSpPr/>
          <p:nvPr/>
        </p:nvSpPr>
        <p:spPr>
          <a:xfrm>
            <a:off x="365760" y="694944"/>
            <a:ext cx="8412480" cy="27432"/>
          </a:xfrm>
          <a:prstGeom prst="rect">
            <a:avLst/>
          </a:prstGeom>
          <a:solidFill>
            <a:srgbClr val="E8D8A8"/>
          </a:solidFill>
          <a:ln/>
        </p:spPr>
      </p:sp>
      <p:sp>
        <p:nvSpPr>
          <p:cNvPr id="6" name="Text 4"/>
          <p:cNvSpPr/>
          <p:nvPr/>
        </p:nvSpPr>
        <p:spPr>
          <a:xfrm>
            <a:off x="365760" y="768096"/>
            <a:ext cx="8412480" cy="457200"/>
          </a:xfrm>
          <a:prstGeom prst="rect">
            <a:avLst/>
          </a:prstGeom>
          <a:noFill/>
          <a:ln/>
        </p:spPr>
        <p:txBody>
          <a:bodyPr wrap="square" rtlCol="0" anchor="t"/>
          <a:lstStyle/>
          <a:p>
            <a:pPr indent="0" marL="0">
              <a:buNone/>
            </a:pPr>
            <a:r>
              <a:rPr lang="en-US" sz="1400" i="1" dirty="0">
                <a:solidFill>
                  <a:srgbClr val="4A3828"/>
                </a:solidFill>
                <a:latin typeface="Calibri" pitchFamily="34" charset="0"/>
                <a:ea typeface="Calibri" pitchFamily="34" charset="-122"/>
                <a:cs typeface="Calibri" pitchFamily="34" charset="-120"/>
              </a:rPr>
              <a:t>「除非被記住，否則聲音就消逝了；它們無法寫下。」—— 塞維利亞的伊西多爾 (ca. 560–636)</a:t>
            </a:r>
            <a:endParaRPr lang="en-US" sz="1400" dirty="0"/>
          </a:p>
          <a:p>
            <a:pPr indent="0" marL="0">
              <a:buNone/>
            </a:pPr>
            <a:r>
              <a:rPr lang="en-US" sz="1400" i="1" dirty="0">
                <a:solidFill>
                  <a:srgbClr val="4A3828"/>
                </a:solidFill>
                <a:latin typeface="Calibri" pitchFamily="34" charset="0"/>
                <a:ea typeface="Calibri" pitchFamily="34" charset="-122"/>
                <a:cs typeface="Calibri" pitchFamily="34" charset="-120"/>
              </a:rPr>
              <a:t>Unless sounds are remembered by man, they perish, for they cannot be written down. — Isidore of Seville</a:t>
            </a:r>
            <a:endParaRPr lang="en-US" sz="1400" dirty="0"/>
          </a:p>
        </p:txBody>
      </p:sp>
      <p:sp>
        <p:nvSpPr>
          <p:cNvPr id="7" name="Shape 5"/>
          <p:cNvSpPr/>
          <p:nvPr/>
        </p:nvSpPr>
        <p:spPr>
          <a:xfrm>
            <a:off x="274320" y="1261872"/>
            <a:ext cx="8595360" cy="859536"/>
          </a:xfrm>
          <a:prstGeom prst="rect">
            <a:avLst/>
          </a:prstGeom>
          <a:solidFill>
            <a:srgbClr val="7A2830"/>
          </a:solidFill>
          <a:ln/>
        </p:spPr>
      </p:sp>
      <p:sp>
        <p:nvSpPr>
          <p:cNvPr id="8" name="Text 6"/>
          <p:cNvSpPr/>
          <p:nvPr/>
        </p:nvSpPr>
        <p:spPr>
          <a:xfrm>
            <a:off x="411480" y="1325880"/>
            <a:ext cx="2377440" cy="731520"/>
          </a:xfrm>
          <a:prstGeom prst="rect">
            <a:avLst/>
          </a:prstGeom>
          <a:noFill/>
          <a:ln/>
        </p:spPr>
        <p:txBody>
          <a:bodyPr wrap="square" lIns="0" tIns="0" rIns="0" bIns="0" rtlCol="0" anchor="t"/>
          <a:lstStyle/>
          <a:p>
            <a:pPr indent="0" marL="0">
              <a:buNone/>
            </a:pPr>
            <a:r>
              <a:rPr lang="en-US" sz="1400" b="1" dirty="0">
                <a:solidFill>
                  <a:srgbClr val="C8A020"/>
                </a:solidFill>
                <a:latin typeface="Georgia" pitchFamily="34" charset="0"/>
                <a:ea typeface="Georgia" pitchFamily="34" charset="-122"/>
                <a:cs typeface="Georgia" pitchFamily="34" charset="-120"/>
              </a:rPr>
              <a:t>① 口耳相傳</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Oral Transmission</a:t>
            </a:r>
            <a:endParaRPr lang="en-US" sz="1400" dirty="0"/>
          </a:p>
        </p:txBody>
      </p:sp>
      <p:sp>
        <p:nvSpPr>
          <p:cNvPr id="9" name="Shape 7"/>
          <p:cNvSpPr/>
          <p:nvPr/>
        </p:nvSpPr>
        <p:spPr>
          <a:xfrm>
            <a:off x="2880360" y="1353312"/>
            <a:ext cx="36576" cy="658368"/>
          </a:xfrm>
          <a:prstGeom prst="rect">
            <a:avLst/>
          </a:prstGeom>
          <a:solidFill>
            <a:srgbClr val="C8A020"/>
          </a:solidFill>
          <a:ln/>
        </p:spPr>
      </p:sp>
      <p:sp>
        <p:nvSpPr>
          <p:cNvPr id="10" name="Text 8"/>
          <p:cNvSpPr/>
          <p:nvPr/>
        </p:nvSpPr>
        <p:spPr>
          <a:xfrm>
            <a:off x="2999232" y="1307592"/>
            <a:ext cx="5715000" cy="8046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記譜法出現前，聖詠靠口傳記憶；歌手須記數百旋律</a:t>
            </a:r>
            <a:endParaRPr lang="en-US" sz="1400" dirty="0"/>
          </a:p>
          <a:p>
            <a:pPr indent="0" marL="0">
              <a:buNone/>
            </a:pPr>
            <a:r>
              <a:rPr lang="en-US" sz="1400" dirty="0">
                <a:solidFill>
                  <a:srgbClr val="FBF5E6"/>
                </a:solidFill>
                <a:latin typeface="Calibri" pitchFamily="34" charset="0"/>
                <a:ea typeface="Calibri" pitchFamily="34" charset="-122"/>
                <a:cs typeface="Calibri" pitchFamily="34" charset="-120"/>
              </a:rPr>
              <a:t>Before notation, chants memorized orally; hundreds of melodies</a:t>
            </a:r>
            <a:endParaRPr lang="en-US" sz="1400" dirty="0"/>
          </a:p>
        </p:txBody>
      </p:sp>
      <p:sp>
        <p:nvSpPr>
          <p:cNvPr id="11" name="Shape 9"/>
          <p:cNvSpPr/>
          <p:nvPr/>
        </p:nvSpPr>
        <p:spPr>
          <a:xfrm>
            <a:off x="274320" y="2176272"/>
            <a:ext cx="8595360" cy="859536"/>
          </a:xfrm>
          <a:prstGeom prst="rect">
            <a:avLst/>
          </a:prstGeom>
          <a:solidFill>
            <a:srgbClr val="7A2830"/>
          </a:solidFill>
          <a:ln/>
        </p:spPr>
      </p:sp>
      <p:sp>
        <p:nvSpPr>
          <p:cNvPr id="12" name="Text 10"/>
          <p:cNvSpPr/>
          <p:nvPr/>
        </p:nvSpPr>
        <p:spPr>
          <a:xfrm>
            <a:off x="411480" y="2240280"/>
            <a:ext cx="2377440" cy="731520"/>
          </a:xfrm>
          <a:prstGeom prst="rect">
            <a:avLst/>
          </a:prstGeom>
          <a:noFill/>
          <a:ln/>
        </p:spPr>
        <p:txBody>
          <a:bodyPr wrap="square" lIns="0" tIns="0" rIns="0" bIns="0" rtlCol="0" anchor="t"/>
          <a:lstStyle/>
          <a:p>
            <a:pPr indent="0" marL="0">
              <a:buNone/>
            </a:pPr>
            <a:r>
              <a:rPr lang="en-US" sz="1400" b="1" dirty="0">
                <a:solidFill>
                  <a:srgbClr val="C8A020"/>
                </a:solidFill>
                <a:latin typeface="Georgia" pitchFamily="34" charset="0"/>
                <a:ea typeface="Georgia" pitchFamily="34" charset="-122"/>
                <a:cs typeface="Georgia" pitchFamily="34" charset="-120"/>
              </a:rPr>
              <a:t>② 紐姆符號</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Neumes (9th c.)</a:t>
            </a:r>
            <a:endParaRPr lang="en-US" sz="1400" dirty="0"/>
          </a:p>
        </p:txBody>
      </p:sp>
      <p:sp>
        <p:nvSpPr>
          <p:cNvPr id="13" name="Shape 11"/>
          <p:cNvSpPr/>
          <p:nvPr/>
        </p:nvSpPr>
        <p:spPr>
          <a:xfrm>
            <a:off x="2880360" y="2267712"/>
            <a:ext cx="36576" cy="658368"/>
          </a:xfrm>
          <a:prstGeom prst="rect">
            <a:avLst/>
          </a:prstGeom>
          <a:solidFill>
            <a:srgbClr val="C8A020"/>
          </a:solidFill>
          <a:ln/>
        </p:spPr>
      </p:sp>
      <p:sp>
        <p:nvSpPr>
          <p:cNvPr id="14" name="Text 12"/>
          <p:cNvSpPr/>
          <p:nvPr/>
        </p:nvSpPr>
        <p:spPr>
          <a:xfrm>
            <a:off x="2999232" y="2221992"/>
            <a:ext cx="5715000" cy="8046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文字上方記號（gesture/shape），提示旋律輪廓但不定音高</a:t>
            </a:r>
            <a:endParaRPr lang="en-US" sz="1400" dirty="0"/>
          </a:p>
          <a:p>
            <a:pPr indent="0" marL="0">
              <a:buNone/>
            </a:pPr>
            <a:r>
              <a:rPr lang="en-US" sz="1400" dirty="0">
                <a:solidFill>
                  <a:srgbClr val="FBF5E6"/>
                </a:solidFill>
                <a:latin typeface="Calibri" pitchFamily="34" charset="0"/>
                <a:ea typeface="Calibri" pitchFamily="34" charset="-122"/>
                <a:cs typeface="Calibri" pitchFamily="34" charset="-120"/>
              </a:rPr>
              <a:t>Signs above text show melodic contour — no precise pitch</a:t>
            </a:r>
            <a:endParaRPr lang="en-US" sz="1400" dirty="0"/>
          </a:p>
        </p:txBody>
      </p:sp>
      <p:sp>
        <p:nvSpPr>
          <p:cNvPr id="15" name="Shape 13"/>
          <p:cNvSpPr/>
          <p:nvPr/>
        </p:nvSpPr>
        <p:spPr>
          <a:xfrm>
            <a:off x="274320" y="3090672"/>
            <a:ext cx="8595360" cy="859536"/>
          </a:xfrm>
          <a:prstGeom prst="rect">
            <a:avLst/>
          </a:prstGeom>
          <a:solidFill>
            <a:srgbClr val="7A2830"/>
          </a:solidFill>
          <a:ln/>
        </p:spPr>
      </p:sp>
      <p:sp>
        <p:nvSpPr>
          <p:cNvPr id="16" name="Text 14"/>
          <p:cNvSpPr/>
          <p:nvPr/>
        </p:nvSpPr>
        <p:spPr>
          <a:xfrm>
            <a:off x="411480" y="3154680"/>
            <a:ext cx="2377440" cy="731520"/>
          </a:xfrm>
          <a:prstGeom prst="rect">
            <a:avLst/>
          </a:prstGeom>
          <a:noFill/>
          <a:ln/>
        </p:spPr>
        <p:txBody>
          <a:bodyPr wrap="square" lIns="0" tIns="0" rIns="0" bIns="0" rtlCol="0" anchor="t"/>
          <a:lstStyle/>
          <a:p>
            <a:pPr indent="0" marL="0">
              <a:buNone/>
            </a:pPr>
            <a:r>
              <a:rPr lang="en-US" sz="1400" b="1" dirty="0">
                <a:solidFill>
                  <a:srgbClr val="C8A020"/>
                </a:solidFill>
                <a:latin typeface="Georgia" pitchFamily="34" charset="0"/>
                <a:ea typeface="Georgia" pitchFamily="34" charset="-122"/>
                <a:cs typeface="Georgia" pitchFamily="34" charset="-120"/>
              </a:rPr>
              <a:t>③ 有高度紐姆</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Heighted Neumes (10–11th c.)</a:t>
            </a:r>
            <a:endParaRPr lang="en-US" sz="1400" dirty="0"/>
          </a:p>
        </p:txBody>
      </p:sp>
      <p:sp>
        <p:nvSpPr>
          <p:cNvPr id="17" name="Shape 15"/>
          <p:cNvSpPr/>
          <p:nvPr/>
        </p:nvSpPr>
        <p:spPr>
          <a:xfrm>
            <a:off x="2880360" y="3182112"/>
            <a:ext cx="36576" cy="658368"/>
          </a:xfrm>
          <a:prstGeom prst="rect">
            <a:avLst/>
          </a:prstGeom>
          <a:solidFill>
            <a:srgbClr val="C8A020"/>
          </a:solidFill>
          <a:ln/>
        </p:spPr>
      </p:sp>
      <p:sp>
        <p:nvSpPr>
          <p:cNvPr id="18" name="Text 16"/>
          <p:cNvSpPr/>
          <p:nvPr/>
        </p:nvSpPr>
        <p:spPr>
          <a:xfrm>
            <a:off x="2999232" y="3136392"/>
            <a:ext cx="5715000" cy="8046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紐姆寫在不同高度以指示音高；加一條橫線輔助辨識</a:t>
            </a:r>
            <a:endParaRPr lang="en-US" sz="1400" dirty="0"/>
          </a:p>
          <a:p>
            <a:pPr indent="0" marL="0">
              <a:buNone/>
            </a:pPr>
            <a:r>
              <a:rPr lang="en-US" sz="1400" dirty="0">
                <a:solidFill>
                  <a:srgbClr val="FBF5E6"/>
                </a:solidFill>
                <a:latin typeface="Calibri" pitchFamily="34" charset="0"/>
                <a:ea typeface="Calibri" pitchFamily="34" charset="-122"/>
                <a:cs typeface="Calibri" pitchFamily="34" charset="-120"/>
              </a:rPr>
              <a:t>Neumes at varying heights show relative pitch; one scratched line added</a:t>
            </a:r>
            <a:endParaRPr lang="en-US" sz="1400" dirty="0"/>
          </a:p>
        </p:txBody>
      </p:sp>
      <p:sp>
        <p:nvSpPr>
          <p:cNvPr id="19" name="Shape 17"/>
          <p:cNvSpPr/>
          <p:nvPr/>
        </p:nvSpPr>
        <p:spPr>
          <a:xfrm>
            <a:off x="274320" y="4005072"/>
            <a:ext cx="8595360" cy="859536"/>
          </a:xfrm>
          <a:prstGeom prst="rect">
            <a:avLst/>
          </a:prstGeom>
          <a:solidFill>
            <a:srgbClr val="7A2830"/>
          </a:solidFill>
          <a:ln/>
        </p:spPr>
      </p:sp>
      <p:sp>
        <p:nvSpPr>
          <p:cNvPr id="20" name="Text 18"/>
          <p:cNvSpPr/>
          <p:nvPr/>
        </p:nvSpPr>
        <p:spPr>
          <a:xfrm>
            <a:off x="411480" y="4069080"/>
            <a:ext cx="2377440" cy="731520"/>
          </a:xfrm>
          <a:prstGeom prst="rect">
            <a:avLst/>
          </a:prstGeom>
          <a:noFill/>
          <a:ln/>
        </p:spPr>
        <p:txBody>
          <a:bodyPr wrap="square" lIns="0" tIns="0" rIns="0" bIns="0" rtlCol="0" anchor="t"/>
          <a:lstStyle/>
          <a:p>
            <a:pPr indent="0" marL="0">
              <a:buNone/>
            </a:pPr>
            <a:r>
              <a:rPr lang="en-US" sz="1400" b="1" dirty="0">
                <a:solidFill>
                  <a:srgbClr val="C8A020"/>
                </a:solidFill>
                <a:latin typeface="Georgia" pitchFamily="34" charset="0"/>
                <a:ea typeface="Georgia" pitchFamily="34" charset="-122"/>
                <a:cs typeface="Georgia" pitchFamily="34" charset="-120"/>
              </a:rPr>
              <a:t>④ 線譜與音符</a:t>
            </a:r>
            <a:endParaRPr lang="en-US" sz="1400" dirty="0"/>
          </a:p>
          <a:p>
            <a:pPr indent="0" marL="0">
              <a:buNone/>
            </a:pPr>
            <a:r>
              <a:rPr lang="en-US" sz="1400" b="1" dirty="0">
                <a:solidFill>
                  <a:srgbClr val="C8A020"/>
                </a:solidFill>
                <a:latin typeface="Georgia" pitchFamily="34" charset="0"/>
                <a:ea typeface="Georgia" pitchFamily="34" charset="-122"/>
                <a:cs typeface="Georgia" pitchFamily="34" charset="-120"/>
              </a:rPr>
              <a:t>Lines, Clef &amp; Staff</a:t>
            </a:r>
            <a:endParaRPr lang="en-US" sz="1400" dirty="0"/>
          </a:p>
        </p:txBody>
      </p:sp>
      <p:sp>
        <p:nvSpPr>
          <p:cNvPr id="21" name="Shape 19"/>
          <p:cNvSpPr/>
          <p:nvPr/>
        </p:nvSpPr>
        <p:spPr>
          <a:xfrm>
            <a:off x="2880360" y="4096512"/>
            <a:ext cx="36576" cy="658368"/>
          </a:xfrm>
          <a:prstGeom prst="rect">
            <a:avLst/>
          </a:prstGeom>
          <a:solidFill>
            <a:srgbClr val="C8A020"/>
          </a:solidFill>
          <a:ln/>
        </p:spPr>
      </p:sp>
      <p:sp>
        <p:nvSpPr>
          <p:cNvPr id="22" name="Text 20"/>
          <p:cNvSpPr/>
          <p:nvPr/>
        </p:nvSpPr>
        <p:spPr>
          <a:xfrm>
            <a:off x="2999232" y="4050792"/>
            <a:ext cx="5715000" cy="804672"/>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阿雷佐桂多（ca. 991–1033）：四線譜，F、C 譜號，精確音符</a:t>
            </a:r>
            <a:endParaRPr lang="en-US" sz="1400" dirty="0"/>
          </a:p>
          <a:p>
            <a:pPr indent="0" marL="0">
              <a:buNone/>
            </a:pPr>
            <a:r>
              <a:rPr lang="en-US" sz="1400" dirty="0">
                <a:solidFill>
                  <a:srgbClr val="FBF5E6"/>
                </a:solidFill>
                <a:latin typeface="Calibri" pitchFamily="34" charset="0"/>
                <a:ea typeface="Calibri" pitchFamily="34" charset="-122"/>
                <a:cs typeface="Calibri" pitchFamily="34" charset="-120"/>
              </a:rPr>
              <a:t>Guido of Arezzo: four-line staff with F/C clefs — precise pitch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A020"/>
          </a:solidFill>
          <a:ln/>
        </p:spPr>
      </p:sp>
      <p:sp>
        <p:nvSpPr>
          <p:cNvPr id="3" name="Shape 1"/>
          <p:cNvSpPr/>
          <p:nvPr/>
        </p:nvSpPr>
        <p:spPr>
          <a:xfrm>
            <a:off x="0" y="5029200"/>
            <a:ext cx="9144000" cy="114300"/>
          </a:xfrm>
          <a:prstGeom prst="rect">
            <a:avLst/>
          </a:prstGeom>
          <a:solidFill>
            <a:srgbClr val="C8A020"/>
          </a:solidFill>
          <a:ln/>
        </p:spPr>
      </p:sp>
      <p:sp>
        <p:nvSpPr>
          <p:cNvPr id="4" name="Text 2"/>
          <p:cNvSpPr/>
          <p:nvPr/>
        </p:nvSpPr>
        <p:spPr>
          <a:xfrm>
            <a:off x="365760" y="164592"/>
            <a:ext cx="8412480" cy="475488"/>
          </a:xfrm>
          <a:prstGeom prst="rect">
            <a:avLst/>
          </a:prstGeom>
          <a:noFill/>
          <a:ln/>
        </p:spPr>
        <p:txBody>
          <a:bodyPr wrap="square" rtlCol="0" anchor="ctr"/>
          <a:lstStyle/>
          <a:p>
            <a:pPr algn="ctr" indent="0" marL="0">
              <a:buNone/>
            </a:pPr>
            <a:r>
              <a:rPr lang="en-US" sz="2800" b="1" dirty="0">
                <a:solidFill>
                  <a:srgbClr val="C8A020"/>
                </a:solidFill>
                <a:latin typeface="Georgia" pitchFamily="34" charset="0"/>
                <a:ea typeface="Georgia" pitchFamily="34" charset="-122"/>
                <a:cs typeface="Georgia" pitchFamily="34" charset="-120"/>
              </a:rPr>
              <a:t>波愛修斯與音樂理論</a:t>
            </a:r>
            <a:endParaRPr lang="en-US" sz="2800" dirty="0"/>
          </a:p>
        </p:txBody>
      </p:sp>
      <p:sp>
        <p:nvSpPr>
          <p:cNvPr id="5" name="Text 3"/>
          <p:cNvSpPr/>
          <p:nvPr/>
        </p:nvSpPr>
        <p:spPr>
          <a:xfrm>
            <a:off x="365760" y="640080"/>
            <a:ext cx="8412480" cy="347472"/>
          </a:xfrm>
          <a:prstGeom prst="rect">
            <a:avLst/>
          </a:prstGeom>
          <a:noFill/>
          <a:ln/>
        </p:spPr>
        <p:txBody>
          <a:bodyPr wrap="square" rtlCol="0" anchor="ctr"/>
          <a:lstStyle/>
          <a:p>
            <a:pPr algn="ctr" indent="0" marL="0">
              <a:buNone/>
            </a:pPr>
            <a:r>
              <a:rPr lang="en-US" sz="1600" i="1" dirty="0">
                <a:solidFill>
                  <a:srgbClr val="E8D8A8"/>
                </a:solidFill>
                <a:latin typeface="Georgia" pitchFamily="34" charset="0"/>
                <a:ea typeface="Georgia" pitchFamily="34" charset="-122"/>
                <a:cs typeface="Georgia" pitchFamily="34" charset="-120"/>
              </a:rPr>
              <a:t>Boethius (ca. 480–524) · De institutione musica</a:t>
            </a:r>
            <a:endParaRPr lang="en-US" sz="1600" dirty="0"/>
          </a:p>
        </p:txBody>
      </p:sp>
      <p:sp>
        <p:nvSpPr>
          <p:cNvPr id="6" name="Shape 4"/>
          <p:cNvSpPr/>
          <p:nvPr/>
        </p:nvSpPr>
        <p:spPr>
          <a:xfrm>
            <a:off x="1371600" y="1005840"/>
            <a:ext cx="6400800" cy="36576"/>
          </a:xfrm>
          <a:prstGeom prst="rect">
            <a:avLst/>
          </a:prstGeom>
          <a:solidFill>
            <a:srgbClr val="C8A020"/>
          </a:solidFill>
          <a:ln/>
        </p:spPr>
      </p:sp>
      <p:sp>
        <p:nvSpPr>
          <p:cNvPr id="7" name="Text 5"/>
          <p:cNvSpPr/>
          <p:nvPr/>
        </p:nvSpPr>
        <p:spPr>
          <a:xfrm>
            <a:off x="365760" y="1078992"/>
            <a:ext cx="8412480" cy="658368"/>
          </a:xfrm>
          <a:prstGeom prst="rect">
            <a:avLst/>
          </a:prstGeom>
          <a:noFill/>
          <a:ln/>
        </p:spPr>
        <p:txBody>
          <a:bodyPr wrap="square" rtlCol="0" anchor="t"/>
          <a:lstStyle/>
          <a:p>
            <a:pPr indent="0" marL="0">
              <a:buNone/>
            </a:pPr>
            <a:r>
              <a:rPr lang="en-US" sz="1400" dirty="0">
                <a:solidFill>
                  <a:srgbClr val="E8D8A8"/>
                </a:solidFill>
                <a:latin typeface="Calibri" pitchFamily="34" charset="0"/>
                <a:ea typeface="Calibri" pitchFamily="34" charset="-122"/>
                <a:cs typeface="Calibri" pitchFamily="34" charset="-120"/>
              </a:rPr>
              <a:t>波愛修斯依據希臘文獻（畢達哥拉斯、托勒密）撰寫《音樂基礎》，在中世紀被奉為最高音樂理論權威</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Boethius compiled De institutione musica from Greek sources; authoritative medieval music theory text for a millennium</a:t>
            </a:r>
            <a:endParaRPr lang="en-US" sz="1400" dirty="0"/>
          </a:p>
        </p:txBody>
      </p:sp>
      <p:sp>
        <p:nvSpPr>
          <p:cNvPr id="8" name="Shape 6"/>
          <p:cNvSpPr/>
          <p:nvPr/>
        </p:nvSpPr>
        <p:spPr>
          <a:xfrm>
            <a:off x="274320" y="1901952"/>
            <a:ext cx="2788920" cy="2395728"/>
          </a:xfrm>
          <a:prstGeom prst="rect">
            <a:avLst/>
          </a:prstGeom>
          <a:solidFill>
            <a:srgbClr val="1A3A5C"/>
          </a:solidFill>
          <a:ln/>
        </p:spPr>
      </p:sp>
      <p:sp>
        <p:nvSpPr>
          <p:cNvPr id="9" name="Text 7"/>
          <p:cNvSpPr/>
          <p:nvPr/>
        </p:nvSpPr>
        <p:spPr>
          <a:xfrm>
            <a:off x="274320" y="1947672"/>
            <a:ext cx="278892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365760" y="2359152"/>
            <a:ext cx="2606040" cy="548640"/>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Musica Mundana</a:t>
            </a:r>
            <a:endParaRPr lang="en-US" sz="1400" dirty="0"/>
          </a:p>
          <a:p>
            <a:pPr algn="ctr" indent="0" marL="0">
              <a:buNone/>
            </a:pPr>
            <a:r>
              <a:rPr lang="en-US" sz="1400" b="1" dirty="0">
                <a:solidFill>
                  <a:srgbClr val="C8A020"/>
                </a:solidFill>
                <a:latin typeface="Georgia" pitchFamily="34" charset="0"/>
                <a:ea typeface="Georgia" pitchFamily="34" charset="-122"/>
                <a:cs typeface="Georgia" pitchFamily="34" charset="-120"/>
              </a:rPr>
              <a:t>宇宙音樂</a:t>
            </a:r>
            <a:endParaRPr lang="en-US" sz="1400" dirty="0"/>
          </a:p>
        </p:txBody>
      </p:sp>
      <p:sp>
        <p:nvSpPr>
          <p:cNvPr id="11" name="Shape 9"/>
          <p:cNvSpPr/>
          <p:nvPr/>
        </p:nvSpPr>
        <p:spPr>
          <a:xfrm>
            <a:off x="548640" y="2907792"/>
            <a:ext cx="2240280" cy="27432"/>
          </a:xfrm>
          <a:prstGeom prst="rect">
            <a:avLst/>
          </a:prstGeom>
          <a:solidFill>
            <a:srgbClr val="C8A020"/>
          </a:solidFill>
          <a:ln/>
        </p:spPr>
      </p:sp>
      <p:sp>
        <p:nvSpPr>
          <p:cNvPr id="12" name="Text 10"/>
          <p:cNvSpPr/>
          <p:nvPr/>
        </p:nvSpPr>
        <p:spPr>
          <a:xfrm>
            <a:off x="365760" y="2999232"/>
            <a:ext cx="2606040" cy="1234440"/>
          </a:xfrm>
          <a:prstGeom prst="rect">
            <a:avLst/>
          </a:prstGeom>
          <a:noFill/>
          <a:ln/>
        </p:spPr>
        <p:txBody>
          <a:bodyPr wrap="square" rtlCol="0" anchor="t"/>
          <a:lstStyle/>
          <a:p>
            <a:pPr algn="ctr" indent="0" marL="0">
              <a:buNone/>
            </a:pPr>
            <a:r>
              <a:rPr lang="en-US" sz="1400" dirty="0">
                <a:solidFill>
                  <a:srgbClr val="E8D8A8"/>
                </a:solidFill>
                <a:latin typeface="Calibri" pitchFamily="34" charset="0"/>
                <a:ea typeface="Calibri" pitchFamily="34" charset="-122"/>
                <a:cs typeface="Calibri" pitchFamily="34" charset="-120"/>
              </a:rPr>
              <a:t>天體運行、四季更替的數學比例</a:t>
            </a:r>
            <a:endParaRPr lang="en-US" sz="1400" dirty="0"/>
          </a:p>
          <a:p>
            <a:pPr algn="ctr" indent="0" marL="0">
              <a:buNone/>
            </a:pPr>
            <a:r>
              <a:rPr lang="en-US" sz="1400" dirty="0">
                <a:solidFill>
                  <a:srgbClr val="E8D8A8"/>
                </a:solidFill>
                <a:latin typeface="Calibri" pitchFamily="34" charset="0"/>
                <a:ea typeface="Calibri" pitchFamily="34" charset="-122"/>
                <a:cs typeface="Calibri" pitchFamily="34" charset="-120"/>
              </a:rPr>
              <a:t>Numerical ratios of the heavens and seasons</a:t>
            </a:r>
            <a:endParaRPr lang="en-US" sz="1400" dirty="0"/>
          </a:p>
        </p:txBody>
      </p:sp>
      <p:sp>
        <p:nvSpPr>
          <p:cNvPr id="13" name="Shape 11"/>
          <p:cNvSpPr/>
          <p:nvPr/>
        </p:nvSpPr>
        <p:spPr>
          <a:xfrm>
            <a:off x="3246120" y="1901952"/>
            <a:ext cx="2788920" cy="2395728"/>
          </a:xfrm>
          <a:prstGeom prst="rect">
            <a:avLst/>
          </a:prstGeom>
          <a:solidFill>
            <a:srgbClr val="2A5C1A"/>
          </a:solidFill>
          <a:ln/>
        </p:spPr>
      </p:sp>
      <p:sp>
        <p:nvSpPr>
          <p:cNvPr id="14" name="Text 12"/>
          <p:cNvSpPr/>
          <p:nvPr/>
        </p:nvSpPr>
        <p:spPr>
          <a:xfrm>
            <a:off x="3246120" y="1947672"/>
            <a:ext cx="278892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3337560" y="2359152"/>
            <a:ext cx="2606040" cy="548640"/>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Musica Humana</a:t>
            </a:r>
            <a:endParaRPr lang="en-US" sz="1400" dirty="0"/>
          </a:p>
          <a:p>
            <a:pPr algn="ctr" indent="0" marL="0">
              <a:buNone/>
            </a:pPr>
            <a:r>
              <a:rPr lang="en-US" sz="1400" b="1" dirty="0">
                <a:solidFill>
                  <a:srgbClr val="C8A020"/>
                </a:solidFill>
                <a:latin typeface="Georgia" pitchFamily="34" charset="0"/>
                <a:ea typeface="Georgia" pitchFamily="34" charset="-122"/>
                <a:cs typeface="Georgia" pitchFamily="34" charset="-120"/>
              </a:rPr>
              <a:t>人體音樂</a:t>
            </a:r>
            <a:endParaRPr lang="en-US" sz="1400" dirty="0"/>
          </a:p>
        </p:txBody>
      </p:sp>
      <p:sp>
        <p:nvSpPr>
          <p:cNvPr id="16" name="Shape 14"/>
          <p:cNvSpPr/>
          <p:nvPr/>
        </p:nvSpPr>
        <p:spPr>
          <a:xfrm>
            <a:off x="3520440" y="2907792"/>
            <a:ext cx="2240280" cy="27432"/>
          </a:xfrm>
          <a:prstGeom prst="rect">
            <a:avLst/>
          </a:prstGeom>
          <a:solidFill>
            <a:srgbClr val="C8A020"/>
          </a:solidFill>
          <a:ln/>
        </p:spPr>
      </p:sp>
      <p:sp>
        <p:nvSpPr>
          <p:cNvPr id="17" name="Text 15"/>
          <p:cNvSpPr/>
          <p:nvPr/>
        </p:nvSpPr>
        <p:spPr>
          <a:xfrm>
            <a:off x="3337560" y="2999232"/>
            <a:ext cx="2606040" cy="1234440"/>
          </a:xfrm>
          <a:prstGeom prst="rect">
            <a:avLst/>
          </a:prstGeom>
          <a:noFill/>
          <a:ln/>
        </p:spPr>
        <p:txBody>
          <a:bodyPr wrap="square" rtlCol="0" anchor="t"/>
          <a:lstStyle/>
          <a:p>
            <a:pPr algn="ctr" indent="0" marL="0">
              <a:buNone/>
            </a:pPr>
            <a:r>
              <a:rPr lang="en-US" sz="1400" dirty="0">
                <a:solidFill>
                  <a:srgbClr val="E8D8A8"/>
                </a:solidFill>
                <a:latin typeface="Calibri" pitchFamily="34" charset="0"/>
                <a:ea typeface="Calibri" pitchFamily="34" charset="-122"/>
                <a:cs typeface="Calibri" pitchFamily="34" charset="-120"/>
              </a:rPr>
              <a:t>人體與靈魂之間的和諧</a:t>
            </a:r>
            <a:endParaRPr lang="en-US" sz="1400" dirty="0"/>
          </a:p>
          <a:p>
            <a:pPr algn="ctr" indent="0" marL="0">
              <a:buNone/>
            </a:pPr>
            <a:r>
              <a:rPr lang="en-US" sz="1400" dirty="0">
                <a:solidFill>
                  <a:srgbClr val="E8D8A8"/>
                </a:solidFill>
                <a:latin typeface="Calibri" pitchFamily="34" charset="0"/>
                <a:ea typeface="Calibri" pitchFamily="34" charset="-122"/>
                <a:cs typeface="Calibri" pitchFamily="34" charset="-120"/>
              </a:rPr>
              <a:t>Harmony between body and soul</a:t>
            </a:r>
            <a:endParaRPr lang="en-US" sz="1400" dirty="0"/>
          </a:p>
        </p:txBody>
      </p:sp>
      <p:sp>
        <p:nvSpPr>
          <p:cNvPr id="18" name="Shape 16"/>
          <p:cNvSpPr/>
          <p:nvPr/>
        </p:nvSpPr>
        <p:spPr>
          <a:xfrm>
            <a:off x="6217920" y="1901952"/>
            <a:ext cx="2788920" cy="2395728"/>
          </a:xfrm>
          <a:prstGeom prst="rect">
            <a:avLst/>
          </a:prstGeom>
          <a:solidFill>
            <a:srgbClr val="5C2A1A"/>
          </a:solidFill>
          <a:ln/>
        </p:spPr>
      </p:sp>
      <p:sp>
        <p:nvSpPr>
          <p:cNvPr id="19" name="Text 17"/>
          <p:cNvSpPr/>
          <p:nvPr/>
        </p:nvSpPr>
        <p:spPr>
          <a:xfrm>
            <a:off x="6217920" y="1947672"/>
            <a:ext cx="278892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6309360" y="2359152"/>
            <a:ext cx="2606040" cy="548640"/>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Musica Instrumentalis</a:t>
            </a:r>
            <a:endParaRPr lang="en-US" sz="1400" dirty="0"/>
          </a:p>
          <a:p>
            <a:pPr algn="ctr" indent="0" marL="0">
              <a:buNone/>
            </a:pPr>
            <a:r>
              <a:rPr lang="en-US" sz="1400" b="1" dirty="0">
                <a:solidFill>
                  <a:srgbClr val="C8A020"/>
                </a:solidFill>
                <a:latin typeface="Georgia" pitchFamily="34" charset="0"/>
                <a:ea typeface="Georgia" pitchFamily="34" charset="-122"/>
                <a:cs typeface="Georgia" pitchFamily="34" charset="-120"/>
              </a:rPr>
              <a:t>樂器音樂</a:t>
            </a:r>
            <a:endParaRPr lang="en-US" sz="1400" dirty="0"/>
          </a:p>
        </p:txBody>
      </p:sp>
      <p:sp>
        <p:nvSpPr>
          <p:cNvPr id="21" name="Shape 19"/>
          <p:cNvSpPr/>
          <p:nvPr/>
        </p:nvSpPr>
        <p:spPr>
          <a:xfrm>
            <a:off x="6492240" y="2907792"/>
            <a:ext cx="2240280" cy="27432"/>
          </a:xfrm>
          <a:prstGeom prst="rect">
            <a:avLst/>
          </a:prstGeom>
          <a:solidFill>
            <a:srgbClr val="C8A020"/>
          </a:solidFill>
          <a:ln/>
        </p:spPr>
      </p:sp>
      <p:sp>
        <p:nvSpPr>
          <p:cNvPr id="22" name="Text 20"/>
          <p:cNvSpPr/>
          <p:nvPr/>
        </p:nvSpPr>
        <p:spPr>
          <a:xfrm>
            <a:off x="6309360" y="2999232"/>
            <a:ext cx="2606040" cy="1234440"/>
          </a:xfrm>
          <a:prstGeom prst="rect">
            <a:avLst/>
          </a:prstGeom>
          <a:noFill/>
          <a:ln/>
        </p:spPr>
        <p:txBody>
          <a:bodyPr wrap="square" rtlCol="0" anchor="t"/>
          <a:lstStyle/>
          <a:p>
            <a:pPr algn="ctr" indent="0" marL="0">
              <a:buNone/>
            </a:pPr>
            <a:r>
              <a:rPr lang="en-US" sz="1400" dirty="0">
                <a:solidFill>
                  <a:srgbClr val="E8D8A8"/>
                </a:solidFill>
                <a:latin typeface="Calibri" pitchFamily="34" charset="0"/>
                <a:ea typeface="Calibri" pitchFamily="34" charset="-122"/>
                <a:cs typeface="Calibri" pitchFamily="34" charset="-120"/>
              </a:rPr>
              <a:t>人聲或樂器產生的可聽音樂</a:t>
            </a:r>
            <a:endParaRPr lang="en-US" sz="1400" dirty="0"/>
          </a:p>
          <a:p>
            <a:pPr algn="ctr" indent="0" marL="0">
              <a:buNone/>
            </a:pPr>
            <a:r>
              <a:rPr lang="en-US" sz="1400" dirty="0">
                <a:solidFill>
                  <a:srgbClr val="E8D8A8"/>
                </a:solidFill>
                <a:latin typeface="Calibri" pitchFamily="34" charset="0"/>
                <a:ea typeface="Calibri" pitchFamily="34" charset="-122"/>
                <a:cs typeface="Calibri" pitchFamily="34" charset="-120"/>
              </a:rPr>
              <a:t>Audible music from instruments or voices</a:t>
            </a:r>
            <a:endParaRPr lang="en-US" sz="1400" dirty="0"/>
          </a:p>
        </p:txBody>
      </p:sp>
      <p:sp>
        <p:nvSpPr>
          <p:cNvPr id="23" name="Text 21"/>
          <p:cNvSpPr/>
          <p:nvPr/>
        </p:nvSpPr>
        <p:spPr>
          <a:xfrm>
            <a:off x="365760" y="4407408"/>
            <a:ext cx="8412480" cy="530352"/>
          </a:xfrm>
          <a:prstGeom prst="rect">
            <a:avLst/>
          </a:prstGeom>
          <a:noFill/>
          <a:ln/>
        </p:spPr>
        <p:txBody>
          <a:bodyPr wrap="square" rtlCol="0" anchor="t"/>
          <a:lstStyle/>
          <a:p>
            <a:pPr algn="ctr" indent="0" marL="0">
              <a:buNone/>
            </a:pPr>
            <a:r>
              <a:rPr lang="en-US" sz="1400" i="1" dirty="0">
                <a:solidFill>
                  <a:srgbClr val="E8D8A8"/>
                </a:solidFill>
                <a:latin typeface="Calibri" pitchFamily="34" charset="0"/>
                <a:ea typeface="Calibri" pitchFamily="34" charset="-122"/>
                <a:cs typeface="Calibri" pitchFamily="34" charset="-120"/>
              </a:rPr>
              <a:t>對波愛修斯而言，音樂首先是知識的對象；真正的音樂家是「理解」音樂的人，而非演奏者</a:t>
            </a:r>
            <a:endParaRPr lang="en-US" sz="1400" dirty="0"/>
          </a:p>
          <a:p>
            <a:pPr algn="ctr" indent="0" marL="0">
              <a:buNone/>
            </a:pPr>
            <a:r>
              <a:rPr lang="en-US" sz="1400" i="1" dirty="0">
                <a:solidFill>
                  <a:srgbClr val="E8D8A8"/>
                </a:solidFill>
                <a:latin typeface="Calibri" pitchFamily="34" charset="0"/>
                <a:ea typeface="Calibri" pitchFamily="34" charset="-122"/>
                <a:cs typeface="Calibri" pitchFamily="34" charset="-120"/>
              </a:rPr>
              <a:t>For Boethius, music is knowledge; the true musician understands, not plays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5E6"/>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A2830"/>
          </a:solidFill>
          <a:ln/>
        </p:spPr>
      </p:sp>
      <p:sp>
        <p:nvSpPr>
          <p:cNvPr id="3" name="Shape 1"/>
          <p:cNvSpPr/>
          <p:nvPr/>
        </p:nvSpPr>
        <p:spPr>
          <a:xfrm>
            <a:off x="0" y="5029200"/>
            <a:ext cx="9144000" cy="114300"/>
          </a:xfrm>
          <a:prstGeom prst="rect">
            <a:avLst/>
          </a:prstGeom>
          <a:solidFill>
            <a:srgbClr val="7A2830"/>
          </a:solidFill>
          <a:ln/>
        </p:spPr>
      </p:sp>
      <p:sp>
        <p:nvSpPr>
          <p:cNvPr id="4" name="Text 2"/>
          <p:cNvSpPr/>
          <p:nvPr/>
        </p:nvSpPr>
        <p:spPr>
          <a:xfrm>
            <a:off x="365760" y="164592"/>
            <a:ext cx="8412480" cy="475488"/>
          </a:xfrm>
          <a:prstGeom prst="rect">
            <a:avLst/>
          </a:prstGeom>
          <a:noFill/>
          <a:ln/>
        </p:spPr>
        <p:txBody>
          <a:bodyPr wrap="square" lIns="0" tIns="0" rIns="0" bIns="0" rtlCol="0" anchor="ctr"/>
          <a:lstStyle/>
          <a:p>
            <a:pPr indent="0" marL="0">
              <a:buNone/>
            </a:pPr>
            <a:r>
              <a:rPr lang="en-US" sz="2600" b="1" dirty="0">
                <a:solidFill>
                  <a:srgbClr val="7A2830"/>
                </a:solidFill>
                <a:latin typeface="Georgia" pitchFamily="34" charset="0"/>
                <a:ea typeface="Georgia" pitchFamily="34" charset="-122"/>
                <a:cs typeface="Georgia" pitchFamily="34" charset="-120"/>
              </a:rPr>
              <a:t>教會調式體系 The Church Modes</a:t>
            </a:r>
            <a:endParaRPr lang="en-US" sz="2600" dirty="0"/>
          </a:p>
        </p:txBody>
      </p:sp>
      <p:sp>
        <p:nvSpPr>
          <p:cNvPr id="5" name="Text 3"/>
          <p:cNvSpPr/>
          <p:nvPr/>
        </p:nvSpPr>
        <p:spPr>
          <a:xfrm>
            <a:off x="365760" y="640080"/>
            <a:ext cx="8412480" cy="475488"/>
          </a:xfrm>
          <a:prstGeom prst="rect">
            <a:avLst/>
          </a:prstGeom>
          <a:noFill/>
          <a:ln/>
        </p:spPr>
        <p:txBody>
          <a:bodyPr wrap="square" lIns="0" tIns="0" rIns="0" bIns="0" rtlCol="0" anchor="t"/>
          <a:lstStyle/>
          <a:p>
            <a:pPr indent="0" marL="0">
              <a:buNone/>
            </a:pPr>
            <a:r>
              <a:rPr lang="en-US" sz="1400" i="1" dirty="0">
                <a:solidFill>
                  <a:srgbClr val="5C3A28"/>
                </a:solidFill>
                <a:latin typeface="Calibri" pitchFamily="34" charset="0"/>
                <a:ea typeface="Calibri" pitchFamily="34" charset="-122"/>
                <a:cs typeface="Calibri" pitchFamily="34" charset="-120"/>
              </a:rPr>
              <a:t>源自拜占庭的八種 echoi · 組織與記憶格里高利聖詠的核心工具</a:t>
            </a:r>
            <a:endParaRPr lang="en-US" sz="1400" dirty="0"/>
          </a:p>
          <a:p>
            <a:pPr indent="0" marL="0">
              <a:buNone/>
            </a:pPr>
            <a:r>
              <a:rPr lang="en-US" sz="1400" i="1" dirty="0">
                <a:solidFill>
                  <a:srgbClr val="5C3A28"/>
                </a:solidFill>
                <a:latin typeface="Calibri" pitchFamily="34" charset="0"/>
                <a:ea typeface="Calibri" pitchFamily="34" charset="-122"/>
                <a:cs typeface="Calibri" pitchFamily="34" charset="-120"/>
              </a:rPr>
              <a:t>Based on Byzantine echoi · central tool for classifying Gregorian chant</a:t>
            </a:r>
            <a:endParaRPr lang="en-US" sz="1400" dirty="0"/>
          </a:p>
        </p:txBody>
      </p:sp>
      <p:sp>
        <p:nvSpPr>
          <p:cNvPr id="6" name="Shape 4"/>
          <p:cNvSpPr/>
          <p:nvPr/>
        </p:nvSpPr>
        <p:spPr>
          <a:xfrm>
            <a:off x="365760" y="1133856"/>
            <a:ext cx="8412480" cy="27432"/>
          </a:xfrm>
          <a:prstGeom prst="rect">
            <a:avLst/>
          </a:prstGeom>
          <a:solidFill>
            <a:srgbClr val="E8D8A8"/>
          </a:solidFill>
          <a:ln/>
        </p:spPr>
      </p:sp>
      <p:sp>
        <p:nvSpPr>
          <p:cNvPr id="7" name="Shape 5"/>
          <p:cNvSpPr/>
          <p:nvPr/>
        </p:nvSpPr>
        <p:spPr>
          <a:xfrm>
            <a:off x="320040" y="1188720"/>
            <a:ext cx="1920240" cy="347472"/>
          </a:xfrm>
          <a:prstGeom prst="rect">
            <a:avLst/>
          </a:prstGeom>
          <a:solidFill>
            <a:srgbClr val="7A2830"/>
          </a:solidFill>
          <a:ln/>
        </p:spPr>
      </p:sp>
      <p:sp>
        <p:nvSpPr>
          <p:cNvPr id="8" name="Text 6"/>
          <p:cNvSpPr/>
          <p:nvPr/>
        </p:nvSpPr>
        <p:spPr>
          <a:xfrm>
            <a:off x="365760" y="1207008"/>
            <a:ext cx="1874520" cy="310896"/>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調式 Mode</a:t>
            </a:r>
            <a:endParaRPr lang="en-US" sz="1400" dirty="0"/>
          </a:p>
        </p:txBody>
      </p:sp>
      <p:sp>
        <p:nvSpPr>
          <p:cNvPr id="9" name="Shape 7"/>
          <p:cNvSpPr/>
          <p:nvPr/>
        </p:nvSpPr>
        <p:spPr>
          <a:xfrm>
            <a:off x="2286000" y="1188720"/>
            <a:ext cx="960120" cy="347472"/>
          </a:xfrm>
          <a:prstGeom prst="rect">
            <a:avLst/>
          </a:prstGeom>
          <a:solidFill>
            <a:srgbClr val="7A2830"/>
          </a:solidFill>
          <a:ln/>
        </p:spPr>
      </p:sp>
      <p:sp>
        <p:nvSpPr>
          <p:cNvPr id="10" name="Text 8"/>
          <p:cNvSpPr/>
          <p:nvPr/>
        </p:nvSpPr>
        <p:spPr>
          <a:xfrm>
            <a:off x="2331720" y="1207008"/>
            <a:ext cx="914400" cy="310896"/>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最終音 Final</a:t>
            </a:r>
            <a:endParaRPr lang="en-US" sz="1400" dirty="0"/>
          </a:p>
        </p:txBody>
      </p:sp>
      <p:sp>
        <p:nvSpPr>
          <p:cNvPr id="11" name="Shape 9"/>
          <p:cNvSpPr/>
          <p:nvPr/>
        </p:nvSpPr>
        <p:spPr>
          <a:xfrm>
            <a:off x="3291840" y="1188720"/>
            <a:ext cx="1280160" cy="347472"/>
          </a:xfrm>
          <a:prstGeom prst="rect">
            <a:avLst/>
          </a:prstGeom>
          <a:solidFill>
            <a:srgbClr val="7A2830"/>
          </a:solidFill>
          <a:ln/>
        </p:spPr>
      </p:sp>
      <p:sp>
        <p:nvSpPr>
          <p:cNvPr id="12" name="Text 10"/>
          <p:cNvSpPr/>
          <p:nvPr/>
        </p:nvSpPr>
        <p:spPr>
          <a:xfrm>
            <a:off x="3337560" y="1207008"/>
            <a:ext cx="1234440" cy="310896"/>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類型 Type</a:t>
            </a:r>
            <a:endParaRPr lang="en-US" sz="1400" dirty="0"/>
          </a:p>
        </p:txBody>
      </p:sp>
      <p:sp>
        <p:nvSpPr>
          <p:cNvPr id="13" name="Shape 11"/>
          <p:cNvSpPr/>
          <p:nvPr/>
        </p:nvSpPr>
        <p:spPr>
          <a:xfrm>
            <a:off x="4617720" y="1188720"/>
            <a:ext cx="2057400" cy="347472"/>
          </a:xfrm>
          <a:prstGeom prst="rect">
            <a:avLst/>
          </a:prstGeom>
          <a:solidFill>
            <a:srgbClr val="7A2830"/>
          </a:solidFill>
          <a:ln/>
        </p:spPr>
      </p:sp>
      <p:sp>
        <p:nvSpPr>
          <p:cNvPr id="14" name="Text 12"/>
          <p:cNvSpPr/>
          <p:nvPr/>
        </p:nvSpPr>
        <p:spPr>
          <a:xfrm>
            <a:off x="4663440" y="1207008"/>
            <a:ext cx="2011680" cy="310896"/>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音程特徵 Intervals</a:t>
            </a:r>
            <a:endParaRPr lang="en-US" sz="1400" dirty="0"/>
          </a:p>
        </p:txBody>
      </p:sp>
      <p:sp>
        <p:nvSpPr>
          <p:cNvPr id="15" name="Shape 13"/>
          <p:cNvSpPr/>
          <p:nvPr/>
        </p:nvSpPr>
        <p:spPr>
          <a:xfrm>
            <a:off x="6720840" y="1188720"/>
            <a:ext cx="1965960" cy="347472"/>
          </a:xfrm>
          <a:prstGeom prst="rect">
            <a:avLst/>
          </a:prstGeom>
          <a:solidFill>
            <a:srgbClr val="7A2830"/>
          </a:solidFill>
          <a:ln/>
        </p:spPr>
      </p:sp>
      <p:sp>
        <p:nvSpPr>
          <p:cNvPr id="16" name="Text 14"/>
          <p:cNvSpPr/>
          <p:nvPr/>
        </p:nvSpPr>
        <p:spPr>
          <a:xfrm>
            <a:off x="6766560" y="1207008"/>
            <a:ext cx="1920240" cy="310896"/>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調式名 Greek Name</a:t>
            </a:r>
            <a:endParaRPr lang="en-US" sz="1400" dirty="0"/>
          </a:p>
        </p:txBody>
      </p:sp>
      <p:sp>
        <p:nvSpPr>
          <p:cNvPr id="17" name="Shape 15"/>
          <p:cNvSpPr/>
          <p:nvPr/>
        </p:nvSpPr>
        <p:spPr>
          <a:xfrm>
            <a:off x="320040" y="1572768"/>
            <a:ext cx="1920240" cy="347472"/>
          </a:xfrm>
          <a:prstGeom prst="rect">
            <a:avLst/>
          </a:prstGeom>
          <a:solidFill>
            <a:srgbClr val="F0E8D8"/>
          </a:solidFill>
          <a:ln/>
        </p:spPr>
      </p:sp>
      <p:sp>
        <p:nvSpPr>
          <p:cNvPr id="18" name="Text 16"/>
          <p:cNvSpPr/>
          <p:nvPr/>
        </p:nvSpPr>
        <p:spPr>
          <a:xfrm>
            <a:off x="365760" y="159105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1 Dorian</a:t>
            </a:r>
            <a:endParaRPr lang="en-US" sz="1400" dirty="0"/>
          </a:p>
        </p:txBody>
      </p:sp>
      <p:sp>
        <p:nvSpPr>
          <p:cNvPr id="19" name="Shape 17"/>
          <p:cNvSpPr/>
          <p:nvPr/>
        </p:nvSpPr>
        <p:spPr>
          <a:xfrm>
            <a:off x="2286000" y="1572768"/>
            <a:ext cx="960120" cy="347472"/>
          </a:xfrm>
          <a:prstGeom prst="rect">
            <a:avLst/>
          </a:prstGeom>
          <a:solidFill>
            <a:srgbClr val="F0E8D8"/>
          </a:solidFill>
          <a:ln/>
        </p:spPr>
      </p:sp>
      <p:sp>
        <p:nvSpPr>
          <p:cNvPr id="20" name="Text 18"/>
          <p:cNvSpPr/>
          <p:nvPr/>
        </p:nvSpPr>
        <p:spPr>
          <a:xfrm>
            <a:off x="2331720" y="159105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D</a:t>
            </a:r>
            <a:endParaRPr lang="en-US" sz="1400" dirty="0"/>
          </a:p>
        </p:txBody>
      </p:sp>
      <p:sp>
        <p:nvSpPr>
          <p:cNvPr id="21" name="Shape 19"/>
          <p:cNvSpPr/>
          <p:nvPr/>
        </p:nvSpPr>
        <p:spPr>
          <a:xfrm>
            <a:off x="3291840" y="1572768"/>
            <a:ext cx="1280160" cy="347472"/>
          </a:xfrm>
          <a:prstGeom prst="rect">
            <a:avLst/>
          </a:prstGeom>
          <a:solidFill>
            <a:srgbClr val="F0E8D8"/>
          </a:solidFill>
          <a:ln/>
        </p:spPr>
      </p:sp>
      <p:sp>
        <p:nvSpPr>
          <p:cNvPr id="22" name="Text 20"/>
          <p:cNvSpPr/>
          <p:nvPr/>
        </p:nvSpPr>
        <p:spPr>
          <a:xfrm>
            <a:off x="3337560" y="159105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正格 Authentic</a:t>
            </a:r>
            <a:endParaRPr lang="en-US" sz="1400" dirty="0"/>
          </a:p>
        </p:txBody>
      </p:sp>
      <p:sp>
        <p:nvSpPr>
          <p:cNvPr id="23" name="Shape 21"/>
          <p:cNvSpPr/>
          <p:nvPr/>
        </p:nvSpPr>
        <p:spPr>
          <a:xfrm>
            <a:off x="4617720" y="1572768"/>
            <a:ext cx="2057400" cy="347472"/>
          </a:xfrm>
          <a:prstGeom prst="rect">
            <a:avLst/>
          </a:prstGeom>
          <a:solidFill>
            <a:srgbClr val="F0E8D8"/>
          </a:solidFill>
          <a:ln/>
        </p:spPr>
      </p:sp>
      <p:sp>
        <p:nvSpPr>
          <p:cNvPr id="24" name="Text 22"/>
          <p:cNvSpPr/>
          <p:nvPr/>
        </p:nvSpPr>
        <p:spPr>
          <a:xfrm>
            <a:off x="4663440" y="159105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全 全 半 | 全 全 半 全</a:t>
            </a:r>
            <a:endParaRPr lang="en-US" sz="1400" dirty="0"/>
          </a:p>
        </p:txBody>
      </p:sp>
      <p:sp>
        <p:nvSpPr>
          <p:cNvPr id="25" name="Shape 23"/>
          <p:cNvSpPr/>
          <p:nvPr/>
        </p:nvSpPr>
        <p:spPr>
          <a:xfrm>
            <a:off x="6720840" y="1572768"/>
            <a:ext cx="1965960" cy="347472"/>
          </a:xfrm>
          <a:prstGeom prst="rect">
            <a:avLst/>
          </a:prstGeom>
          <a:solidFill>
            <a:srgbClr val="F0E8D8"/>
          </a:solidFill>
          <a:ln/>
        </p:spPr>
      </p:sp>
      <p:sp>
        <p:nvSpPr>
          <p:cNvPr id="26" name="Text 24"/>
          <p:cNvSpPr/>
          <p:nvPr/>
        </p:nvSpPr>
        <p:spPr>
          <a:xfrm>
            <a:off x="6766560" y="159105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Dorian 多利安</a:t>
            </a:r>
            <a:endParaRPr lang="en-US" sz="1400" dirty="0"/>
          </a:p>
        </p:txBody>
      </p:sp>
      <p:sp>
        <p:nvSpPr>
          <p:cNvPr id="27" name="Shape 25"/>
          <p:cNvSpPr/>
          <p:nvPr/>
        </p:nvSpPr>
        <p:spPr>
          <a:xfrm>
            <a:off x="320040" y="1938528"/>
            <a:ext cx="1920240" cy="347472"/>
          </a:xfrm>
          <a:prstGeom prst="rect">
            <a:avLst/>
          </a:prstGeom>
          <a:solidFill>
            <a:srgbClr val="FBF5E6"/>
          </a:solidFill>
          <a:ln/>
        </p:spPr>
      </p:sp>
      <p:sp>
        <p:nvSpPr>
          <p:cNvPr id="28" name="Text 26"/>
          <p:cNvSpPr/>
          <p:nvPr/>
        </p:nvSpPr>
        <p:spPr>
          <a:xfrm>
            <a:off x="365760" y="195681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2 Hypodorian</a:t>
            </a:r>
            <a:endParaRPr lang="en-US" sz="1400" dirty="0"/>
          </a:p>
        </p:txBody>
      </p:sp>
      <p:sp>
        <p:nvSpPr>
          <p:cNvPr id="29" name="Shape 27"/>
          <p:cNvSpPr/>
          <p:nvPr/>
        </p:nvSpPr>
        <p:spPr>
          <a:xfrm>
            <a:off x="2286000" y="1938528"/>
            <a:ext cx="960120" cy="347472"/>
          </a:xfrm>
          <a:prstGeom prst="rect">
            <a:avLst/>
          </a:prstGeom>
          <a:solidFill>
            <a:srgbClr val="FBF5E6"/>
          </a:solidFill>
          <a:ln/>
        </p:spPr>
      </p:sp>
      <p:sp>
        <p:nvSpPr>
          <p:cNvPr id="30" name="Text 28"/>
          <p:cNvSpPr/>
          <p:nvPr/>
        </p:nvSpPr>
        <p:spPr>
          <a:xfrm>
            <a:off x="2331720" y="195681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D</a:t>
            </a:r>
            <a:endParaRPr lang="en-US" sz="1400" dirty="0"/>
          </a:p>
        </p:txBody>
      </p:sp>
      <p:sp>
        <p:nvSpPr>
          <p:cNvPr id="31" name="Shape 29"/>
          <p:cNvSpPr/>
          <p:nvPr/>
        </p:nvSpPr>
        <p:spPr>
          <a:xfrm>
            <a:off x="3291840" y="1938528"/>
            <a:ext cx="1280160" cy="347472"/>
          </a:xfrm>
          <a:prstGeom prst="rect">
            <a:avLst/>
          </a:prstGeom>
          <a:solidFill>
            <a:srgbClr val="FBF5E6"/>
          </a:solidFill>
          <a:ln/>
        </p:spPr>
      </p:sp>
      <p:sp>
        <p:nvSpPr>
          <p:cNvPr id="32" name="Text 30"/>
          <p:cNvSpPr/>
          <p:nvPr/>
        </p:nvSpPr>
        <p:spPr>
          <a:xfrm>
            <a:off x="3337560" y="195681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變格 Plagal</a:t>
            </a:r>
            <a:endParaRPr lang="en-US" sz="1400" dirty="0"/>
          </a:p>
        </p:txBody>
      </p:sp>
      <p:sp>
        <p:nvSpPr>
          <p:cNvPr id="33" name="Shape 31"/>
          <p:cNvSpPr/>
          <p:nvPr/>
        </p:nvSpPr>
        <p:spPr>
          <a:xfrm>
            <a:off x="4617720" y="1938528"/>
            <a:ext cx="2057400" cy="347472"/>
          </a:xfrm>
          <a:prstGeom prst="rect">
            <a:avLst/>
          </a:prstGeom>
          <a:solidFill>
            <a:srgbClr val="FBF5E6"/>
          </a:solidFill>
          <a:ln/>
        </p:spPr>
      </p:sp>
      <p:sp>
        <p:nvSpPr>
          <p:cNvPr id="34" name="Text 32"/>
          <p:cNvSpPr/>
          <p:nvPr/>
        </p:nvSpPr>
        <p:spPr>
          <a:xfrm>
            <a:off x="4663440" y="195681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全 半 全 | 全 半 全 全</a:t>
            </a:r>
            <a:endParaRPr lang="en-US" sz="1400" dirty="0"/>
          </a:p>
        </p:txBody>
      </p:sp>
      <p:sp>
        <p:nvSpPr>
          <p:cNvPr id="35" name="Shape 33"/>
          <p:cNvSpPr/>
          <p:nvPr/>
        </p:nvSpPr>
        <p:spPr>
          <a:xfrm>
            <a:off x="6720840" y="1938528"/>
            <a:ext cx="1965960" cy="347472"/>
          </a:xfrm>
          <a:prstGeom prst="rect">
            <a:avLst/>
          </a:prstGeom>
          <a:solidFill>
            <a:srgbClr val="FBF5E6"/>
          </a:solidFill>
          <a:ln/>
        </p:spPr>
      </p:sp>
      <p:sp>
        <p:nvSpPr>
          <p:cNvPr id="36" name="Text 34"/>
          <p:cNvSpPr/>
          <p:nvPr/>
        </p:nvSpPr>
        <p:spPr>
          <a:xfrm>
            <a:off x="6766560" y="195681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Hypodorian</a:t>
            </a:r>
            <a:endParaRPr lang="en-US" sz="1400" dirty="0"/>
          </a:p>
        </p:txBody>
      </p:sp>
      <p:sp>
        <p:nvSpPr>
          <p:cNvPr id="37" name="Shape 35"/>
          <p:cNvSpPr/>
          <p:nvPr/>
        </p:nvSpPr>
        <p:spPr>
          <a:xfrm>
            <a:off x="320040" y="2304288"/>
            <a:ext cx="1920240" cy="347472"/>
          </a:xfrm>
          <a:prstGeom prst="rect">
            <a:avLst/>
          </a:prstGeom>
          <a:solidFill>
            <a:srgbClr val="F0E8D8"/>
          </a:solidFill>
          <a:ln/>
        </p:spPr>
      </p:sp>
      <p:sp>
        <p:nvSpPr>
          <p:cNvPr id="38" name="Text 36"/>
          <p:cNvSpPr/>
          <p:nvPr/>
        </p:nvSpPr>
        <p:spPr>
          <a:xfrm>
            <a:off x="365760" y="232257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3 Phrygian</a:t>
            </a:r>
            <a:endParaRPr lang="en-US" sz="1400" dirty="0"/>
          </a:p>
        </p:txBody>
      </p:sp>
      <p:sp>
        <p:nvSpPr>
          <p:cNvPr id="39" name="Shape 37"/>
          <p:cNvSpPr/>
          <p:nvPr/>
        </p:nvSpPr>
        <p:spPr>
          <a:xfrm>
            <a:off x="2286000" y="2304288"/>
            <a:ext cx="960120" cy="347472"/>
          </a:xfrm>
          <a:prstGeom prst="rect">
            <a:avLst/>
          </a:prstGeom>
          <a:solidFill>
            <a:srgbClr val="F0E8D8"/>
          </a:solidFill>
          <a:ln/>
        </p:spPr>
      </p:sp>
      <p:sp>
        <p:nvSpPr>
          <p:cNvPr id="40" name="Text 38"/>
          <p:cNvSpPr/>
          <p:nvPr/>
        </p:nvSpPr>
        <p:spPr>
          <a:xfrm>
            <a:off x="2331720" y="232257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E</a:t>
            </a:r>
            <a:endParaRPr lang="en-US" sz="1400" dirty="0"/>
          </a:p>
        </p:txBody>
      </p:sp>
      <p:sp>
        <p:nvSpPr>
          <p:cNvPr id="41" name="Shape 39"/>
          <p:cNvSpPr/>
          <p:nvPr/>
        </p:nvSpPr>
        <p:spPr>
          <a:xfrm>
            <a:off x="3291840" y="2304288"/>
            <a:ext cx="1280160" cy="347472"/>
          </a:xfrm>
          <a:prstGeom prst="rect">
            <a:avLst/>
          </a:prstGeom>
          <a:solidFill>
            <a:srgbClr val="F0E8D8"/>
          </a:solidFill>
          <a:ln/>
        </p:spPr>
      </p:sp>
      <p:sp>
        <p:nvSpPr>
          <p:cNvPr id="42" name="Text 40"/>
          <p:cNvSpPr/>
          <p:nvPr/>
        </p:nvSpPr>
        <p:spPr>
          <a:xfrm>
            <a:off x="3337560" y="232257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正格 Authentic</a:t>
            </a:r>
            <a:endParaRPr lang="en-US" sz="1400" dirty="0"/>
          </a:p>
        </p:txBody>
      </p:sp>
      <p:sp>
        <p:nvSpPr>
          <p:cNvPr id="43" name="Shape 41"/>
          <p:cNvSpPr/>
          <p:nvPr/>
        </p:nvSpPr>
        <p:spPr>
          <a:xfrm>
            <a:off x="4617720" y="2304288"/>
            <a:ext cx="2057400" cy="347472"/>
          </a:xfrm>
          <a:prstGeom prst="rect">
            <a:avLst/>
          </a:prstGeom>
          <a:solidFill>
            <a:srgbClr val="F0E8D8"/>
          </a:solidFill>
          <a:ln/>
        </p:spPr>
      </p:sp>
      <p:sp>
        <p:nvSpPr>
          <p:cNvPr id="44" name="Text 42"/>
          <p:cNvSpPr/>
          <p:nvPr/>
        </p:nvSpPr>
        <p:spPr>
          <a:xfrm>
            <a:off x="4663440" y="232257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半 全 全 | 半 全 全 全</a:t>
            </a:r>
            <a:endParaRPr lang="en-US" sz="1400" dirty="0"/>
          </a:p>
        </p:txBody>
      </p:sp>
      <p:sp>
        <p:nvSpPr>
          <p:cNvPr id="45" name="Shape 43"/>
          <p:cNvSpPr/>
          <p:nvPr/>
        </p:nvSpPr>
        <p:spPr>
          <a:xfrm>
            <a:off x="6720840" y="2304288"/>
            <a:ext cx="1965960" cy="347472"/>
          </a:xfrm>
          <a:prstGeom prst="rect">
            <a:avLst/>
          </a:prstGeom>
          <a:solidFill>
            <a:srgbClr val="F0E8D8"/>
          </a:solidFill>
          <a:ln/>
        </p:spPr>
      </p:sp>
      <p:sp>
        <p:nvSpPr>
          <p:cNvPr id="46" name="Text 44"/>
          <p:cNvSpPr/>
          <p:nvPr/>
        </p:nvSpPr>
        <p:spPr>
          <a:xfrm>
            <a:off x="6766560" y="232257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Phrygian 弗里幾安</a:t>
            </a:r>
            <a:endParaRPr lang="en-US" sz="1400" dirty="0"/>
          </a:p>
        </p:txBody>
      </p:sp>
      <p:sp>
        <p:nvSpPr>
          <p:cNvPr id="47" name="Shape 45"/>
          <p:cNvSpPr/>
          <p:nvPr/>
        </p:nvSpPr>
        <p:spPr>
          <a:xfrm>
            <a:off x="320040" y="2670048"/>
            <a:ext cx="1920240" cy="347472"/>
          </a:xfrm>
          <a:prstGeom prst="rect">
            <a:avLst/>
          </a:prstGeom>
          <a:solidFill>
            <a:srgbClr val="FBF5E6"/>
          </a:solidFill>
          <a:ln/>
        </p:spPr>
      </p:sp>
      <p:sp>
        <p:nvSpPr>
          <p:cNvPr id="48" name="Text 46"/>
          <p:cNvSpPr/>
          <p:nvPr/>
        </p:nvSpPr>
        <p:spPr>
          <a:xfrm>
            <a:off x="365760" y="268833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4 Hypophrygian</a:t>
            </a:r>
            <a:endParaRPr lang="en-US" sz="1400" dirty="0"/>
          </a:p>
        </p:txBody>
      </p:sp>
      <p:sp>
        <p:nvSpPr>
          <p:cNvPr id="49" name="Shape 47"/>
          <p:cNvSpPr/>
          <p:nvPr/>
        </p:nvSpPr>
        <p:spPr>
          <a:xfrm>
            <a:off x="2286000" y="2670048"/>
            <a:ext cx="960120" cy="347472"/>
          </a:xfrm>
          <a:prstGeom prst="rect">
            <a:avLst/>
          </a:prstGeom>
          <a:solidFill>
            <a:srgbClr val="FBF5E6"/>
          </a:solidFill>
          <a:ln/>
        </p:spPr>
      </p:sp>
      <p:sp>
        <p:nvSpPr>
          <p:cNvPr id="50" name="Text 48"/>
          <p:cNvSpPr/>
          <p:nvPr/>
        </p:nvSpPr>
        <p:spPr>
          <a:xfrm>
            <a:off x="2331720" y="268833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E</a:t>
            </a:r>
            <a:endParaRPr lang="en-US" sz="1400" dirty="0"/>
          </a:p>
        </p:txBody>
      </p:sp>
      <p:sp>
        <p:nvSpPr>
          <p:cNvPr id="51" name="Shape 49"/>
          <p:cNvSpPr/>
          <p:nvPr/>
        </p:nvSpPr>
        <p:spPr>
          <a:xfrm>
            <a:off x="3291840" y="2670048"/>
            <a:ext cx="1280160" cy="347472"/>
          </a:xfrm>
          <a:prstGeom prst="rect">
            <a:avLst/>
          </a:prstGeom>
          <a:solidFill>
            <a:srgbClr val="FBF5E6"/>
          </a:solidFill>
          <a:ln/>
        </p:spPr>
      </p:sp>
      <p:sp>
        <p:nvSpPr>
          <p:cNvPr id="52" name="Text 50"/>
          <p:cNvSpPr/>
          <p:nvPr/>
        </p:nvSpPr>
        <p:spPr>
          <a:xfrm>
            <a:off x="3337560" y="268833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變格 Plagal</a:t>
            </a:r>
            <a:endParaRPr lang="en-US" sz="1400" dirty="0"/>
          </a:p>
        </p:txBody>
      </p:sp>
      <p:sp>
        <p:nvSpPr>
          <p:cNvPr id="53" name="Shape 51"/>
          <p:cNvSpPr/>
          <p:nvPr/>
        </p:nvSpPr>
        <p:spPr>
          <a:xfrm>
            <a:off x="4617720" y="2670048"/>
            <a:ext cx="2057400" cy="347472"/>
          </a:xfrm>
          <a:prstGeom prst="rect">
            <a:avLst/>
          </a:prstGeom>
          <a:solidFill>
            <a:srgbClr val="FBF5E6"/>
          </a:solidFill>
          <a:ln/>
        </p:spPr>
      </p:sp>
      <p:sp>
        <p:nvSpPr>
          <p:cNvPr id="54" name="Text 52"/>
          <p:cNvSpPr/>
          <p:nvPr/>
        </p:nvSpPr>
        <p:spPr>
          <a:xfrm>
            <a:off x="4663440" y="268833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半 全 全 | 全 全 全 半</a:t>
            </a:r>
            <a:endParaRPr lang="en-US" sz="1400" dirty="0"/>
          </a:p>
        </p:txBody>
      </p:sp>
      <p:sp>
        <p:nvSpPr>
          <p:cNvPr id="55" name="Shape 53"/>
          <p:cNvSpPr/>
          <p:nvPr/>
        </p:nvSpPr>
        <p:spPr>
          <a:xfrm>
            <a:off x="6720840" y="2670048"/>
            <a:ext cx="1965960" cy="347472"/>
          </a:xfrm>
          <a:prstGeom prst="rect">
            <a:avLst/>
          </a:prstGeom>
          <a:solidFill>
            <a:srgbClr val="FBF5E6"/>
          </a:solidFill>
          <a:ln/>
        </p:spPr>
      </p:sp>
      <p:sp>
        <p:nvSpPr>
          <p:cNvPr id="56" name="Text 54"/>
          <p:cNvSpPr/>
          <p:nvPr/>
        </p:nvSpPr>
        <p:spPr>
          <a:xfrm>
            <a:off x="6766560" y="268833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Hypophrygian</a:t>
            </a:r>
            <a:endParaRPr lang="en-US" sz="1400" dirty="0"/>
          </a:p>
        </p:txBody>
      </p:sp>
      <p:sp>
        <p:nvSpPr>
          <p:cNvPr id="57" name="Shape 55"/>
          <p:cNvSpPr/>
          <p:nvPr/>
        </p:nvSpPr>
        <p:spPr>
          <a:xfrm>
            <a:off x="320040" y="3035808"/>
            <a:ext cx="1920240" cy="347472"/>
          </a:xfrm>
          <a:prstGeom prst="rect">
            <a:avLst/>
          </a:prstGeom>
          <a:solidFill>
            <a:srgbClr val="F0E8D8"/>
          </a:solidFill>
          <a:ln/>
        </p:spPr>
      </p:sp>
      <p:sp>
        <p:nvSpPr>
          <p:cNvPr id="58" name="Text 56"/>
          <p:cNvSpPr/>
          <p:nvPr/>
        </p:nvSpPr>
        <p:spPr>
          <a:xfrm>
            <a:off x="365760" y="305409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5 Lydian</a:t>
            </a:r>
            <a:endParaRPr lang="en-US" sz="1400" dirty="0"/>
          </a:p>
        </p:txBody>
      </p:sp>
      <p:sp>
        <p:nvSpPr>
          <p:cNvPr id="59" name="Shape 57"/>
          <p:cNvSpPr/>
          <p:nvPr/>
        </p:nvSpPr>
        <p:spPr>
          <a:xfrm>
            <a:off x="2286000" y="3035808"/>
            <a:ext cx="960120" cy="347472"/>
          </a:xfrm>
          <a:prstGeom prst="rect">
            <a:avLst/>
          </a:prstGeom>
          <a:solidFill>
            <a:srgbClr val="F0E8D8"/>
          </a:solidFill>
          <a:ln/>
        </p:spPr>
      </p:sp>
      <p:sp>
        <p:nvSpPr>
          <p:cNvPr id="60" name="Text 58"/>
          <p:cNvSpPr/>
          <p:nvPr/>
        </p:nvSpPr>
        <p:spPr>
          <a:xfrm>
            <a:off x="2331720" y="305409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F</a:t>
            </a:r>
            <a:endParaRPr lang="en-US" sz="1400" dirty="0"/>
          </a:p>
        </p:txBody>
      </p:sp>
      <p:sp>
        <p:nvSpPr>
          <p:cNvPr id="61" name="Shape 59"/>
          <p:cNvSpPr/>
          <p:nvPr/>
        </p:nvSpPr>
        <p:spPr>
          <a:xfrm>
            <a:off x="3291840" y="3035808"/>
            <a:ext cx="1280160" cy="347472"/>
          </a:xfrm>
          <a:prstGeom prst="rect">
            <a:avLst/>
          </a:prstGeom>
          <a:solidFill>
            <a:srgbClr val="F0E8D8"/>
          </a:solidFill>
          <a:ln/>
        </p:spPr>
      </p:sp>
      <p:sp>
        <p:nvSpPr>
          <p:cNvPr id="62" name="Text 60"/>
          <p:cNvSpPr/>
          <p:nvPr/>
        </p:nvSpPr>
        <p:spPr>
          <a:xfrm>
            <a:off x="3337560" y="305409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正格 Authentic</a:t>
            </a:r>
            <a:endParaRPr lang="en-US" sz="1400" dirty="0"/>
          </a:p>
        </p:txBody>
      </p:sp>
      <p:sp>
        <p:nvSpPr>
          <p:cNvPr id="63" name="Shape 61"/>
          <p:cNvSpPr/>
          <p:nvPr/>
        </p:nvSpPr>
        <p:spPr>
          <a:xfrm>
            <a:off x="4617720" y="3035808"/>
            <a:ext cx="2057400" cy="347472"/>
          </a:xfrm>
          <a:prstGeom prst="rect">
            <a:avLst/>
          </a:prstGeom>
          <a:solidFill>
            <a:srgbClr val="F0E8D8"/>
          </a:solidFill>
          <a:ln/>
        </p:spPr>
      </p:sp>
      <p:sp>
        <p:nvSpPr>
          <p:cNvPr id="64" name="Text 62"/>
          <p:cNvSpPr/>
          <p:nvPr/>
        </p:nvSpPr>
        <p:spPr>
          <a:xfrm>
            <a:off x="4663440" y="305409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全 全 全 | 半 全 全 半</a:t>
            </a:r>
            <a:endParaRPr lang="en-US" sz="1400" dirty="0"/>
          </a:p>
        </p:txBody>
      </p:sp>
      <p:sp>
        <p:nvSpPr>
          <p:cNvPr id="65" name="Shape 63"/>
          <p:cNvSpPr/>
          <p:nvPr/>
        </p:nvSpPr>
        <p:spPr>
          <a:xfrm>
            <a:off x="6720840" y="3035808"/>
            <a:ext cx="1965960" cy="347472"/>
          </a:xfrm>
          <a:prstGeom prst="rect">
            <a:avLst/>
          </a:prstGeom>
          <a:solidFill>
            <a:srgbClr val="F0E8D8"/>
          </a:solidFill>
          <a:ln/>
        </p:spPr>
      </p:sp>
      <p:sp>
        <p:nvSpPr>
          <p:cNvPr id="66" name="Text 64"/>
          <p:cNvSpPr/>
          <p:nvPr/>
        </p:nvSpPr>
        <p:spPr>
          <a:xfrm>
            <a:off x="6766560" y="305409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Lydian 利底安</a:t>
            </a:r>
            <a:endParaRPr lang="en-US" sz="1400" dirty="0"/>
          </a:p>
        </p:txBody>
      </p:sp>
      <p:sp>
        <p:nvSpPr>
          <p:cNvPr id="67" name="Shape 65"/>
          <p:cNvSpPr/>
          <p:nvPr/>
        </p:nvSpPr>
        <p:spPr>
          <a:xfrm>
            <a:off x="320040" y="3401568"/>
            <a:ext cx="1920240" cy="347472"/>
          </a:xfrm>
          <a:prstGeom prst="rect">
            <a:avLst/>
          </a:prstGeom>
          <a:solidFill>
            <a:srgbClr val="FBF5E6"/>
          </a:solidFill>
          <a:ln/>
        </p:spPr>
      </p:sp>
      <p:sp>
        <p:nvSpPr>
          <p:cNvPr id="68" name="Text 66"/>
          <p:cNvSpPr/>
          <p:nvPr/>
        </p:nvSpPr>
        <p:spPr>
          <a:xfrm>
            <a:off x="365760" y="341985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6 Hypolydian</a:t>
            </a:r>
            <a:endParaRPr lang="en-US" sz="1400" dirty="0"/>
          </a:p>
        </p:txBody>
      </p:sp>
      <p:sp>
        <p:nvSpPr>
          <p:cNvPr id="69" name="Shape 67"/>
          <p:cNvSpPr/>
          <p:nvPr/>
        </p:nvSpPr>
        <p:spPr>
          <a:xfrm>
            <a:off x="2286000" y="3401568"/>
            <a:ext cx="960120" cy="347472"/>
          </a:xfrm>
          <a:prstGeom prst="rect">
            <a:avLst/>
          </a:prstGeom>
          <a:solidFill>
            <a:srgbClr val="FBF5E6"/>
          </a:solidFill>
          <a:ln/>
        </p:spPr>
      </p:sp>
      <p:sp>
        <p:nvSpPr>
          <p:cNvPr id="70" name="Text 68"/>
          <p:cNvSpPr/>
          <p:nvPr/>
        </p:nvSpPr>
        <p:spPr>
          <a:xfrm>
            <a:off x="2331720" y="341985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F</a:t>
            </a:r>
            <a:endParaRPr lang="en-US" sz="1400" dirty="0"/>
          </a:p>
        </p:txBody>
      </p:sp>
      <p:sp>
        <p:nvSpPr>
          <p:cNvPr id="71" name="Shape 69"/>
          <p:cNvSpPr/>
          <p:nvPr/>
        </p:nvSpPr>
        <p:spPr>
          <a:xfrm>
            <a:off x="3291840" y="3401568"/>
            <a:ext cx="1280160" cy="347472"/>
          </a:xfrm>
          <a:prstGeom prst="rect">
            <a:avLst/>
          </a:prstGeom>
          <a:solidFill>
            <a:srgbClr val="FBF5E6"/>
          </a:solidFill>
          <a:ln/>
        </p:spPr>
      </p:sp>
      <p:sp>
        <p:nvSpPr>
          <p:cNvPr id="72" name="Text 70"/>
          <p:cNvSpPr/>
          <p:nvPr/>
        </p:nvSpPr>
        <p:spPr>
          <a:xfrm>
            <a:off x="3337560" y="341985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變格 Plagal</a:t>
            </a:r>
            <a:endParaRPr lang="en-US" sz="1400" dirty="0"/>
          </a:p>
        </p:txBody>
      </p:sp>
      <p:sp>
        <p:nvSpPr>
          <p:cNvPr id="73" name="Shape 71"/>
          <p:cNvSpPr/>
          <p:nvPr/>
        </p:nvSpPr>
        <p:spPr>
          <a:xfrm>
            <a:off x="4617720" y="3401568"/>
            <a:ext cx="2057400" cy="347472"/>
          </a:xfrm>
          <a:prstGeom prst="rect">
            <a:avLst/>
          </a:prstGeom>
          <a:solidFill>
            <a:srgbClr val="FBF5E6"/>
          </a:solidFill>
          <a:ln/>
        </p:spPr>
      </p:sp>
      <p:sp>
        <p:nvSpPr>
          <p:cNvPr id="74" name="Text 72"/>
          <p:cNvSpPr/>
          <p:nvPr/>
        </p:nvSpPr>
        <p:spPr>
          <a:xfrm>
            <a:off x="4663440" y="341985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全 全 半 | 全 全 全 半</a:t>
            </a:r>
            <a:endParaRPr lang="en-US" sz="1400" dirty="0"/>
          </a:p>
        </p:txBody>
      </p:sp>
      <p:sp>
        <p:nvSpPr>
          <p:cNvPr id="75" name="Shape 73"/>
          <p:cNvSpPr/>
          <p:nvPr/>
        </p:nvSpPr>
        <p:spPr>
          <a:xfrm>
            <a:off x="6720840" y="3401568"/>
            <a:ext cx="1965960" cy="347472"/>
          </a:xfrm>
          <a:prstGeom prst="rect">
            <a:avLst/>
          </a:prstGeom>
          <a:solidFill>
            <a:srgbClr val="FBF5E6"/>
          </a:solidFill>
          <a:ln/>
        </p:spPr>
      </p:sp>
      <p:sp>
        <p:nvSpPr>
          <p:cNvPr id="76" name="Text 74"/>
          <p:cNvSpPr/>
          <p:nvPr/>
        </p:nvSpPr>
        <p:spPr>
          <a:xfrm>
            <a:off x="6766560" y="341985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Hypolydian</a:t>
            </a:r>
            <a:endParaRPr lang="en-US" sz="1400" dirty="0"/>
          </a:p>
        </p:txBody>
      </p:sp>
      <p:sp>
        <p:nvSpPr>
          <p:cNvPr id="77" name="Shape 75"/>
          <p:cNvSpPr/>
          <p:nvPr/>
        </p:nvSpPr>
        <p:spPr>
          <a:xfrm>
            <a:off x="320040" y="3767328"/>
            <a:ext cx="1920240" cy="347472"/>
          </a:xfrm>
          <a:prstGeom prst="rect">
            <a:avLst/>
          </a:prstGeom>
          <a:solidFill>
            <a:srgbClr val="F0E8D8"/>
          </a:solidFill>
          <a:ln/>
        </p:spPr>
      </p:sp>
      <p:sp>
        <p:nvSpPr>
          <p:cNvPr id="78" name="Text 76"/>
          <p:cNvSpPr/>
          <p:nvPr/>
        </p:nvSpPr>
        <p:spPr>
          <a:xfrm>
            <a:off x="365760" y="378561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7 Mixolydian</a:t>
            </a:r>
            <a:endParaRPr lang="en-US" sz="1400" dirty="0"/>
          </a:p>
        </p:txBody>
      </p:sp>
      <p:sp>
        <p:nvSpPr>
          <p:cNvPr id="79" name="Shape 77"/>
          <p:cNvSpPr/>
          <p:nvPr/>
        </p:nvSpPr>
        <p:spPr>
          <a:xfrm>
            <a:off x="2286000" y="3767328"/>
            <a:ext cx="960120" cy="347472"/>
          </a:xfrm>
          <a:prstGeom prst="rect">
            <a:avLst/>
          </a:prstGeom>
          <a:solidFill>
            <a:srgbClr val="F0E8D8"/>
          </a:solidFill>
          <a:ln/>
        </p:spPr>
      </p:sp>
      <p:sp>
        <p:nvSpPr>
          <p:cNvPr id="80" name="Text 78"/>
          <p:cNvSpPr/>
          <p:nvPr/>
        </p:nvSpPr>
        <p:spPr>
          <a:xfrm>
            <a:off x="2331720" y="378561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G</a:t>
            </a:r>
            <a:endParaRPr lang="en-US" sz="1400" dirty="0"/>
          </a:p>
        </p:txBody>
      </p:sp>
      <p:sp>
        <p:nvSpPr>
          <p:cNvPr id="81" name="Shape 79"/>
          <p:cNvSpPr/>
          <p:nvPr/>
        </p:nvSpPr>
        <p:spPr>
          <a:xfrm>
            <a:off x="3291840" y="3767328"/>
            <a:ext cx="1280160" cy="347472"/>
          </a:xfrm>
          <a:prstGeom prst="rect">
            <a:avLst/>
          </a:prstGeom>
          <a:solidFill>
            <a:srgbClr val="F0E8D8"/>
          </a:solidFill>
          <a:ln/>
        </p:spPr>
      </p:sp>
      <p:sp>
        <p:nvSpPr>
          <p:cNvPr id="82" name="Text 80"/>
          <p:cNvSpPr/>
          <p:nvPr/>
        </p:nvSpPr>
        <p:spPr>
          <a:xfrm>
            <a:off x="3337560" y="378561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正格 Authentic</a:t>
            </a:r>
            <a:endParaRPr lang="en-US" sz="1400" dirty="0"/>
          </a:p>
        </p:txBody>
      </p:sp>
      <p:sp>
        <p:nvSpPr>
          <p:cNvPr id="83" name="Shape 81"/>
          <p:cNvSpPr/>
          <p:nvPr/>
        </p:nvSpPr>
        <p:spPr>
          <a:xfrm>
            <a:off x="4617720" y="3767328"/>
            <a:ext cx="2057400" cy="347472"/>
          </a:xfrm>
          <a:prstGeom prst="rect">
            <a:avLst/>
          </a:prstGeom>
          <a:solidFill>
            <a:srgbClr val="F0E8D8"/>
          </a:solidFill>
          <a:ln/>
        </p:spPr>
      </p:sp>
      <p:sp>
        <p:nvSpPr>
          <p:cNvPr id="84" name="Text 82"/>
          <p:cNvSpPr/>
          <p:nvPr/>
        </p:nvSpPr>
        <p:spPr>
          <a:xfrm>
            <a:off x="4663440" y="378561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全 全 半 | 全 全 半 全</a:t>
            </a:r>
            <a:endParaRPr lang="en-US" sz="1400" dirty="0"/>
          </a:p>
        </p:txBody>
      </p:sp>
      <p:sp>
        <p:nvSpPr>
          <p:cNvPr id="85" name="Shape 83"/>
          <p:cNvSpPr/>
          <p:nvPr/>
        </p:nvSpPr>
        <p:spPr>
          <a:xfrm>
            <a:off x="6720840" y="3767328"/>
            <a:ext cx="1965960" cy="347472"/>
          </a:xfrm>
          <a:prstGeom prst="rect">
            <a:avLst/>
          </a:prstGeom>
          <a:solidFill>
            <a:srgbClr val="F0E8D8"/>
          </a:solidFill>
          <a:ln/>
        </p:spPr>
      </p:sp>
      <p:sp>
        <p:nvSpPr>
          <p:cNvPr id="86" name="Text 84"/>
          <p:cNvSpPr/>
          <p:nvPr/>
        </p:nvSpPr>
        <p:spPr>
          <a:xfrm>
            <a:off x="6766560" y="378561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Mixolydian 混利底安</a:t>
            </a:r>
            <a:endParaRPr lang="en-US" sz="1400" dirty="0"/>
          </a:p>
        </p:txBody>
      </p:sp>
      <p:sp>
        <p:nvSpPr>
          <p:cNvPr id="87" name="Shape 85"/>
          <p:cNvSpPr/>
          <p:nvPr/>
        </p:nvSpPr>
        <p:spPr>
          <a:xfrm>
            <a:off x="320040" y="4133088"/>
            <a:ext cx="1920240" cy="347472"/>
          </a:xfrm>
          <a:prstGeom prst="rect">
            <a:avLst/>
          </a:prstGeom>
          <a:solidFill>
            <a:srgbClr val="FBF5E6"/>
          </a:solidFill>
          <a:ln/>
        </p:spPr>
      </p:sp>
      <p:sp>
        <p:nvSpPr>
          <p:cNvPr id="88" name="Text 86"/>
          <p:cNvSpPr/>
          <p:nvPr/>
        </p:nvSpPr>
        <p:spPr>
          <a:xfrm>
            <a:off x="365760" y="4151376"/>
            <a:ext cx="1874520" cy="310896"/>
          </a:xfrm>
          <a:prstGeom prst="rect">
            <a:avLst/>
          </a:prstGeom>
          <a:noFill/>
          <a:ln/>
        </p:spPr>
        <p:txBody>
          <a:bodyPr wrap="square" lIns="0" tIns="0" rIns="0" bIns="0" rtlCol="0" anchor="ctr"/>
          <a:lstStyle/>
          <a:p>
            <a:pPr indent="0" marL="0">
              <a:buNone/>
            </a:pPr>
            <a:r>
              <a:rPr lang="en-US" sz="1400" b="1" dirty="0">
                <a:solidFill>
                  <a:srgbClr val="7A2830"/>
                </a:solidFill>
                <a:latin typeface="Georgia" pitchFamily="34" charset="0"/>
                <a:ea typeface="Georgia" pitchFamily="34" charset="-122"/>
                <a:cs typeface="Georgia" pitchFamily="34" charset="-120"/>
              </a:rPr>
              <a:t>8 Hypomixolydian</a:t>
            </a:r>
            <a:endParaRPr lang="en-US" sz="1400" dirty="0"/>
          </a:p>
        </p:txBody>
      </p:sp>
      <p:sp>
        <p:nvSpPr>
          <p:cNvPr id="89" name="Shape 87"/>
          <p:cNvSpPr/>
          <p:nvPr/>
        </p:nvSpPr>
        <p:spPr>
          <a:xfrm>
            <a:off x="2286000" y="4133088"/>
            <a:ext cx="960120" cy="347472"/>
          </a:xfrm>
          <a:prstGeom prst="rect">
            <a:avLst/>
          </a:prstGeom>
          <a:solidFill>
            <a:srgbClr val="FBF5E6"/>
          </a:solidFill>
          <a:ln/>
        </p:spPr>
      </p:sp>
      <p:sp>
        <p:nvSpPr>
          <p:cNvPr id="90" name="Text 88"/>
          <p:cNvSpPr/>
          <p:nvPr/>
        </p:nvSpPr>
        <p:spPr>
          <a:xfrm>
            <a:off x="2331720" y="4151376"/>
            <a:ext cx="91440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G</a:t>
            </a:r>
            <a:endParaRPr lang="en-US" sz="1400" dirty="0"/>
          </a:p>
        </p:txBody>
      </p:sp>
      <p:sp>
        <p:nvSpPr>
          <p:cNvPr id="91" name="Shape 89"/>
          <p:cNvSpPr/>
          <p:nvPr/>
        </p:nvSpPr>
        <p:spPr>
          <a:xfrm>
            <a:off x="3291840" y="4133088"/>
            <a:ext cx="1280160" cy="347472"/>
          </a:xfrm>
          <a:prstGeom prst="rect">
            <a:avLst/>
          </a:prstGeom>
          <a:solidFill>
            <a:srgbClr val="FBF5E6"/>
          </a:solidFill>
          <a:ln/>
        </p:spPr>
      </p:sp>
      <p:sp>
        <p:nvSpPr>
          <p:cNvPr id="92" name="Text 90"/>
          <p:cNvSpPr/>
          <p:nvPr/>
        </p:nvSpPr>
        <p:spPr>
          <a:xfrm>
            <a:off x="3337560" y="4151376"/>
            <a:ext cx="12344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變格 Plagal</a:t>
            </a:r>
            <a:endParaRPr lang="en-US" sz="1400" dirty="0"/>
          </a:p>
        </p:txBody>
      </p:sp>
      <p:sp>
        <p:nvSpPr>
          <p:cNvPr id="93" name="Shape 91"/>
          <p:cNvSpPr/>
          <p:nvPr/>
        </p:nvSpPr>
        <p:spPr>
          <a:xfrm>
            <a:off x="4617720" y="4133088"/>
            <a:ext cx="2057400" cy="347472"/>
          </a:xfrm>
          <a:prstGeom prst="rect">
            <a:avLst/>
          </a:prstGeom>
          <a:solidFill>
            <a:srgbClr val="FBF5E6"/>
          </a:solidFill>
          <a:ln/>
        </p:spPr>
      </p:sp>
      <p:sp>
        <p:nvSpPr>
          <p:cNvPr id="94" name="Text 92"/>
          <p:cNvSpPr/>
          <p:nvPr/>
        </p:nvSpPr>
        <p:spPr>
          <a:xfrm>
            <a:off x="4663440" y="4151376"/>
            <a:ext cx="201168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半 全 全 | 半 全 全 半</a:t>
            </a:r>
            <a:endParaRPr lang="en-US" sz="1400" dirty="0"/>
          </a:p>
        </p:txBody>
      </p:sp>
      <p:sp>
        <p:nvSpPr>
          <p:cNvPr id="95" name="Shape 93"/>
          <p:cNvSpPr/>
          <p:nvPr/>
        </p:nvSpPr>
        <p:spPr>
          <a:xfrm>
            <a:off x="6720840" y="4133088"/>
            <a:ext cx="1965960" cy="347472"/>
          </a:xfrm>
          <a:prstGeom prst="rect">
            <a:avLst/>
          </a:prstGeom>
          <a:solidFill>
            <a:srgbClr val="FBF5E6"/>
          </a:solidFill>
          <a:ln/>
        </p:spPr>
      </p:sp>
      <p:sp>
        <p:nvSpPr>
          <p:cNvPr id="96" name="Text 94"/>
          <p:cNvSpPr/>
          <p:nvPr/>
        </p:nvSpPr>
        <p:spPr>
          <a:xfrm>
            <a:off x="6766560" y="4151376"/>
            <a:ext cx="1920240" cy="310896"/>
          </a:xfrm>
          <a:prstGeom prst="rect">
            <a:avLst/>
          </a:prstGeom>
          <a:noFill/>
          <a:ln/>
        </p:spPr>
        <p:txBody>
          <a:bodyPr wrap="square" lIns="0" tIns="0" rIns="0" bIns="0" rtlCol="0" anchor="ctr"/>
          <a:lstStyle/>
          <a:p>
            <a:pPr indent="0" marL="0">
              <a:buNone/>
            </a:pPr>
            <a:r>
              <a:rPr lang="en-US" sz="1400" dirty="0">
                <a:solidFill>
                  <a:srgbClr val="2C1810"/>
                </a:solidFill>
                <a:latin typeface="Calibri" pitchFamily="34" charset="0"/>
                <a:ea typeface="Calibri" pitchFamily="34" charset="-122"/>
                <a:cs typeface="Calibri" pitchFamily="34" charset="-120"/>
              </a:rPr>
              <a:t>Hypomixolydian</a:t>
            </a:r>
            <a:endParaRPr lang="en-US" sz="1400" dirty="0"/>
          </a:p>
        </p:txBody>
      </p:sp>
      <p:sp>
        <p:nvSpPr>
          <p:cNvPr id="97" name="Text 95"/>
          <p:cNvSpPr/>
          <p:nvPr/>
        </p:nvSpPr>
        <p:spPr>
          <a:xfrm>
            <a:off x="320040" y="4526280"/>
            <a:ext cx="8503920" cy="457200"/>
          </a:xfrm>
          <a:prstGeom prst="rect">
            <a:avLst/>
          </a:prstGeom>
          <a:noFill/>
          <a:ln/>
        </p:spPr>
        <p:txBody>
          <a:bodyPr wrap="square" rtlCol="0" anchor="t"/>
          <a:lstStyle/>
          <a:p>
            <a:pPr indent="0" marL="0">
              <a:buNone/>
            </a:pPr>
            <a:r>
              <a:rPr lang="en-US" sz="1400" i="1" dirty="0">
                <a:solidFill>
                  <a:srgbClr val="5C3A28"/>
                </a:solidFill>
                <a:latin typeface="Calibri" pitchFamily="34" charset="0"/>
                <a:ea typeface="Calibri" pitchFamily="34" charset="-122"/>
                <a:cs typeface="Calibri" pitchFamily="34" charset="-120"/>
              </a:rPr>
              <a:t>正格 (authentic)：音域從 final 上行一個八度；變格 (plagal)：音域跨越 final 上下</a:t>
            </a:r>
            <a:endParaRPr lang="en-US" sz="1400" dirty="0"/>
          </a:p>
          <a:p>
            <a:pPr indent="0" marL="0">
              <a:buNone/>
            </a:pPr>
            <a:r>
              <a:rPr lang="en-US" sz="1400" i="1" dirty="0">
                <a:solidFill>
                  <a:srgbClr val="5C3A28"/>
                </a:solidFill>
                <a:latin typeface="Calibri" pitchFamily="34" charset="0"/>
                <a:ea typeface="Calibri" pitchFamily="34" charset="-122"/>
                <a:cs typeface="Calibri" pitchFamily="34" charset="-120"/>
              </a:rPr>
              <a:t>Authentic: range extends octave up from final; Plagal: range spans both sides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A020"/>
          </a:solidFill>
          <a:ln/>
        </p:spPr>
      </p:sp>
      <p:sp>
        <p:nvSpPr>
          <p:cNvPr id="3" name="Shape 1"/>
          <p:cNvSpPr/>
          <p:nvPr/>
        </p:nvSpPr>
        <p:spPr>
          <a:xfrm>
            <a:off x="0" y="5029200"/>
            <a:ext cx="9144000" cy="114300"/>
          </a:xfrm>
          <a:prstGeom prst="rect">
            <a:avLst/>
          </a:prstGeom>
          <a:solidFill>
            <a:srgbClr val="C8A020"/>
          </a:solidFill>
          <a:ln/>
        </p:spPr>
      </p:sp>
      <p:sp>
        <p:nvSpPr>
          <p:cNvPr id="4" name="Text 2"/>
          <p:cNvSpPr/>
          <p:nvPr/>
        </p:nvSpPr>
        <p:spPr>
          <a:xfrm>
            <a:off x="365760" y="164592"/>
            <a:ext cx="8412480" cy="475488"/>
          </a:xfrm>
          <a:prstGeom prst="rect">
            <a:avLst/>
          </a:prstGeom>
          <a:noFill/>
          <a:ln/>
        </p:spPr>
        <p:txBody>
          <a:bodyPr wrap="square" rtlCol="0" anchor="ctr"/>
          <a:lstStyle/>
          <a:p>
            <a:pPr algn="ctr" indent="0" marL="0">
              <a:buNone/>
            </a:pPr>
            <a:r>
              <a:rPr lang="en-US" sz="2800" b="1" dirty="0">
                <a:solidFill>
                  <a:srgbClr val="C8A020"/>
                </a:solidFill>
                <a:latin typeface="Georgia" pitchFamily="34" charset="0"/>
                <a:ea typeface="Georgia" pitchFamily="34" charset="-122"/>
                <a:cs typeface="Georgia" pitchFamily="34" charset="-120"/>
              </a:rPr>
              <a:t>唱名法與阿雷佐的桂多</a:t>
            </a:r>
            <a:endParaRPr lang="en-US" sz="2800" dirty="0"/>
          </a:p>
        </p:txBody>
      </p:sp>
      <p:sp>
        <p:nvSpPr>
          <p:cNvPr id="5" name="Text 3"/>
          <p:cNvSpPr/>
          <p:nvPr/>
        </p:nvSpPr>
        <p:spPr>
          <a:xfrm>
            <a:off x="365760" y="640080"/>
            <a:ext cx="8412480" cy="320040"/>
          </a:xfrm>
          <a:prstGeom prst="rect">
            <a:avLst/>
          </a:prstGeom>
          <a:noFill/>
          <a:ln/>
        </p:spPr>
        <p:txBody>
          <a:bodyPr wrap="square" rtlCol="0" anchor="ctr"/>
          <a:lstStyle/>
          <a:p>
            <a:pPr algn="ctr" indent="0" marL="0">
              <a:buNone/>
            </a:pPr>
            <a:r>
              <a:rPr lang="en-US" sz="1500" i="1" dirty="0">
                <a:solidFill>
                  <a:srgbClr val="E8D8A8"/>
                </a:solidFill>
                <a:latin typeface="Georgia" pitchFamily="34" charset="0"/>
                <a:ea typeface="Georgia" pitchFamily="34" charset="-122"/>
                <a:cs typeface="Georgia" pitchFamily="34" charset="-120"/>
              </a:rPr>
              <a:t>Solmization &amp; Guido of Arezzo (ca. 991 – after 1033)</a:t>
            </a:r>
            <a:endParaRPr lang="en-US" sz="1500" dirty="0"/>
          </a:p>
        </p:txBody>
      </p:sp>
      <p:sp>
        <p:nvSpPr>
          <p:cNvPr id="6" name="Shape 4"/>
          <p:cNvSpPr/>
          <p:nvPr/>
        </p:nvSpPr>
        <p:spPr>
          <a:xfrm>
            <a:off x="1371600" y="987552"/>
            <a:ext cx="6400800" cy="36576"/>
          </a:xfrm>
          <a:prstGeom prst="rect">
            <a:avLst/>
          </a:prstGeom>
          <a:solidFill>
            <a:srgbClr val="C8A020"/>
          </a:solidFill>
          <a:ln/>
        </p:spPr>
      </p:sp>
      <p:sp>
        <p:nvSpPr>
          <p:cNvPr id="7" name="Shape 5"/>
          <p:cNvSpPr/>
          <p:nvPr/>
        </p:nvSpPr>
        <p:spPr>
          <a:xfrm>
            <a:off x="274320" y="1078992"/>
            <a:ext cx="4663440" cy="3703320"/>
          </a:xfrm>
          <a:prstGeom prst="rect">
            <a:avLst/>
          </a:prstGeom>
          <a:solidFill>
            <a:srgbClr val="3A2015"/>
          </a:solidFill>
          <a:ln/>
        </p:spPr>
      </p:sp>
      <p:sp>
        <p:nvSpPr>
          <p:cNvPr id="8" name="Text 6"/>
          <p:cNvSpPr/>
          <p:nvPr/>
        </p:nvSpPr>
        <p:spPr>
          <a:xfrm>
            <a:off x="411480" y="1152144"/>
            <a:ext cx="4389120" cy="411480"/>
          </a:xfrm>
          <a:prstGeom prst="rect">
            <a:avLst/>
          </a:prstGeom>
          <a:noFill/>
          <a:ln/>
        </p:spPr>
        <p:txBody>
          <a:bodyPr wrap="square" rtlCol="0" anchor="ctr"/>
          <a:lstStyle/>
          <a:p>
            <a:pPr indent="0" marL="0">
              <a:buNone/>
            </a:pPr>
            <a:r>
              <a:rPr lang="en-US" sz="1600" b="1" dirty="0">
                <a:solidFill>
                  <a:srgbClr val="C8A020"/>
                </a:solidFill>
                <a:latin typeface="Georgia" pitchFamily="34" charset="0"/>
                <a:ea typeface="Georgia" pitchFamily="34" charset="-122"/>
                <a:cs typeface="Georgia" pitchFamily="34" charset="-120"/>
              </a:rPr>
              <a:t>■ 唱名法 Solmization</a:t>
            </a:r>
            <a:endParaRPr lang="en-US" sz="1600" dirty="0"/>
          </a:p>
        </p:txBody>
      </p:sp>
      <p:sp>
        <p:nvSpPr>
          <p:cNvPr id="9" name="Text 7"/>
          <p:cNvSpPr/>
          <p:nvPr/>
        </p:nvSpPr>
        <p:spPr>
          <a:xfrm>
            <a:off x="411480" y="1591056"/>
            <a:ext cx="4389120" cy="658368"/>
          </a:xfrm>
          <a:prstGeom prst="rect">
            <a:avLst/>
          </a:prstGeom>
          <a:noFill/>
          <a:ln/>
        </p:spPr>
        <p:txBody>
          <a:bodyPr wrap="square" rtlCol="0" anchor="t"/>
          <a:lstStyle/>
          <a:p>
            <a:pPr indent="0" marL="0">
              <a:buNone/>
            </a:pPr>
            <a:r>
              <a:rPr lang="en-US" sz="1400" dirty="0">
                <a:solidFill>
                  <a:srgbClr val="E8D8A8"/>
                </a:solidFill>
                <a:latin typeface="Calibri" pitchFamily="34" charset="0"/>
                <a:ea typeface="Calibri" pitchFamily="34" charset="-122"/>
                <a:cs typeface="Calibri" pitchFamily="34" charset="-120"/>
              </a:rPr>
              <a:t>桂多從讚美詩《Ut queant laxis》每句開頭音節命名六個音</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Guido named six syllables from the hymn Ut queant laxis</a:t>
            </a:r>
            <a:endParaRPr lang="en-US" sz="1400" dirty="0"/>
          </a:p>
        </p:txBody>
      </p:sp>
      <p:sp>
        <p:nvSpPr>
          <p:cNvPr id="10" name="Shape 8"/>
          <p:cNvSpPr/>
          <p:nvPr/>
        </p:nvSpPr>
        <p:spPr>
          <a:xfrm>
            <a:off x="502920" y="2304288"/>
            <a:ext cx="621792" cy="749808"/>
          </a:xfrm>
          <a:prstGeom prst="rect">
            <a:avLst/>
          </a:prstGeom>
          <a:solidFill>
            <a:srgbClr val="7A2830"/>
          </a:solidFill>
          <a:ln/>
        </p:spPr>
      </p:sp>
      <p:sp>
        <p:nvSpPr>
          <p:cNvPr id="11" name="Text 9"/>
          <p:cNvSpPr/>
          <p:nvPr/>
        </p:nvSpPr>
        <p:spPr>
          <a:xfrm>
            <a:off x="502920" y="2350008"/>
            <a:ext cx="621792" cy="384048"/>
          </a:xfrm>
          <a:prstGeom prst="rect">
            <a:avLst/>
          </a:prstGeom>
          <a:noFill/>
          <a:ln/>
        </p:spPr>
        <p:txBody>
          <a:bodyPr wrap="square" rtlCol="0" anchor="ctr"/>
          <a:lstStyle/>
          <a:p>
            <a:pPr algn="ctr" indent="0" marL="0">
              <a:buNone/>
            </a:pPr>
            <a:r>
              <a:rPr lang="en-US" sz="1800" b="1" dirty="0">
                <a:solidFill>
                  <a:srgbClr val="C8A020"/>
                </a:solidFill>
                <a:latin typeface="Georgia" pitchFamily="34" charset="0"/>
                <a:ea typeface="Georgia" pitchFamily="34" charset="-122"/>
                <a:cs typeface="Georgia" pitchFamily="34" charset="-120"/>
              </a:rPr>
              <a:t>ut*</a:t>
            </a:r>
            <a:endParaRPr lang="en-US" sz="1800" dirty="0"/>
          </a:p>
        </p:txBody>
      </p:sp>
      <p:sp>
        <p:nvSpPr>
          <p:cNvPr id="12" name="Text 10"/>
          <p:cNvSpPr/>
          <p:nvPr/>
        </p:nvSpPr>
        <p:spPr>
          <a:xfrm>
            <a:off x="502920" y="2706624"/>
            <a:ext cx="621792" cy="329184"/>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C</a:t>
            </a:r>
            <a:endParaRPr lang="en-US" sz="1400" dirty="0"/>
          </a:p>
        </p:txBody>
      </p:sp>
      <p:sp>
        <p:nvSpPr>
          <p:cNvPr id="13" name="Shape 11"/>
          <p:cNvSpPr/>
          <p:nvPr/>
        </p:nvSpPr>
        <p:spPr>
          <a:xfrm>
            <a:off x="1234440" y="2304288"/>
            <a:ext cx="621792" cy="749808"/>
          </a:xfrm>
          <a:prstGeom prst="rect">
            <a:avLst/>
          </a:prstGeom>
          <a:solidFill>
            <a:srgbClr val="7A2830"/>
          </a:solidFill>
          <a:ln/>
        </p:spPr>
      </p:sp>
      <p:sp>
        <p:nvSpPr>
          <p:cNvPr id="14" name="Text 12"/>
          <p:cNvSpPr/>
          <p:nvPr/>
        </p:nvSpPr>
        <p:spPr>
          <a:xfrm>
            <a:off x="1234440" y="2350008"/>
            <a:ext cx="621792" cy="384048"/>
          </a:xfrm>
          <a:prstGeom prst="rect">
            <a:avLst/>
          </a:prstGeom>
          <a:noFill/>
          <a:ln/>
        </p:spPr>
        <p:txBody>
          <a:bodyPr wrap="square" rtlCol="0" anchor="ctr"/>
          <a:lstStyle/>
          <a:p>
            <a:pPr algn="ctr" indent="0" marL="0">
              <a:buNone/>
            </a:pPr>
            <a:r>
              <a:rPr lang="en-US" sz="1800" b="1" dirty="0">
                <a:solidFill>
                  <a:srgbClr val="C8A020"/>
                </a:solidFill>
                <a:latin typeface="Georgia" pitchFamily="34" charset="0"/>
                <a:ea typeface="Georgia" pitchFamily="34" charset="-122"/>
                <a:cs typeface="Georgia" pitchFamily="34" charset="-120"/>
              </a:rPr>
              <a:t>re</a:t>
            </a:r>
            <a:endParaRPr lang="en-US" sz="1800" dirty="0"/>
          </a:p>
        </p:txBody>
      </p:sp>
      <p:sp>
        <p:nvSpPr>
          <p:cNvPr id="15" name="Text 13"/>
          <p:cNvSpPr/>
          <p:nvPr/>
        </p:nvSpPr>
        <p:spPr>
          <a:xfrm>
            <a:off x="1234440" y="2706624"/>
            <a:ext cx="621792" cy="329184"/>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D</a:t>
            </a:r>
            <a:endParaRPr lang="en-US" sz="1400" dirty="0"/>
          </a:p>
        </p:txBody>
      </p:sp>
      <p:sp>
        <p:nvSpPr>
          <p:cNvPr id="16" name="Shape 14"/>
          <p:cNvSpPr/>
          <p:nvPr/>
        </p:nvSpPr>
        <p:spPr>
          <a:xfrm>
            <a:off x="1965960" y="2304288"/>
            <a:ext cx="621792" cy="749808"/>
          </a:xfrm>
          <a:prstGeom prst="rect">
            <a:avLst/>
          </a:prstGeom>
          <a:solidFill>
            <a:srgbClr val="7A2830"/>
          </a:solidFill>
          <a:ln/>
        </p:spPr>
      </p:sp>
      <p:sp>
        <p:nvSpPr>
          <p:cNvPr id="17" name="Text 15"/>
          <p:cNvSpPr/>
          <p:nvPr/>
        </p:nvSpPr>
        <p:spPr>
          <a:xfrm>
            <a:off x="1965960" y="2350008"/>
            <a:ext cx="621792" cy="384048"/>
          </a:xfrm>
          <a:prstGeom prst="rect">
            <a:avLst/>
          </a:prstGeom>
          <a:noFill/>
          <a:ln/>
        </p:spPr>
        <p:txBody>
          <a:bodyPr wrap="square" rtlCol="0" anchor="ctr"/>
          <a:lstStyle/>
          <a:p>
            <a:pPr algn="ctr" indent="0" marL="0">
              <a:buNone/>
            </a:pPr>
            <a:r>
              <a:rPr lang="en-US" sz="1800" b="1" dirty="0">
                <a:solidFill>
                  <a:srgbClr val="C8A020"/>
                </a:solidFill>
                <a:latin typeface="Georgia" pitchFamily="34" charset="0"/>
                <a:ea typeface="Georgia" pitchFamily="34" charset="-122"/>
                <a:cs typeface="Georgia" pitchFamily="34" charset="-120"/>
              </a:rPr>
              <a:t>mi</a:t>
            </a:r>
            <a:endParaRPr lang="en-US" sz="1800" dirty="0"/>
          </a:p>
        </p:txBody>
      </p:sp>
      <p:sp>
        <p:nvSpPr>
          <p:cNvPr id="18" name="Text 16"/>
          <p:cNvSpPr/>
          <p:nvPr/>
        </p:nvSpPr>
        <p:spPr>
          <a:xfrm>
            <a:off x="1965960" y="2706624"/>
            <a:ext cx="621792" cy="329184"/>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E</a:t>
            </a:r>
            <a:endParaRPr lang="en-US" sz="1400" dirty="0"/>
          </a:p>
        </p:txBody>
      </p:sp>
      <p:sp>
        <p:nvSpPr>
          <p:cNvPr id="19" name="Shape 17"/>
          <p:cNvSpPr/>
          <p:nvPr/>
        </p:nvSpPr>
        <p:spPr>
          <a:xfrm>
            <a:off x="2697480" y="2304288"/>
            <a:ext cx="621792" cy="749808"/>
          </a:xfrm>
          <a:prstGeom prst="rect">
            <a:avLst/>
          </a:prstGeom>
          <a:solidFill>
            <a:srgbClr val="7A2830"/>
          </a:solidFill>
          <a:ln/>
        </p:spPr>
      </p:sp>
      <p:sp>
        <p:nvSpPr>
          <p:cNvPr id="20" name="Text 18"/>
          <p:cNvSpPr/>
          <p:nvPr/>
        </p:nvSpPr>
        <p:spPr>
          <a:xfrm>
            <a:off x="2697480" y="2350008"/>
            <a:ext cx="621792" cy="384048"/>
          </a:xfrm>
          <a:prstGeom prst="rect">
            <a:avLst/>
          </a:prstGeom>
          <a:noFill/>
          <a:ln/>
        </p:spPr>
        <p:txBody>
          <a:bodyPr wrap="square" rtlCol="0" anchor="ctr"/>
          <a:lstStyle/>
          <a:p>
            <a:pPr algn="ctr" indent="0" marL="0">
              <a:buNone/>
            </a:pPr>
            <a:r>
              <a:rPr lang="en-US" sz="1800" b="1" dirty="0">
                <a:solidFill>
                  <a:srgbClr val="C8A020"/>
                </a:solidFill>
                <a:latin typeface="Georgia" pitchFamily="34" charset="0"/>
                <a:ea typeface="Georgia" pitchFamily="34" charset="-122"/>
                <a:cs typeface="Georgia" pitchFamily="34" charset="-120"/>
              </a:rPr>
              <a:t>fa</a:t>
            </a:r>
            <a:endParaRPr lang="en-US" sz="1800" dirty="0"/>
          </a:p>
        </p:txBody>
      </p:sp>
      <p:sp>
        <p:nvSpPr>
          <p:cNvPr id="21" name="Text 19"/>
          <p:cNvSpPr/>
          <p:nvPr/>
        </p:nvSpPr>
        <p:spPr>
          <a:xfrm>
            <a:off x="2697480" y="2706624"/>
            <a:ext cx="621792" cy="329184"/>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F</a:t>
            </a:r>
            <a:endParaRPr lang="en-US" sz="1400" dirty="0"/>
          </a:p>
        </p:txBody>
      </p:sp>
      <p:sp>
        <p:nvSpPr>
          <p:cNvPr id="22" name="Shape 20"/>
          <p:cNvSpPr/>
          <p:nvPr/>
        </p:nvSpPr>
        <p:spPr>
          <a:xfrm>
            <a:off x="3429000" y="2304288"/>
            <a:ext cx="621792" cy="749808"/>
          </a:xfrm>
          <a:prstGeom prst="rect">
            <a:avLst/>
          </a:prstGeom>
          <a:solidFill>
            <a:srgbClr val="7A2830"/>
          </a:solidFill>
          <a:ln/>
        </p:spPr>
      </p:sp>
      <p:sp>
        <p:nvSpPr>
          <p:cNvPr id="23" name="Text 21"/>
          <p:cNvSpPr/>
          <p:nvPr/>
        </p:nvSpPr>
        <p:spPr>
          <a:xfrm>
            <a:off x="3429000" y="2350008"/>
            <a:ext cx="621792" cy="384048"/>
          </a:xfrm>
          <a:prstGeom prst="rect">
            <a:avLst/>
          </a:prstGeom>
          <a:noFill/>
          <a:ln/>
        </p:spPr>
        <p:txBody>
          <a:bodyPr wrap="square" rtlCol="0" anchor="ctr"/>
          <a:lstStyle/>
          <a:p>
            <a:pPr algn="ctr" indent="0" marL="0">
              <a:buNone/>
            </a:pPr>
            <a:r>
              <a:rPr lang="en-US" sz="1800" b="1" dirty="0">
                <a:solidFill>
                  <a:srgbClr val="C8A020"/>
                </a:solidFill>
                <a:latin typeface="Georgia" pitchFamily="34" charset="0"/>
                <a:ea typeface="Georgia" pitchFamily="34" charset="-122"/>
                <a:cs typeface="Georgia" pitchFamily="34" charset="-120"/>
              </a:rPr>
              <a:t>sol</a:t>
            </a:r>
            <a:endParaRPr lang="en-US" sz="1800" dirty="0"/>
          </a:p>
        </p:txBody>
      </p:sp>
      <p:sp>
        <p:nvSpPr>
          <p:cNvPr id="24" name="Text 22"/>
          <p:cNvSpPr/>
          <p:nvPr/>
        </p:nvSpPr>
        <p:spPr>
          <a:xfrm>
            <a:off x="3429000" y="2706624"/>
            <a:ext cx="621792" cy="329184"/>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G</a:t>
            </a:r>
            <a:endParaRPr lang="en-US" sz="1400" dirty="0"/>
          </a:p>
        </p:txBody>
      </p:sp>
      <p:sp>
        <p:nvSpPr>
          <p:cNvPr id="25" name="Shape 23"/>
          <p:cNvSpPr/>
          <p:nvPr/>
        </p:nvSpPr>
        <p:spPr>
          <a:xfrm>
            <a:off x="4160520" y="2304288"/>
            <a:ext cx="621792" cy="749808"/>
          </a:xfrm>
          <a:prstGeom prst="rect">
            <a:avLst/>
          </a:prstGeom>
          <a:solidFill>
            <a:srgbClr val="7A2830"/>
          </a:solidFill>
          <a:ln/>
        </p:spPr>
      </p:sp>
      <p:sp>
        <p:nvSpPr>
          <p:cNvPr id="26" name="Text 24"/>
          <p:cNvSpPr/>
          <p:nvPr/>
        </p:nvSpPr>
        <p:spPr>
          <a:xfrm>
            <a:off x="4160520" y="2350008"/>
            <a:ext cx="621792" cy="384048"/>
          </a:xfrm>
          <a:prstGeom prst="rect">
            <a:avLst/>
          </a:prstGeom>
          <a:noFill/>
          <a:ln/>
        </p:spPr>
        <p:txBody>
          <a:bodyPr wrap="square" rtlCol="0" anchor="ctr"/>
          <a:lstStyle/>
          <a:p>
            <a:pPr algn="ctr" indent="0" marL="0">
              <a:buNone/>
            </a:pPr>
            <a:r>
              <a:rPr lang="en-US" sz="1800" b="1" dirty="0">
                <a:solidFill>
                  <a:srgbClr val="C8A020"/>
                </a:solidFill>
                <a:latin typeface="Georgia" pitchFamily="34" charset="0"/>
                <a:ea typeface="Georgia" pitchFamily="34" charset="-122"/>
                <a:cs typeface="Georgia" pitchFamily="34" charset="-120"/>
              </a:rPr>
              <a:t>la</a:t>
            </a:r>
            <a:endParaRPr lang="en-US" sz="1800" dirty="0"/>
          </a:p>
        </p:txBody>
      </p:sp>
      <p:sp>
        <p:nvSpPr>
          <p:cNvPr id="27" name="Text 25"/>
          <p:cNvSpPr/>
          <p:nvPr/>
        </p:nvSpPr>
        <p:spPr>
          <a:xfrm>
            <a:off x="4160520" y="2706624"/>
            <a:ext cx="621792" cy="329184"/>
          </a:xfrm>
          <a:prstGeom prst="rect">
            <a:avLst/>
          </a:prstGeom>
          <a:noFill/>
          <a:ln/>
        </p:spPr>
        <p:txBody>
          <a:bodyPr wrap="square" rtlCol="0" anchor="t"/>
          <a:lstStyle/>
          <a:p>
            <a:pPr algn="ctr" indent="0" marL="0">
              <a:buNone/>
            </a:pPr>
            <a:r>
              <a:rPr lang="en-US" sz="1400" dirty="0">
                <a:solidFill>
                  <a:srgbClr val="FBF5E6"/>
                </a:solidFill>
                <a:latin typeface="Calibri" pitchFamily="34" charset="0"/>
                <a:ea typeface="Calibri" pitchFamily="34" charset="-122"/>
                <a:cs typeface="Calibri" pitchFamily="34" charset="-120"/>
              </a:rPr>
              <a:t>A</a:t>
            </a:r>
            <a:endParaRPr lang="en-US" sz="1400" dirty="0"/>
          </a:p>
        </p:txBody>
      </p:sp>
      <p:sp>
        <p:nvSpPr>
          <p:cNvPr id="28" name="Text 26"/>
          <p:cNvSpPr/>
          <p:nvPr/>
        </p:nvSpPr>
        <p:spPr>
          <a:xfrm>
            <a:off x="411480" y="3154680"/>
            <a:ext cx="4389120" cy="1572768"/>
          </a:xfrm>
          <a:prstGeom prst="rect">
            <a:avLst/>
          </a:prstGeom>
          <a:noFill/>
          <a:ln/>
        </p:spPr>
        <p:txBody>
          <a:bodyPr wrap="square" rtlCol="0" anchor="t"/>
          <a:lstStyle/>
          <a:p>
            <a:pPr indent="0" marL="0">
              <a:buNone/>
            </a:pPr>
            <a:r>
              <a:rPr lang="en-US" sz="1400" dirty="0">
                <a:solidFill>
                  <a:srgbClr val="E8D8A8"/>
                </a:solidFill>
                <a:latin typeface="Calibri" pitchFamily="34" charset="0"/>
                <a:ea typeface="Calibri" pitchFamily="34" charset="-122"/>
                <a:cs typeface="Calibri" pitchFamily="34" charset="-120"/>
              </a:rPr>
              <a:t>* ut 後改為 do (later changed to do)</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唱名法的功能：幫助歌手辨識音程；mi→fa 是半音，其他相鄰音為全音</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Solmization helped singers identify intervals: mi–fa is a semitone, all others are whole tones</a:t>
            </a:r>
            <a:endParaRPr lang="en-US" sz="1400" dirty="0"/>
          </a:p>
        </p:txBody>
      </p:sp>
      <p:sp>
        <p:nvSpPr>
          <p:cNvPr id="29" name="Shape 27"/>
          <p:cNvSpPr/>
          <p:nvPr/>
        </p:nvSpPr>
        <p:spPr>
          <a:xfrm>
            <a:off x="5120640" y="1078992"/>
            <a:ext cx="3749040" cy="3703320"/>
          </a:xfrm>
          <a:prstGeom prst="rect">
            <a:avLst/>
          </a:prstGeom>
          <a:solidFill>
            <a:srgbClr val="3A2015"/>
          </a:solidFill>
          <a:ln/>
        </p:spPr>
      </p:sp>
      <p:sp>
        <p:nvSpPr>
          <p:cNvPr id="30" name="Text 28"/>
          <p:cNvSpPr/>
          <p:nvPr/>
        </p:nvSpPr>
        <p:spPr>
          <a:xfrm>
            <a:off x="5257800" y="1152144"/>
            <a:ext cx="3474720" cy="530352"/>
          </a:xfrm>
          <a:prstGeom prst="rect">
            <a:avLst/>
          </a:prstGeom>
          <a:noFill/>
          <a:ln/>
        </p:spPr>
        <p:txBody>
          <a:bodyPr wrap="square" rtlCol="0" anchor="ctr"/>
          <a:lstStyle/>
          <a:p>
            <a:pPr algn="ctr" indent="0" marL="0">
              <a:buNone/>
            </a:pPr>
            <a:r>
              <a:rPr lang="en-US" sz="1400" b="1" dirty="0">
                <a:solidFill>
                  <a:srgbClr val="C8A020"/>
                </a:solidFill>
                <a:latin typeface="Georgia" pitchFamily="34" charset="0"/>
                <a:ea typeface="Georgia" pitchFamily="34" charset="-122"/>
                <a:cs typeface="Georgia" pitchFamily="34" charset="-120"/>
              </a:rPr>
              <a:t>■ 桂多的貢獻</a:t>
            </a:r>
            <a:endParaRPr lang="en-US" sz="1400" dirty="0"/>
          </a:p>
          <a:p>
            <a:pPr algn="ctr" indent="0" marL="0">
              <a:buNone/>
            </a:pPr>
            <a:r>
              <a:rPr lang="en-US" sz="1400" b="1" dirty="0">
                <a:solidFill>
                  <a:srgbClr val="C8A020"/>
                </a:solidFill>
                <a:latin typeface="Georgia" pitchFamily="34" charset="0"/>
                <a:ea typeface="Georgia" pitchFamily="34" charset="-122"/>
                <a:cs typeface="Georgia" pitchFamily="34" charset="-120"/>
              </a:rPr>
              <a:t>Guido's Achievements</a:t>
            </a:r>
            <a:endParaRPr lang="en-US" sz="1400" dirty="0"/>
          </a:p>
        </p:txBody>
      </p:sp>
      <p:sp>
        <p:nvSpPr>
          <p:cNvPr id="31" name="Shape 29"/>
          <p:cNvSpPr/>
          <p:nvPr/>
        </p:nvSpPr>
        <p:spPr>
          <a:xfrm>
            <a:off x="5440680" y="1700784"/>
            <a:ext cx="3108960" cy="27432"/>
          </a:xfrm>
          <a:prstGeom prst="rect">
            <a:avLst/>
          </a:prstGeom>
          <a:solidFill>
            <a:srgbClr val="C8A020"/>
          </a:solidFill>
          <a:ln/>
        </p:spPr>
      </p:sp>
      <p:sp>
        <p:nvSpPr>
          <p:cNvPr id="32" name="Text 30"/>
          <p:cNvSpPr/>
          <p:nvPr/>
        </p:nvSpPr>
        <p:spPr>
          <a:xfrm>
            <a:off x="5257800" y="1828800"/>
            <a:ext cx="3474720" cy="292608"/>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四線譜 Staff</a:t>
            </a:r>
            <a:endParaRPr lang="en-US" sz="1400" dirty="0"/>
          </a:p>
        </p:txBody>
      </p:sp>
      <p:sp>
        <p:nvSpPr>
          <p:cNvPr id="33" name="Text 31"/>
          <p:cNvSpPr/>
          <p:nvPr/>
        </p:nvSpPr>
        <p:spPr>
          <a:xfrm>
            <a:off x="5257800" y="2139696"/>
            <a:ext cx="3474720" cy="594360"/>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發明現代五線譜前身：四線有色譜（F 線紅、C 線黃）</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Four-line staff with colored F and C clef lines</a:t>
            </a:r>
            <a:endParaRPr lang="en-US" sz="1400" dirty="0"/>
          </a:p>
        </p:txBody>
      </p:sp>
      <p:sp>
        <p:nvSpPr>
          <p:cNvPr id="34" name="Text 32"/>
          <p:cNvSpPr/>
          <p:nvPr/>
        </p:nvSpPr>
        <p:spPr>
          <a:xfrm>
            <a:off x="5257800" y="2788920"/>
            <a:ext cx="3474720" cy="292608"/>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字母譜號 Clefs</a:t>
            </a:r>
            <a:endParaRPr lang="en-US" sz="1400" dirty="0"/>
          </a:p>
        </p:txBody>
      </p:sp>
      <p:sp>
        <p:nvSpPr>
          <p:cNvPr id="35" name="Text 33"/>
          <p:cNvSpPr/>
          <p:nvPr/>
        </p:nvSpPr>
        <p:spPr>
          <a:xfrm>
            <a:off x="5257800" y="3099816"/>
            <a:ext cx="3474720" cy="594360"/>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制訂 A–G 音符字母系統（沿用至今）</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Developed A–G letter names for notes</a:t>
            </a:r>
            <a:endParaRPr lang="en-US" sz="1400" dirty="0"/>
          </a:p>
        </p:txBody>
      </p:sp>
      <p:sp>
        <p:nvSpPr>
          <p:cNvPr id="36" name="Text 34"/>
          <p:cNvSpPr/>
          <p:nvPr/>
        </p:nvSpPr>
        <p:spPr>
          <a:xfrm>
            <a:off x="5257800" y="3749040"/>
            <a:ext cx="3474720" cy="292608"/>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桂多手勢 Hand</a:t>
            </a:r>
            <a:endParaRPr lang="en-US" sz="1400" dirty="0"/>
          </a:p>
        </p:txBody>
      </p:sp>
      <p:sp>
        <p:nvSpPr>
          <p:cNvPr id="37" name="Text 35"/>
          <p:cNvSpPr/>
          <p:nvPr/>
        </p:nvSpPr>
        <p:spPr>
          <a:xfrm>
            <a:off x="5257800" y="4059936"/>
            <a:ext cx="3474720" cy="594360"/>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以左手關節代表音符，視覺化教學工具</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Guidonian hand: mnemonic using finger joints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1810"/>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8A020"/>
          </a:solidFill>
          <a:ln/>
        </p:spPr>
      </p:sp>
      <p:sp>
        <p:nvSpPr>
          <p:cNvPr id="3" name="Shape 1"/>
          <p:cNvSpPr/>
          <p:nvPr/>
        </p:nvSpPr>
        <p:spPr>
          <a:xfrm>
            <a:off x="0" y="5029200"/>
            <a:ext cx="9144000" cy="114300"/>
          </a:xfrm>
          <a:prstGeom prst="rect">
            <a:avLst/>
          </a:prstGeom>
          <a:solidFill>
            <a:srgbClr val="C8A020"/>
          </a:solidFill>
          <a:ln/>
        </p:spPr>
      </p:sp>
      <p:sp>
        <p:nvSpPr>
          <p:cNvPr id="4" name="Text 2"/>
          <p:cNvSpPr/>
          <p:nvPr/>
        </p:nvSpPr>
        <p:spPr>
          <a:xfrm>
            <a:off x="365760" y="164592"/>
            <a:ext cx="8412480" cy="502920"/>
          </a:xfrm>
          <a:prstGeom prst="rect">
            <a:avLst/>
          </a:prstGeom>
          <a:noFill/>
          <a:ln/>
        </p:spPr>
        <p:txBody>
          <a:bodyPr wrap="square" rtlCol="0" anchor="ctr"/>
          <a:lstStyle/>
          <a:p>
            <a:pPr algn="ctr" indent="0" marL="0">
              <a:buNone/>
            </a:pPr>
            <a:r>
              <a:rPr lang="en-US" sz="2600" b="1" dirty="0">
                <a:solidFill>
                  <a:srgbClr val="C8A020"/>
                </a:solidFill>
                <a:latin typeface="Georgia" pitchFamily="34" charset="0"/>
                <a:ea typeface="Georgia" pitchFamily="34" charset="-122"/>
                <a:cs typeface="Georgia" pitchFamily="34" charset="-120"/>
              </a:rPr>
              <a:t>本章重點回顧 Chapter Summary</a:t>
            </a:r>
            <a:endParaRPr lang="en-US" sz="2600" dirty="0"/>
          </a:p>
        </p:txBody>
      </p:sp>
      <p:sp>
        <p:nvSpPr>
          <p:cNvPr id="5" name="Shape 3"/>
          <p:cNvSpPr/>
          <p:nvPr/>
        </p:nvSpPr>
        <p:spPr>
          <a:xfrm>
            <a:off x="1371600" y="694944"/>
            <a:ext cx="6400800" cy="36576"/>
          </a:xfrm>
          <a:prstGeom prst="rect">
            <a:avLst/>
          </a:prstGeom>
          <a:solidFill>
            <a:srgbClr val="C8A020"/>
          </a:solidFill>
          <a:ln/>
        </p:spPr>
      </p:sp>
      <p:sp>
        <p:nvSpPr>
          <p:cNvPr id="6" name="Shape 4"/>
          <p:cNvSpPr/>
          <p:nvPr/>
        </p:nvSpPr>
        <p:spPr>
          <a:xfrm>
            <a:off x="274320" y="804672"/>
            <a:ext cx="8595360" cy="585216"/>
          </a:xfrm>
          <a:prstGeom prst="rect">
            <a:avLst/>
          </a:prstGeom>
          <a:solidFill>
            <a:srgbClr val="3A2015"/>
          </a:solidFill>
          <a:ln/>
        </p:spPr>
      </p:sp>
      <p:sp>
        <p:nvSpPr>
          <p:cNvPr id="7" name="Text 5"/>
          <p:cNvSpPr/>
          <p:nvPr/>
        </p:nvSpPr>
        <p:spPr>
          <a:xfrm>
            <a:off x="365760" y="868680"/>
            <a:ext cx="50292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960120" y="841248"/>
            <a:ext cx="7772400" cy="512064"/>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基督教脫胎於猶太傳統（詩篇、吟誦），在羅馬帝國中傳播，313 CE 合法化，392 CE 成為官方宗教</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Christianity grew from Jewish roots (psalms, cantillation), spread through Rome, legalized 313, official religion 392</a:t>
            </a:r>
            <a:endParaRPr lang="en-US" sz="1400" dirty="0"/>
          </a:p>
        </p:txBody>
      </p:sp>
      <p:sp>
        <p:nvSpPr>
          <p:cNvPr id="9" name="Shape 7"/>
          <p:cNvSpPr/>
          <p:nvPr/>
        </p:nvSpPr>
        <p:spPr>
          <a:xfrm>
            <a:off x="274320" y="1481328"/>
            <a:ext cx="8595360" cy="585216"/>
          </a:xfrm>
          <a:prstGeom prst="rect">
            <a:avLst/>
          </a:prstGeom>
          <a:solidFill>
            <a:srgbClr val="3A2015"/>
          </a:solidFill>
          <a:ln/>
        </p:spPr>
      </p:sp>
      <p:sp>
        <p:nvSpPr>
          <p:cNvPr id="10" name="Text 8"/>
          <p:cNvSpPr/>
          <p:nvPr/>
        </p:nvSpPr>
        <p:spPr>
          <a:xfrm>
            <a:off x="365760" y="1545336"/>
            <a:ext cx="50292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960120" y="1517904"/>
            <a:ext cx="7772400" cy="512064"/>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早期教會以單聲部演唱為主；樂器被排除在禮拜之外超過一千年</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Early church favored monophonic singing; instruments excluded from worship for over a millennium</a:t>
            </a:r>
            <a:endParaRPr lang="en-US" sz="1400" dirty="0"/>
          </a:p>
        </p:txBody>
      </p:sp>
      <p:sp>
        <p:nvSpPr>
          <p:cNvPr id="12" name="Shape 10"/>
          <p:cNvSpPr/>
          <p:nvPr/>
        </p:nvSpPr>
        <p:spPr>
          <a:xfrm>
            <a:off x="274320" y="2157984"/>
            <a:ext cx="8595360" cy="585216"/>
          </a:xfrm>
          <a:prstGeom prst="rect">
            <a:avLst/>
          </a:prstGeom>
          <a:solidFill>
            <a:srgbClr val="3A2015"/>
          </a:solidFill>
          <a:ln/>
        </p:spPr>
      </p:sp>
      <p:sp>
        <p:nvSpPr>
          <p:cNvPr id="13" name="Text 11"/>
          <p:cNvSpPr/>
          <p:nvPr/>
        </p:nvSpPr>
        <p:spPr>
          <a:xfrm>
            <a:off x="365760" y="2221992"/>
            <a:ext cx="50292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Text 12"/>
          <p:cNvSpPr/>
          <p:nvPr/>
        </p:nvSpPr>
        <p:spPr>
          <a:xfrm>
            <a:off x="960120" y="2194560"/>
            <a:ext cx="7772400" cy="512064"/>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東西方教會在儀式、語言（希臘文 vs. 拉丁文）、聖詠方言上逐漸分歧；1054 正式分裂</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Eastern and Western churches diverged in rite, language, and chant dialects; final split 1054</a:t>
            </a:r>
            <a:endParaRPr lang="en-US" sz="1400" dirty="0"/>
          </a:p>
        </p:txBody>
      </p:sp>
      <p:sp>
        <p:nvSpPr>
          <p:cNvPr id="15" name="Shape 13"/>
          <p:cNvSpPr/>
          <p:nvPr/>
        </p:nvSpPr>
        <p:spPr>
          <a:xfrm>
            <a:off x="274320" y="2834640"/>
            <a:ext cx="8595360" cy="585216"/>
          </a:xfrm>
          <a:prstGeom prst="rect">
            <a:avLst/>
          </a:prstGeom>
          <a:solidFill>
            <a:srgbClr val="3A2015"/>
          </a:solidFill>
          <a:ln/>
        </p:spPr>
      </p:sp>
      <p:sp>
        <p:nvSpPr>
          <p:cNvPr id="16" name="Text 14"/>
          <p:cNvSpPr/>
          <p:nvPr/>
        </p:nvSpPr>
        <p:spPr>
          <a:xfrm>
            <a:off x="365760" y="2898648"/>
            <a:ext cx="50292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960120" y="2871216"/>
            <a:ext cx="7772400" cy="512064"/>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格里高利聖詠在法蘭克王國支持下統一西歐禮拜音樂，成為西方音樂最重要的基礎</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Gregorian chant unified Western church music with Frankish support; became the foundation of Western music</a:t>
            </a:r>
            <a:endParaRPr lang="en-US" sz="1400" dirty="0"/>
          </a:p>
        </p:txBody>
      </p:sp>
      <p:sp>
        <p:nvSpPr>
          <p:cNvPr id="18" name="Shape 16"/>
          <p:cNvSpPr/>
          <p:nvPr/>
        </p:nvSpPr>
        <p:spPr>
          <a:xfrm>
            <a:off x="274320" y="3511296"/>
            <a:ext cx="8595360" cy="585216"/>
          </a:xfrm>
          <a:prstGeom prst="rect">
            <a:avLst/>
          </a:prstGeom>
          <a:solidFill>
            <a:srgbClr val="3A2015"/>
          </a:solidFill>
          <a:ln/>
        </p:spPr>
      </p:sp>
      <p:sp>
        <p:nvSpPr>
          <p:cNvPr id="19" name="Text 17"/>
          <p:cNvSpPr/>
          <p:nvPr/>
        </p:nvSpPr>
        <p:spPr>
          <a:xfrm>
            <a:off x="365760" y="3575304"/>
            <a:ext cx="50292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960120" y="3547872"/>
            <a:ext cx="7772400" cy="512064"/>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記譜法從口傳→紐姆→有高度紐姆→四線譜；桂多的發明使音樂可以「視唱」</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Notation evolved from oral→neumes→heighted neumes→Guido's 4-line staff; sight-reading became possible</a:t>
            </a:r>
            <a:endParaRPr lang="en-US" sz="1400" dirty="0"/>
          </a:p>
        </p:txBody>
      </p:sp>
      <p:sp>
        <p:nvSpPr>
          <p:cNvPr id="21" name="Shape 19"/>
          <p:cNvSpPr/>
          <p:nvPr/>
        </p:nvSpPr>
        <p:spPr>
          <a:xfrm>
            <a:off x="274320" y="4187952"/>
            <a:ext cx="8595360" cy="585216"/>
          </a:xfrm>
          <a:prstGeom prst="rect">
            <a:avLst/>
          </a:prstGeom>
          <a:solidFill>
            <a:srgbClr val="3A2015"/>
          </a:solidFill>
          <a:ln/>
        </p:spPr>
      </p:sp>
      <p:sp>
        <p:nvSpPr>
          <p:cNvPr id="22" name="Text 20"/>
          <p:cNvSpPr/>
          <p:nvPr/>
        </p:nvSpPr>
        <p:spPr>
          <a:xfrm>
            <a:off x="365760" y="4251960"/>
            <a:ext cx="502920"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960120" y="4224528"/>
            <a:ext cx="7772400" cy="512064"/>
          </a:xfrm>
          <a:prstGeom prst="rect">
            <a:avLst/>
          </a:prstGeom>
          <a:noFill/>
          <a:ln/>
        </p:spPr>
        <p:txBody>
          <a:bodyPr wrap="square" lIns="0" tIns="0" rIns="0" bIns="0" rtlCol="0" anchor="t"/>
          <a:lstStyle/>
          <a:p>
            <a:pPr indent="0" marL="0">
              <a:buNone/>
            </a:pPr>
            <a:r>
              <a:rPr lang="en-US" sz="1400" dirty="0">
                <a:solidFill>
                  <a:srgbClr val="E8D8A8"/>
                </a:solidFill>
                <a:latin typeface="Calibri" pitchFamily="34" charset="0"/>
                <a:ea typeface="Calibri" pitchFamily="34" charset="-122"/>
                <a:cs typeface="Calibri" pitchFamily="34" charset="-120"/>
              </a:rPr>
              <a:t>波愛修斯的三種音樂分類與教會八種調式奠定了中世紀音樂理論的基礎，影響延續到文藝復興</a:t>
            </a:r>
            <a:endParaRPr lang="en-US" sz="1400" dirty="0"/>
          </a:p>
          <a:p>
            <a:pPr indent="0" marL="0">
              <a:buNone/>
            </a:pPr>
            <a:r>
              <a:rPr lang="en-US" sz="1400" dirty="0">
                <a:solidFill>
                  <a:srgbClr val="E8D8A8"/>
                </a:solidFill>
                <a:latin typeface="Calibri" pitchFamily="34" charset="0"/>
                <a:ea typeface="Calibri" pitchFamily="34" charset="-122"/>
                <a:cs typeface="Calibri" pitchFamily="34" charset="-120"/>
              </a:rPr>
              <a:t>Boethius's three types of music and the 8 church modes formed the basis of medieval theory into the Renaissance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6"/>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7A2830"/>
          </a:solidFill>
          <a:ln/>
        </p:spPr>
      </p:sp>
      <p:sp>
        <p:nvSpPr>
          <p:cNvPr id="3" name="Shape 1"/>
          <p:cNvSpPr/>
          <p:nvPr/>
        </p:nvSpPr>
        <p:spPr>
          <a:xfrm>
            <a:off x="0" y="5029200"/>
            <a:ext cx="9144000" cy="114300"/>
          </a:xfrm>
          <a:prstGeom prst="rect">
            <a:avLst/>
          </a:prstGeom>
          <a:solidFill>
            <a:srgbClr val="7A2830"/>
          </a:solidFill>
          <a:ln/>
        </p:spPr>
      </p:sp>
      <p:sp>
        <p:nvSpPr>
          <p:cNvPr id="4" name="Text 2"/>
          <p:cNvSpPr/>
          <p:nvPr/>
        </p:nvSpPr>
        <p:spPr>
          <a:xfrm>
            <a:off x="365760" y="182880"/>
            <a:ext cx="8412480" cy="658368"/>
          </a:xfrm>
          <a:prstGeom prst="rect">
            <a:avLst/>
          </a:prstGeom>
          <a:noFill/>
          <a:ln/>
        </p:spPr>
        <p:txBody>
          <a:bodyPr wrap="square" lIns="0" tIns="0" rIns="0" bIns="0" rtlCol="0" anchor="ctr"/>
          <a:lstStyle/>
          <a:p>
            <a:pPr indent="0" marL="0">
              <a:buNone/>
            </a:pPr>
            <a:r>
              <a:rPr lang="en-US" sz="2200" b="1" dirty="0">
                <a:solidFill>
                  <a:srgbClr val="7A2830"/>
                </a:solidFill>
                <a:latin typeface="Georgia" pitchFamily="34" charset="0"/>
                <a:ea typeface="Georgia" pitchFamily="34" charset="-122"/>
                <a:cs typeface="Georgia" pitchFamily="34" charset="-120"/>
              </a:rPr>
              <a:t>延伸閱讀與補充教材</a:t>
            </a:r>
            <a:endParaRPr lang="en-US" sz="2200" dirty="0"/>
          </a:p>
          <a:p>
            <a:pPr indent="0" marL="0">
              <a:buNone/>
            </a:pPr>
            <a:r>
              <a:rPr lang="en-US" sz="2200" b="1" dirty="0">
                <a:solidFill>
                  <a:srgbClr val="7A2830"/>
                </a:solidFill>
                <a:latin typeface="Georgia" pitchFamily="34" charset="0"/>
                <a:ea typeface="Georgia" pitchFamily="34" charset="-122"/>
                <a:cs typeface="Georgia" pitchFamily="34" charset="-120"/>
              </a:rPr>
              <a:t>Further Reading &amp; Supplementary Resources</a:t>
            </a:r>
            <a:endParaRPr lang="en-US" sz="2200" dirty="0"/>
          </a:p>
        </p:txBody>
      </p:sp>
      <p:sp>
        <p:nvSpPr>
          <p:cNvPr id="5" name="Shape 3"/>
          <p:cNvSpPr/>
          <p:nvPr/>
        </p:nvSpPr>
        <p:spPr>
          <a:xfrm>
            <a:off x="365760" y="868680"/>
            <a:ext cx="8412480" cy="27432"/>
          </a:xfrm>
          <a:prstGeom prst="rect">
            <a:avLst/>
          </a:prstGeom>
          <a:solidFill>
            <a:srgbClr val="E8D8A8"/>
          </a:solidFill>
          <a:ln/>
        </p:spPr>
      </p:sp>
      <p:sp>
        <p:nvSpPr>
          <p:cNvPr id="6" name="Shape 4"/>
          <p:cNvSpPr/>
          <p:nvPr/>
        </p:nvSpPr>
        <p:spPr>
          <a:xfrm>
            <a:off x="365760" y="960120"/>
            <a:ext cx="3931920" cy="2606040"/>
          </a:xfrm>
          <a:prstGeom prst="rect">
            <a:avLst/>
          </a:prstGeom>
          <a:solidFill>
            <a:srgbClr val="7A2830"/>
          </a:solidFill>
          <a:ln/>
        </p:spPr>
      </p:sp>
      <p:sp>
        <p:nvSpPr>
          <p:cNvPr id="7" name="Text 5"/>
          <p:cNvSpPr/>
          <p:nvPr/>
        </p:nvSpPr>
        <p:spPr>
          <a:xfrm>
            <a:off x="502920" y="1051560"/>
            <a:ext cx="3657600" cy="36576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聆聽 YouTube</a:t>
            </a:r>
            <a:endParaRPr lang="en-US" sz="1400" dirty="0"/>
          </a:p>
        </p:txBody>
      </p:sp>
      <p:sp>
        <p:nvSpPr>
          <p:cNvPr id="8" name="Text 6"/>
          <p:cNvSpPr/>
          <p:nvPr/>
        </p:nvSpPr>
        <p:spPr>
          <a:xfrm>
            <a:off x="502920" y="1508760"/>
            <a:ext cx="3657600" cy="1965960"/>
          </a:xfrm>
          <a:prstGeom prst="rect">
            <a:avLst/>
          </a:prstGeom>
          <a:noFill/>
          <a:ln/>
        </p:spPr>
        <p:txBody>
          <a:bodyPr wrap="square" lIns="0" tIns="0" rIns="0" bIns="0" rtlCol="0" anchor="t"/>
          <a:lstStyle/>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Gregorian — Viderunt omnes</a:t>
            </a:r>
            <a:endParaRPr lang="en-US" sz="1400" dirty="0"/>
          </a:p>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youtu.be/uvC0NGmpuFY</a:t>
            </a:r>
            <a:endParaRPr lang="en-US" sz="1400" dirty="0"/>
          </a:p>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Hildegard — O Virtus Sapientiae</a:t>
            </a:r>
            <a:endParaRPr lang="en-US" sz="1400" dirty="0"/>
          </a:p>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youtu.be/77M2pkkdH10</a:t>
            </a:r>
            <a:endParaRPr lang="en-US" sz="1400" dirty="0"/>
          </a:p>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Byzantine — Cherubic Hymn</a:t>
            </a:r>
            <a:endParaRPr lang="en-US" sz="1400" dirty="0"/>
          </a:p>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youtu.be/PqYUu7uGXjs</a:t>
            </a:r>
            <a:endParaRPr lang="en-US" sz="1400" dirty="0"/>
          </a:p>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Ambrosian — Lucernario</a:t>
            </a:r>
            <a:endParaRPr lang="en-US" sz="1400" dirty="0"/>
          </a:p>
          <a:p>
            <a:pPr indent="0" marL="0">
              <a:spcAft>
                <a:spcPts val="100"/>
              </a:spcAft>
              <a:buNone/>
            </a:pPr>
            <a:r>
              <a:rPr lang="en-US" sz="1400" dirty="0">
                <a:solidFill>
                  <a:srgbClr val="FBF5E6"/>
                </a:solidFill>
                <a:latin typeface="Calibri" pitchFamily="34" charset="0"/>
                <a:ea typeface="Calibri" pitchFamily="34" charset="-122"/>
                <a:cs typeface="Calibri" pitchFamily="34" charset="-120"/>
              </a:rPr>
              <a:t>Guido — Ut queant laxis</a:t>
            </a:r>
            <a:endParaRPr lang="en-US" sz="1400" dirty="0"/>
          </a:p>
        </p:txBody>
      </p:sp>
      <p:sp>
        <p:nvSpPr>
          <p:cNvPr id="9" name="Shape 7"/>
          <p:cNvSpPr/>
          <p:nvPr/>
        </p:nvSpPr>
        <p:spPr>
          <a:xfrm>
            <a:off x="4480560" y="960120"/>
            <a:ext cx="4297680" cy="2606040"/>
          </a:xfrm>
          <a:prstGeom prst="rect">
            <a:avLst/>
          </a:prstGeom>
          <a:solidFill>
            <a:srgbClr val="A84030"/>
          </a:solidFill>
          <a:ln/>
        </p:spPr>
      </p:sp>
      <p:sp>
        <p:nvSpPr>
          <p:cNvPr id="10" name="Text 8"/>
          <p:cNvSpPr/>
          <p:nvPr/>
        </p:nvSpPr>
        <p:spPr>
          <a:xfrm>
            <a:off x="4617720" y="1051560"/>
            <a:ext cx="4023360" cy="36576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閱讀 Read</a:t>
            </a:r>
            <a:endParaRPr lang="en-US" sz="1400" dirty="0"/>
          </a:p>
        </p:txBody>
      </p:sp>
      <p:sp>
        <p:nvSpPr>
          <p:cNvPr id="11" name="Text 9"/>
          <p:cNvSpPr/>
          <p:nvPr/>
        </p:nvSpPr>
        <p:spPr>
          <a:xfrm>
            <a:off x="4617720" y="1508760"/>
            <a:ext cx="4023360" cy="19659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FBF5E6"/>
                </a:solidFill>
                <a:latin typeface="Calibri" pitchFamily="34" charset="0"/>
                <a:ea typeface="Calibri" pitchFamily="34" charset="-122"/>
                <a:cs typeface="Calibri" pitchFamily="34" charset="-120"/>
              </a:rPr>
              <a:t>Wikipedia: Gregorian chant</a:t>
            </a:r>
            <a:endParaRPr lang="en-US" sz="1400" dirty="0"/>
          </a:p>
          <a:p>
            <a:pPr marL="342900" indent="-342900">
              <a:spcAft>
                <a:spcPts val="600"/>
              </a:spcAft>
              <a:buSzPct val="100000"/>
              <a:buChar char="•"/>
            </a:pPr>
            <a:r>
              <a:rPr lang="en-US" sz="1400" dirty="0">
                <a:solidFill>
                  <a:srgbClr val="FBF5E6"/>
                </a:solidFill>
                <a:latin typeface="Calibri" pitchFamily="34" charset="0"/>
                <a:ea typeface="Calibri" pitchFamily="34" charset="-122"/>
                <a:cs typeface="Calibri" pitchFamily="34" charset="-120"/>
              </a:rPr>
              <a:t>Stanford: Medieval Music Theory</a:t>
            </a:r>
            <a:endParaRPr lang="en-US" sz="1400" dirty="0"/>
          </a:p>
          <a:p>
            <a:pPr marL="342900" indent="-342900">
              <a:spcAft>
                <a:spcPts val="600"/>
              </a:spcAft>
              <a:buSzPct val="100000"/>
              <a:buChar char="•"/>
            </a:pPr>
            <a:r>
              <a:rPr lang="en-US" sz="1400" dirty="0">
                <a:solidFill>
                  <a:srgbClr val="FBF5E6"/>
                </a:solidFill>
                <a:latin typeface="Calibri" pitchFamily="34" charset="0"/>
                <a:ea typeface="Calibri" pitchFamily="34" charset="-122"/>
                <a:cs typeface="Calibri" pitchFamily="34" charset="-120"/>
              </a:rPr>
              <a:t>CPDL: chant scores</a:t>
            </a:r>
            <a:endParaRPr lang="en-US" sz="1400" dirty="0"/>
          </a:p>
          <a:p>
            <a:pPr marL="342900" indent="-342900">
              <a:spcAft>
                <a:spcPts val="600"/>
              </a:spcAft>
              <a:buSzPct val="100000"/>
              <a:buChar char="•"/>
            </a:pPr>
            <a:r>
              <a:rPr lang="en-US" sz="1400" dirty="0">
                <a:solidFill>
                  <a:srgbClr val="FBF5E6"/>
                </a:solidFill>
                <a:latin typeface="Calibri" pitchFamily="34" charset="0"/>
                <a:ea typeface="Calibri" pitchFamily="34" charset="-122"/>
                <a:cs typeface="Calibri" pitchFamily="34" charset="-120"/>
              </a:rPr>
              <a:t>Boethius, De institutione musica</a:t>
            </a:r>
            <a:endParaRPr lang="en-US" sz="1400" dirty="0"/>
          </a:p>
          <a:p>
            <a:pPr marL="342900" indent="-342900">
              <a:spcAft>
                <a:spcPts val="600"/>
              </a:spcAft>
              <a:buSzPct val="100000"/>
              <a:buChar char="•"/>
            </a:pPr>
            <a:r>
              <a:rPr lang="en-US" sz="1400" dirty="0">
                <a:solidFill>
                  <a:srgbClr val="FBF5E6"/>
                </a:solidFill>
                <a:latin typeface="Calibri" pitchFamily="34" charset="0"/>
                <a:ea typeface="Calibri" pitchFamily="34" charset="-122"/>
                <a:cs typeface="Calibri" pitchFamily="34" charset="-120"/>
              </a:rPr>
              <a:t>Guido of Arezzo, Micrologus</a:t>
            </a:r>
            <a:endParaRPr lang="en-US" sz="1400" dirty="0"/>
          </a:p>
        </p:txBody>
      </p:sp>
      <p:sp>
        <p:nvSpPr>
          <p:cNvPr id="12" name="Shape 10"/>
          <p:cNvSpPr/>
          <p:nvPr/>
        </p:nvSpPr>
        <p:spPr>
          <a:xfrm>
            <a:off x="365760" y="3657600"/>
            <a:ext cx="8412480" cy="1280160"/>
          </a:xfrm>
          <a:prstGeom prst="rect">
            <a:avLst/>
          </a:prstGeom>
          <a:solidFill>
            <a:srgbClr val="5C3A28"/>
          </a:solidFill>
          <a:ln/>
        </p:spPr>
      </p:sp>
      <p:sp>
        <p:nvSpPr>
          <p:cNvPr id="13" name="Text 11"/>
          <p:cNvSpPr/>
          <p:nvPr/>
        </p:nvSpPr>
        <p:spPr>
          <a:xfrm>
            <a:off x="548640" y="3703320"/>
            <a:ext cx="8046720" cy="320040"/>
          </a:xfrm>
          <a:prstGeom prst="rect">
            <a:avLst/>
          </a:prstGeom>
          <a:noFill/>
          <a:ln/>
        </p:spPr>
        <p:txBody>
          <a:bodyPr wrap="square" lIns="0" tIns="0" rIns="0" bIns="0" rtlCol="0" anchor="ctr"/>
          <a:lstStyle/>
          <a:p>
            <a:pPr indent="0" marL="0">
              <a:buNone/>
            </a:pPr>
            <a:r>
              <a:rPr lang="en-US" sz="1400" b="1" dirty="0">
                <a:solidFill>
                  <a:srgbClr val="C8A020"/>
                </a:solidFill>
                <a:latin typeface="Georgia" pitchFamily="34" charset="0"/>
                <a:ea typeface="Georgia" pitchFamily="34" charset="-122"/>
                <a:cs typeface="Georgia" pitchFamily="34" charset="-120"/>
              </a:rPr>
              <a:t>■ 本章關鍵術語 Key Terms</a:t>
            </a:r>
            <a:endParaRPr lang="en-US" sz="1400" dirty="0"/>
          </a:p>
        </p:txBody>
      </p:sp>
      <p:sp>
        <p:nvSpPr>
          <p:cNvPr id="14" name="Text 12"/>
          <p:cNvSpPr/>
          <p:nvPr/>
        </p:nvSpPr>
        <p:spPr>
          <a:xfrm>
            <a:off x="548640" y="4041648"/>
            <a:ext cx="8046720" cy="868680"/>
          </a:xfrm>
          <a:prstGeom prst="rect">
            <a:avLst/>
          </a:prstGeom>
          <a:noFill/>
          <a:ln/>
        </p:spPr>
        <p:txBody>
          <a:bodyPr wrap="square" lIns="0" tIns="0" rIns="0" bIns="0" rtlCol="0" anchor="t"/>
          <a:lstStyle/>
          <a:p>
            <a:pPr indent="0" marL="0">
              <a:buNone/>
            </a:pPr>
            <a:r>
              <a:rPr lang="en-US" sz="1400" dirty="0">
                <a:solidFill>
                  <a:srgbClr val="FBF5E6"/>
                </a:solidFill>
                <a:latin typeface="Calibri" pitchFamily="34" charset="0"/>
                <a:ea typeface="Calibri" pitchFamily="34" charset="-122"/>
                <a:cs typeface="Calibri" pitchFamily="34" charset="-120"/>
              </a:rPr>
              <a:t>Psalm 詩篇 · Cantillation 吟誦 · Gregorian Chant 格里高利聖詠 · Plainchant 平唱 · Rite 儀式 · Liturgy 禮拜儀式 · Neumes 紐姆符號 · Mode 調式 · Final 最終音 · Authentic 正格 · Plagal 變格 · Solmization 唱名法</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The Christian Church in the First Millennium</dc:title>
  <dc:subject>PptxGenJS Presentation</dc:subject>
  <dc:creator>A History of Western Music, 10th ed.</dc:creator>
  <cp:lastModifiedBy>A History of Western Music, 10th ed.</cp:lastModifiedBy>
  <cp:revision>1</cp:revision>
  <dcterms:created xsi:type="dcterms:W3CDTF">2026-04-17T16:39:29Z</dcterms:created>
  <dcterms:modified xsi:type="dcterms:W3CDTF">2026-04-17T16:39:29Z</dcterms:modified>
</cp:coreProperties>
</file>