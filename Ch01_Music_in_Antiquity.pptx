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C18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37160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01768"/>
            <a:ext cx="9144000" cy="141732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4114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spc="300" kern="0" dirty="0">
                <a:solidFill>
                  <a:srgbClr val="E8D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HISTORY OF WESTERN MUSIC · TENTH EDITION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82296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spc="600" kern="0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CHAPTER 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1371600"/>
            <a:ext cx="82296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BF5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MUSIC IN ANTIQUITY</a:t>
            </a:r>
            <a:endParaRPr lang="en-US" sz="5200" dirty="0"/>
          </a:p>
        </p:txBody>
      </p:sp>
      <p:sp>
        <p:nvSpPr>
          <p:cNvPr id="7" name="Shape 5"/>
          <p:cNvSpPr/>
          <p:nvPr/>
        </p:nvSpPr>
        <p:spPr>
          <a:xfrm>
            <a:off x="2286000" y="2651760"/>
            <a:ext cx="4572000" cy="36576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27889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E8D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Prehistoric Civilizations · Mesopotamia · Ancient Greece · Rome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57200" y="43891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8A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Textbook pp. 4–19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5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7A283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7A283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8288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7A28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本章概覽 Chapter Overview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365760" y="749808"/>
            <a:ext cx="8412480" cy="27432"/>
          </a:xfrm>
          <a:prstGeom prst="rect">
            <a:avLst/>
          </a:prstGeom>
          <a:solidFill>
            <a:srgbClr val="E8D8A8"/>
          </a:solidFill>
          <a:ln/>
        </p:spPr>
      </p:sp>
      <p:sp>
        <p:nvSpPr>
          <p:cNvPr id="6" name="Shape 4"/>
          <p:cNvSpPr/>
          <p:nvPr/>
        </p:nvSpPr>
        <p:spPr>
          <a:xfrm>
            <a:off x="365760" y="914400"/>
            <a:ext cx="548640" cy="594360"/>
          </a:xfrm>
          <a:prstGeom prst="rect">
            <a:avLst/>
          </a:prstGeom>
          <a:solidFill>
            <a:srgbClr val="7A2830"/>
          </a:solidFill>
          <a:ln/>
        </p:spPr>
      </p:sp>
      <p:sp>
        <p:nvSpPr>
          <p:cNvPr id="7" name="Text 5"/>
          <p:cNvSpPr/>
          <p:nvPr/>
        </p:nvSpPr>
        <p:spPr>
          <a:xfrm>
            <a:off x="365760" y="960120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■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051560" y="914400"/>
            <a:ext cx="76809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C181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最早的音樂 The Earliest Music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051560" y="1197864"/>
            <a:ext cx="7680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C3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史前時期 40,000 BCE 起的骨笛與壁畫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365760" y="1737360"/>
            <a:ext cx="548640" cy="594360"/>
          </a:xfrm>
          <a:prstGeom prst="rect">
            <a:avLst/>
          </a:prstGeom>
          <a:solidFill>
            <a:srgbClr val="7A2830"/>
          </a:solidFill>
          <a:ln/>
        </p:spPr>
      </p:sp>
      <p:sp>
        <p:nvSpPr>
          <p:cNvPr id="11" name="Text 9"/>
          <p:cNvSpPr/>
          <p:nvPr/>
        </p:nvSpPr>
        <p:spPr>
          <a:xfrm>
            <a:off x="365760" y="1783080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■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1051560" y="1737360"/>
            <a:ext cx="76809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C181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古美索不達米亞 Ancient Mesopotamia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051560" y="2020824"/>
            <a:ext cx="7680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C3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蘇美文明、第一位作曲家、最早的記譜法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365760" y="2560320"/>
            <a:ext cx="548640" cy="594360"/>
          </a:xfrm>
          <a:prstGeom prst="rect">
            <a:avLst/>
          </a:prstGeom>
          <a:solidFill>
            <a:srgbClr val="7A2830"/>
          </a:solidFill>
          <a:ln/>
        </p:spPr>
      </p:sp>
      <p:sp>
        <p:nvSpPr>
          <p:cNvPr id="15" name="Text 13"/>
          <p:cNvSpPr/>
          <p:nvPr/>
        </p:nvSpPr>
        <p:spPr>
          <a:xfrm>
            <a:off x="365760" y="2606040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■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1051560" y="2560320"/>
            <a:ext cx="76809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C181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古希臘 Ancient Greece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051560" y="2843784"/>
            <a:ext cx="7680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C3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樂器、哲學、倫理學說、音樂理論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365760" y="3383280"/>
            <a:ext cx="548640" cy="594360"/>
          </a:xfrm>
          <a:prstGeom prst="rect">
            <a:avLst/>
          </a:prstGeom>
          <a:solidFill>
            <a:srgbClr val="7A2830"/>
          </a:solidFill>
          <a:ln/>
        </p:spPr>
      </p:sp>
      <p:sp>
        <p:nvSpPr>
          <p:cNvPr id="19" name="Text 17"/>
          <p:cNvSpPr/>
          <p:nvPr/>
        </p:nvSpPr>
        <p:spPr>
          <a:xfrm>
            <a:off x="365760" y="3429000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■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1051560" y="3383280"/>
            <a:ext cx="76809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C181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古羅馬 Ancient Rome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1051560" y="3666744"/>
            <a:ext cx="7680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C3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從希臘繼承的音樂傳統與羅馬的發展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365760" y="4206240"/>
            <a:ext cx="548640" cy="594360"/>
          </a:xfrm>
          <a:prstGeom prst="rect">
            <a:avLst/>
          </a:prstGeom>
          <a:solidFill>
            <a:srgbClr val="7A2830"/>
          </a:solidFill>
          <a:ln/>
        </p:spPr>
      </p:sp>
      <p:sp>
        <p:nvSpPr>
          <p:cNvPr id="23" name="Text 21"/>
          <p:cNvSpPr/>
          <p:nvPr/>
        </p:nvSpPr>
        <p:spPr>
          <a:xfrm>
            <a:off x="365760" y="4251960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■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1051560" y="4206240"/>
            <a:ext cx="76809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C181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希臘遺產 The Greek Heritage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1051560" y="4489704"/>
            <a:ext cx="7680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C3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西方音樂思想的奠基石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BF5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A8403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A8403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84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如何研究古代音樂？How We Study Music of the Past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713232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4A3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音樂是聲音，聲音本質上是短暫的。我們依靠四種歷史痕跡 (historical traces) 重建過去的音樂。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365760" y="1188720"/>
            <a:ext cx="1965960" cy="3474720"/>
          </a:xfrm>
          <a:prstGeom prst="rect">
            <a:avLst/>
          </a:prstGeom>
          <a:solidFill>
            <a:srgbClr val="7A2830"/>
          </a:solidFill>
          <a:ln/>
        </p:spPr>
      </p:sp>
      <p:sp>
        <p:nvSpPr>
          <p:cNvPr id="7" name="Text 5"/>
          <p:cNvSpPr/>
          <p:nvPr/>
        </p:nvSpPr>
        <p:spPr>
          <a:xfrm>
            <a:off x="365760" y="1280160"/>
            <a:ext cx="1965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①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457200" y="1965960"/>
            <a:ext cx="17830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BF5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實物遺存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FBF5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Physical Remains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2788920"/>
            <a:ext cx="1417320" cy="27432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880360"/>
            <a:ext cx="178308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樂器、演奏場所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(e.g. 骨笛、豎琴、劇場)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2514600" y="1188720"/>
            <a:ext cx="1965960" cy="3474720"/>
          </a:xfrm>
          <a:prstGeom prst="rect">
            <a:avLst/>
          </a:prstGeom>
          <a:solidFill>
            <a:srgbClr val="7A2830"/>
          </a:solidFill>
          <a:ln/>
        </p:spPr>
      </p:sp>
      <p:sp>
        <p:nvSpPr>
          <p:cNvPr id="12" name="Text 10"/>
          <p:cNvSpPr/>
          <p:nvPr/>
        </p:nvSpPr>
        <p:spPr>
          <a:xfrm>
            <a:off x="2514600" y="1280160"/>
            <a:ext cx="1965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②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2606040" y="1965960"/>
            <a:ext cx="17830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BF5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視覺圖像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FBF5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Visual Images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2788920" y="2788920"/>
            <a:ext cx="1417320" cy="27432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15" name="Text 13"/>
          <p:cNvSpPr/>
          <p:nvPr/>
        </p:nvSpPr>
        <p:spPr>
          <a:xfrm>
            <a:off x="2606040" y="2880360"/>
            <a:ext cx="178308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陶器、壁畫上的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演奏場景描繪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663440" y="1188720"/>
            <a:ext cx="1965960" cy="3474720"/>
          </a:xfrm>
          <a:prstGeom prst="rect">
            <a:avLst/>
          </a:prstGeom>
          <a:solidFill>
            <a:srgbClr val="7A2830"/>
          </a:solidFill>
          <a:ln/>
        </p:spPr>
      </p:sp>
      <p:sp>
        <p:nvSpPr>
          <p:cNvPr id="17" name="Text 15"/>
          <p:cNvSpPr/>
          <p:nvPr/>
        </p:nvSpPr>
        <p:spPr>
          <a:xfrm>
            <a:off x="4663440" y="1280160"/>
            <a:ext cx="1965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③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4754880" y="1965960"/>
            <a:ext cx="17830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BF5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文字記述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FBF5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Written Sources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937760" y="2788920"/>
            <a:ext cx="1417320" cy="27432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20" name="Text 18"/>
          <p:cNvSpPr/>
          <p:nvPr/>
        </p:nvSpPr>
        <p:spPr>
          <a:xfrm>
            <a:off x="4754880" y="2880360"/>
            <a:ext cx="178308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關於音樂與音樂家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的哲學與理論著作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6812280" y="1188720"/>
            <a:ext cx="1965960" cy="3474720"/>
          </a:xfrm>
          <a:prstGeom prst="rect">
            <a:avLst/>
          </a:prstGeom>
          <a:solidFill>
            <a:srgbClr val="7A2830"/>
          </a:solidFill>
          <a:ln/>
        </p:spPr>
      </p:sp>
      <p:sp>
        <p:nvSpPr>
          <p:cNvPr id="22" name="Text 20"/>
          <p:cNvSpPr/>
          <p:nvPr/>
        </p:nvSpPr>
        <p:spPr>
          <a:xfrm>
            <a:off x="6812280" y="1280160"/>
            <a:ext cx="1965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④</a:t>
            </a:r>
            <a:endParaRPr lang="en-US" sz="3000" dirty="0"/>
          </a:p>
        </p:txBody>
      </p:sp>
      <p:sp>
        <p:nvSpPr>
          <p:cNvPr id="23" name="Text 21"/>
          <p:cNvSpPr/>
          <p:nvPr/>
        </p:nvSpPr>
        <p:spPr>
          <a:xfrm>
            <a:off x="6903720" y="1965960"/>
            <a:ext cx="17830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BF5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音樂本身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FBF5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Actual Music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7086600" y="2788920"/>
            <a:ext cx="1417320" cy="27432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25" name="Text 23"/>
          <p:cNvSpPr/>
          <p:nvPr/>
        </p:nvSpPr>
        <p:spPr>
          <a:xfrm>
            <a:off x="6903720" y="2880360"/>
            <a:ext cx="178308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以記譜法保存或口傳，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1870年代後有錄音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5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A8403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A8403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A84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最早的音樂 The Earliest Music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365760" y="731520"/>
            <a:ext cx="8412480" cy="27432"/>
          </a:xfrm>
          <a:prstGeom prst="rect">
            <a:avLst/>
          </a:prstGeom>
          <a:solidFill>
            <a:srgbClr val="E8D8A8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" y="82296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A28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史前時代 Prehistoric Evidence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365760" y="1234440"/>
            <a:ext cx="521208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2C18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石器時代於動物骨骼、猛獁象牙鑽孔製笛；最古老骨笛約 40,000 BCE（德國 Hohle Fels）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2C18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Stone Age bone/ivory flutes; oldest ~40,000 BCE at Hohle Fels, Germany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2C18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洞穴壁畫疑似描繪樂器演奏；土耳其新石器壁畫（BC 6000）顯示鼓手為舞者伴奏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2C18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Cave paintings depict instruments; Neolithic Turkey murals show drummers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2C18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青銅時代（BC 4000 起）：金屬樂器（鐘、鈸、角）和撥弦樂器出現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2C18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Bronze Age (4th mill. BCE): metal instruments and plucked strings emerge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2C18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沒有文字記錄 → 史前音樂幾乎完全沉默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2C18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No written record → prehistoric music is nearly silent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760720" y="822960"/>
            <a:ext cx="3017520" cy="4023360"/>
          </a:xfrm>
          <a:prstGeom prst="rect">
            <a:avLst/>
          </a:prstGeom>
          <a:solidFill>
            <a:srgbClr val="7A2830"/>
          </a:solidFill>
          <a:ln/>
        </p:spPr>
      </p:sp>
      <p:sp>
        <p:nvSpPr>
          <p:cNvPr id="9" name="Text 7"/>
          <p:cNvSpPr/>
          <p:nvPr/>
        </p:nvSpPr>
        <p:spPr>
          <a:xfrm>
            <a:off x="5852160" y="914400"/>
            <a:ext cx="2834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■ Hohle Fels 骨笛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852160" y="1417320"/>
            <a:ext cx="2834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距今約 40,000–42,000 年
</a:t>
            </a:r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格里芬禿鷲橈骨製成
</a:t>
            </a:r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五個指孔，目前出土最完整的早期笛子
</a:t>
            </a:r>
            <a:pPr indent="0" marL="0">
              <a:buNone/>
            </a:pPr>
            <a:r>
              <a:rPr lang="en-US" sz="1400" i="1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40,000–42,000 years old</a:t>
            </a:r>
            <a:endParaRPr lang="en-US" sz="1400" dirty="0"/>
          </a:p>
          <a:p>
            <a:pPr indent="0" marL="0">
              <a:buNone/>
            </a:pPr>
            <a:r>
              <a:rPr lang="en-US" sz="1400" i="1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Made from griffon vulture wing bone</a:t>
            </a:r>
            <a:endParaRPr lang="en-US" sz="1400" dirty="0"/>
          </a:p>
          <a:p>
            <a:pPr indent="0" marL="0">
              <a:buNone/>
            </a:pPr>
            <a:r>
              <a:rPr lang="en-US" sz="1400" i="1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finger holes — most complete early flute found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852160" y="3657600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8A020"/>
                </a:solidFill>
              </a:rPr>
              <a:t>■ 關鍵觀念 Key Insight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852160" y="3977640"/>
            <a:ext cx="283464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文字的發明標誌史前時代的結束，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也是音樂歷史的真正起點。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Writing marks the true beginning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music history.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2C18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古美索不達米亞的音樂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365760" y="658368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E8D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Music in Ancient Mesopotamia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1371600" y="1024128"/>
            <a:ext cx="6400800" cy="36576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7" name="Shape 5"/>
          <p:cNvSpPr/>
          <p:nvPr/>
        </p:nvSpPr>
        <p:spPr>
          <a:xfrm>
            <a:off x="274320" y="1097280"/>
            <a:ext cx="8595360" cy="685800"/>
          </a:xfrm>
          <a:prstGeom prst="rect">
            <a:avLst/>
          </a:prstGeom>
          <a:solidFill>
            <a:srgbClr val="3A2015"/>
          </a:solidFill>
          <a:ln/>
        </p:spPr>
      </p:sp>
      <p:sp>
        <p:nvSpPr>
          <p:cNvPr id="8" name="Text 6"/>
          <p:cNvSpPr/>
          <p:nvPr/>
        </p:nvSpPr>
        <p:spPr>
          <a:xfrm>
            <a:off x="411480" y="1161288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地理位置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2194560" y="1143000"/>
            <a:ext cx="6492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底格里斯河與幼發拉底河之間（今伊拉克、敘利亞）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Between Tigris &amp; Euphrates Rivers (modern Iraq &amp; Syria)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274320" y="1874520"/>
            <a:ext cx="8595360" cy="685800"/>
          </a:xfrm>
          <a:prstGeom prst="rect">
            <a:avLst/>
          </a:prstGeom>
          <a:solidFill>
            <a:srgbClr val="3A2015"/>
          </a:solidFill>
          <a:ln/>
        </p:spPr>
      </p:sp>
      <p:sp>
        <p:nvSpPr>
          <p:cNvPr id="11" name="Text 9"/>
          <p:cNvSpPr/>
          <p:nvPr/>
        </p:nvSpPr>
        <p:spPr>
          <a:xfrm>
            <a:off x="411480" y="1938528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文明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2194560" y="1920240"/>
            <a:ext cx="6492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蘇美人（Sumerians）建立最早城市；楔形文字（Cuneiform）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Sumerians built first true cities; developed cuneiform writing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274320" y="2651760"/>
            <a:ext cx="8595360" cy="685800"/>
          </a:xfrm>
          <a:prstGeom prst="rect">
            <a:avLst/>
          </a:prstGeom>
          <a:solidFill>
            <a:srgbClr val="3A2015"/>
          </a:solidFill>
          <a:ln/>
        </p:spPr>
      </p:sp>
      <p:sp>
        <p:nvSpPr>
          <p:cNvPr id="14" name="Text 12"/>
          <p:cNvSpPr/>
          <p:nvPr/>
        </p:nvSpPr>
        <p:spPr>
          <a:xfrm>
            <a:off x="411480" y="2715768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音樂用途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2194560" y="2697480"/>
            <a:ext cx="6492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婚禮歌、哀歌、軍樂、工作歌、酒館音樂、神聖儀式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Wedding songs, laments, military, work, tavern, sacred ceremonies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274320" y="3429000"/>
            <a:ext cx="8595360" cy="685800"/>
          </a:xfrm>
          <a:prstGeom prst="rect">
            <a:avLst/>
          </a:prstGeom>
          <a:solidFill>
            <a:srgbClr val="3A2015"/>
          </a:solidFill>
          <a:ln/>
        </p:spPr>
      </p:sp>
      <p:sp>
        <p:nvSpPr>
          <p:cNvPr id="17" name="Text 15"/>
          <p:cNvSpPr/>
          <p:nvPr/>
        </p:nvSpPr>
        <p:spPr>
          <a:xfrm>
            <a:off x="411480" y="3493008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文獻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2194560" y="3474720"/>
            <a:ext cx="6492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ca. 2500 BCE 起的詞匯表：包含樂器、音律、演奏技術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lists from ~2500 BCE: instruments, tuning, performing techniques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274320" y="4206240"/>
            <a:ext cx="8595360" cy="685800"/>
          </a:xfrm>
          <a:prstGeom prst="rect">
            <a:avLst/>
          </a:prstGeom>
          <a:solidFill>
            <a:srgbClr val="3A2015"/>
          </a:solidFill>
          <a:ln/>
        </p:spPr>
      </p:sp>
      <p:sp>
        <p:nvSpPr>
          <p:cNvPr id="20" name="Text 18"/>
          <p:cNvSpPr/>
          <p:nvPr/>
        </p:nvSpPr>
        <p:spPr>
          <a:xfrm>
            <a:off x="411480" y="4270248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理論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2194560" y="4251960"/>
            <a:ext cx="6492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巴比倫人使用七聲全音階；七種調式（對應鋼琴白鍵）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Babylonians used 7-note diatonic scales; 7 modes (piano white keys)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BF5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7A283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7A283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7A28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美索不達米亞的樂器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64008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C3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Mesopotamian Instruments · ca. 2500 BCE, Royal Tombs at Ur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365760" y="932688"/>
            <a:ext cx="8412480" cy="27432"/>
          </a:xfrm>
          <a:prstGeom prst="rect">
            <a:avLst/>
          </a:prstGeom>
          <a:solidFill>
            <a:srgbClr val="E8D8A8"/>
          </a:solidFill>
          <a:ln/>
        </p:spPr>
      </p:sp>
      <p:sp>
        <p:nvSpPr>
          <p:cNvPr id="7" name="Shape 5"/>
          <p:cNvSpPr/>
          <p:nvPr/>
        </p:nvSpPr>
        <p:spPr>
          <a:xfrm>
            <a:off x="365760" y="1005840"/>
            <a:ext cx="4114800" cy="1097280"/>
          </a:xfrm>
          <a:prstGeom prst="rect">
            <a:avLst/>
          </a:prstGeom>
          <a:solidFill>
            <a:srgbClr val="7A2830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" y="1078992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豎琴 Lyre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502920" y="1463040"/>
            <a:ext cx="3840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弦線與音板平行；弦繞在可調音的棒子上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Strings run parallel to soundboard; tunable crossbar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365760" y="2240280"/>
            <a:ext cx="4114800" cy="1097280"/>
          </a:xfrm>
          <a:prstGeom prst="rect">
            <a:avLst/>
          </a:prstGeom>
          <a:solidFill>
            <a:srgbClr val="7A2830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2313432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竪琴 Harp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502920" y="2697480"/>
            <a:ext cx="3840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弦線垂直於音板；琴頸直接連接共鳴箱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Strings perpendicular to soundboard; neck attached to soundbox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1005840"/>
            <a:ext cx="4114800" cy="1097280"/>
          </a:xfrm>
          <a:prstGeom prst="rect">
            <a:avLst/>
          </a:prstGeom>
          <a:solidFill>
            <a:srgbClr val="A84030"/>
          </a:solidFill>
          <a:ln/>
        </p:spPr>
      </p:sp>
      <p:sp>
        <p:nvSpPr>
          <p:cNvPr id="14" name="Text 12"/>
          <p:cNvSpPr/>
          <p:nvPr/>
        </p:nvSpPr>
        <p:spPr>
          <a:xfrm>
            <a:off x="4800600" y="1078992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BF5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魯特琴 Lute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4800600" y="1463040"/>
            <a:ext cx="3840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長頸撥弦樂器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Long-necked plucked string instrument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663440" y="2240280"/>
            <a:ext cx="4114800" cy="1097280"/>
          </a:xfrm>
          <a:prstGeom prst="rect">
            <a:avLst/>
          </a:prstGeom>
          <a:solidFill>
            <a:srgbClr val="A84030"/>
          </a:solidFill>
          <a:ln/>
        </p:spPr>
      </p:sp>
      <p:sp>
        <p:nvSpPr>
          <p:cNvPr id="17" name="Text 15"/>
          <p:cNvSpPr/>
          <p:nvPr/>
        </p:nvSpPr>
        <p:spPr>
          <a:xfrm>
            <a:off x="4800600" y="2313432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BF5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管樂 Pipes &amp; Drums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4800600" y="2697480"/>
            <a:ext cx="3840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雙管笛、鼓、鈸、拍板、搖鈴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Double pipes, drums, cymbals, clappers, rattles, bells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456432"/>
            <a:ext cx="8412480" cy="987552"/>
          </a:xfrm>
          <a:prstGeom prst="rect">
            <a:avLst/>
          </a:prstGeom>
          <a:solidFill>
            <a:srgbClr val="5C3A28"/>
          </a:solidFill>
          <a:ln/>
        </p:spPr>
      </p:sp>
      <p:sp>
        <p:nvSpPr>
          <p:cNvPr id="20" name="Text 18"/>
          <p:cNvSpPr/>
          <p:nvPr/>
        </p:nvSpPr>
        <p:spPr>
          <a:xfrm>
            <a:off x="548640" y="3529584"/>
            <a:ext cx="2926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公牛里拉 Bull Lyre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548640" y="3895344"/>
            <a:ext cx="8229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蘇美獨特風格；琴箱飾以公牛頭（宗教意涵）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Distinctively Sumerian; soundbox features a bull's head (religious)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65760" y="4663440"/>
            <a:ext cx="841248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C3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烏爾出土的豎琴（ca. 2500 BCE）是現存最早的撥弦樂器實物之一</a:t>
            </a:r>
            <a:endParaRPr lang="en-US" sz="1400" dirty="0"/>
          </a:p>
          <a:p>
            <a:pPr indent="0" marL="0">
              <a:buNone/>
            </a:pPr>
            <a:r>
              <a:rPr lang="en-US" sz="1400" i="1" dirty="0">
                <a:solidFill>
                  <a:srgbClr val="5C3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lyres and harps from Ur (ca. 2500 BCE) are among the earliest surviving plucked string instruments.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2C18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82880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第一位有名字的作曲家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65836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E8D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First Composer Known by Name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1371600" y="1005840"/>
            <a:ext cx="6400800" cy="36576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143000"/>
            <a:ext cx="8229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BF5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Enheduanna</a:t>
            </a:r>
            <a:endParaRPr lang="en-US" sz="4800" dirty="0"/>
          </a:p>
        </p:txBody>
      </p:sp>
      <p:sp>
        <p:nvSpPr>
          <p:cNvPr id="8" name="Text 6"/>
          <p:cNvSpPr/>
          <p:nvPr/>
        </p:nvSpPr>
        <p:spPr>
          <a:xfrm>
            <a:off x="457200" y="19202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恩赫杜安納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548640" y="246888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⏱ 年代  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920240" y="2468880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活躍於 ca. 2300 BCE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48640" y="297180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■‍■ 身份  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920240" y="2971800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阿卡德族（Akkadian）月神南納（Nanna）的女大祭司，任職於烏爾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48640" y="347472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■ 作品  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920240" y="3474720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為月神南納與女神伊南娜（Inanna）創作讚美詩（hymns）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48640" y="397764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■ 現存  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920240" y="3977640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歌詞刻於楔形文字泥板上保存——但音樂本身未傳下來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548640" y="448056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■ 意義  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920240" y="4480560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比古埃及、希臘的已知作曲家早了一千多年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BF5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A8403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A8403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A84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最古老的音樂記譜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64008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C3A2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Oldest Known Musical Notation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365760" y="932688"/>
            <a:ext cx="8412480" cy="27432"/>
          </a:xfrm>
          <a:prstGeom prst="rect">
            <a:avLst/>
          </a:prstGeom>
          <a:solidFill>
            <a:srgbClr val="E8D8A8"/>
          </a:solidFill>
          <a:ln/>
        </p:spPr>
      </p:sp>
      <p:sp>
        <p:nvSpPr>
          <p:cNvPr id="7" name="Text 5"/>
          <p:cNvSpPr/>
          <p:nvPr/>
        </p:nvSpPr>
        <p:spPr>
          <a:xfrm>
            <a:off x="365760" y="100584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A28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■ 胡利安頌歌 Hurrian Hymn (H.6)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365760" y="1463040"/>
            <a:ext cx="502920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2C18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年代 Date: ca. 1400–1250 BCE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2C18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出土地 Found: Ugarit（敘利亞沿岸商業城邦）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2C18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載體 Medium: 楔形文字泥板（Clay tablet）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2C18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內容 Content: 獻給月神妻子尼卡爾（Nikkal）的讚美詩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2C18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現存最古老、近乎完整的記譜實例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2C18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Oldest nearly complete piece with musical notation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2C18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記譜法至今仍難以完全破解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2C18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Notation too poorly understood to read with certainty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2C18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當時音樂家可能不靠記譜演奏，而用它如食譜重建旋律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2C18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Used as recipe to reconstruct melody, not for live reading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486400" y="1005840"/>
            <a:ext cx="3291840" cy="3840480"/>
          </a:xfrm>
          <a:prstGeom prst="rect">
            <a:avLst/>
          </a:prstGeom>
          <a:solidFill>
            <a:srgbClr val="7A2830"/>
          </a:solidFill>
          <a:ln/>
        </p:spPr>
      </p:sp>
      <p:sp>
        <p:nvSpPr>
          <p:cNvPr id="10" name="Text 8"/>
          <p:cNvSpPr/>
          <p:nvPr/>
        </p:nvSpPr>
        <p:spPr>
          <a:xfrm>
            <a:off x="5577840" y="1097280"/>
            <a:ext cx="31089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■ Seikilos 墓誌銘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Epitaph of Seikilos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577840" y="1810512"/>
            <a:ext cx="310896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年代：ca. 1st century CE
</a:t>
            </a:r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現存最古老、完整的音樂作品
</a:t>
            </a:r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Oldest complete surviving composition
</a:t>
            </a:r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歌詞（原文）
</a:t>
            </a:r>
            <a:pPr indent="0" marL="0">
              <a:buNone/>
            </a:pPr>
            <a:r>
              <a:rPr lang="en-US" sz="1400" i="1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Ὅσον ζῇς, φαίνου…
</a:t>
            </a:r>
            <a:pPr indent="0" marL="0">
              <a:buNone/>
            </a:pPr>
            <a:r>
              <a:rPr lang="en-US" sz="1400" b="1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中文大意：
</a:t>
            </a:r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「趁著活著，閃耀吧；別讓任何事令你憂愁」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While you live, shine; let nothing grieve you.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2C18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84124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歷史時間軸 Timeline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2331720" y="804672"/>
            <a:ext cx="45720" cy="4114800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6" name="Shape 4"/>
          <p:cNvSpPr/>
          <p:nvPr/>
        </p:nvSpPr>
        <p:spPr>
          <a:xfrm>
            <a:off x="2212848" y="841248"/>
            <a:ext cx="256032" cy="256032"/>
          </a:xfrm>
          <a:prstGeom prst="ellipse">
            <a:avLst/>
          </a:prstGeom>
          <a:solidFill>
            <a:srgbClr val="C8A020"/>
          </a:solidFill>
          <a:ln/>
        </p:spPr>
      </p:sp>
      <p:sp>
        <p:nvSpPr>
          <p:cNvPr id="7" name="Text 5"/>
          <p:cNvSpPr/>
          <p:nvPr/>
        </p:nvSpPr>
        <p:spPr>
          <a:xfrm>
            <a:off x="91440" y="804672"/>
            <a:ext cx="20574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ca. 3500–3000 BCE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2651760" y="804672"/>
            <a:ext cx="62179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蘇美城市興起 Rise of Sumerian cities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2212848" y="1179576"/>
            <a:ext cx="256032" cy="256032"/>
          </a:xfrm>
          <a:prstGeom prst="ellipse">
            <a:avLst/>
          </a:prstGeom>
          <a:solidFill>
            <a:srgbClr val="C8A020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" y="1143000"/>
            <a:ext cx="20574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ca. 3100 BCE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2651760" y="1143000"/>
            <a:ext cx="62179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楔形文字建立 Cuneiform writing established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2212848" y="1517904"/>
            <a:ext cx="256032" cy="256032"/>
          </a:xfrm>
          <a:prstGeom prst="ellipse">
            <a:avLst/>
          </a:prstGeom>
          <a:solidFill>
            <a:srgbClr val="C8A020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" y="1481328"/>
            <a:ext cx="20574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ca. 2500 BCE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2651760" y="1481328"/>
            <a:ext cx="62179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烏爾皇家陵墓出土豎琴 Royal Tombs at Ur — lyres &amp; harps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2212848" y="1856232"/>
            <a:ext cx="256032" cy="256032"/>
          </a:xfrm>
          <a:prstGeom prst="ellipse">
            <a:avLst/>
          </a:prstGeom>
          <a:solidFill>
            <a:srgbClr val="C8A020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" y="1819656"/>
            <a:ext cx="20574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ca. 2300 BCE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2651760" y="1819656"/>
            <a:ext cx="62179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恩赫杜安納作曲 Enheduanna composes hymns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2212848" y="2194560"/>
            <a:ext cx="256032" cy="256032"/>
          </a:xfrm>
          <a:prstGeom prst="ellipse">
            <a:avLst/>
          </a:prstGeom>
          <a:solidFill>
            <a:srgbClr val="C8A020"/>
          </a:solidFill>
          <a:ln/>
        </p:spPr>
      </p:sp>
      <p:sp>
        <p:nvSpPr>
          <p:cNvPr id="19" name="Text 17"/>
          <p:cNvSpPr/>
          <p:nvPr/>
        </p:nvSpPr>
        <p:spPr>
          <a:xfrm>
            <a:off x="91440" y="2157984"/>
            <a:ext cx="20574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ca. 1800 BCE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2651760" y="2157984"/>
            <a:ext cx="62179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巴比倫音樂理論著作 Babylonian writings about music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2212848" y="2532888"/>
            <a:ext cx="256032" cy="256032"/>
          </a:xfrm>
          <a:prstGeom prst="ellipse">
            <a:avLst/>
          </a:prstGeom>
          <a:solidFill>
            <a:srgbClr val="C8A020"/>
          </a:solidFill>
          <a:ln/>
        </p:spPr>
      </p:sp>
      <p:sp>
        <p:nvSpPr>
          <p:cNvPr id="22" name="Text 20"/>
          <p:cNvSpPr/>
          <p:nvPr/>
        </p:nvSpPr>
        <p:spPr>
          <a:xfrm>
            <a:off x="91440" y="2496312"/>
            <a:ext cx="20574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ca. 1400–1250 BCE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2651760" y="2496312"/>
            <a:ext cx="62179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最古老近乎完整的樂譜 Oldest nearly complete notation (Ugarit)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2212848" y="2871216"/>
            <a:ext cx="256032" cy="256032"/>
          </a:xfrm>
          <a:prstGeom prst="ellipse">
            <a:avLst/>
          </a:prstGeom>
          <a:solidFill>
            <a:srgbClr val="C8A020"/>
          </a:solidFill>
          <a:ln/>
        </p:spPr>
      </p:sp>
      <p:sp>
        <p:nvSpPr>
          <p:cNvPr id="25" name="Text 23"/>
          <p:cNvSpPr/>
          <p:nvPr/>
        </p:nvSpPr>
        <p:spPr>
          <a:xfrm>
            <a:off x="91440" y="2834640"/>
            <a:ext cx="20574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ca. 800 BCE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2651760" y="2834640"/>
            <a:ext cx="62179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希臘城邦興起 Rise of Greek city-states; Homer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2212848" y="3209544"/>
            <a:ext cx="256032" cy="256032"/>
          </a:xfrm>
          <a:prstGeom prst="ellipse">
            <a:avLst/>
          </a:prstGeom>
          <a:solidFill>
            <a:srgbClr val="C8A020"/>
          </a:solidFill>
          <a:ln/>
        </p:spPr>
      </p:sp>
      <p:sp>
        <p:nvSpPr>
          <p:cNvPr id="28" name="Text 26"/>
          <p:cNvSpPr/>
          <p:nvPr/>
        </p:nvSpPr>
        <p:spPr>
          <a:xfrm>
            <a:off x="91440" y="3172968"/>
            <a:ext cx="20574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586 BCE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2651760" y="3172968"/>
            <a:ext cx="62179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薩卡達斯贏得皮提亞競賽 Sakadas wins Pythic Games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2212848" y="3547872"/>
            <a:ext cx="256032" cy="256032"/>
          </a:xfrm>
          <a:prstGeom prst="ellipse">
            <a:avLst/>
          </a:prstGeom>
          <a:solidFill>
            <a:srgbClr val="C8A020"/>
          </a:solidFill>
          <a:ln/>
        </p:spPr>
      </p:sp>
      <p:sp>
        <p:nvSpPr>
          <p:cNvPr id="31" name="Text 29"/>
          <p:cNvSpPr/>
          <p:nvPr/>
        </p:nvSpPr>
        <p:spPr>
          <a:xfrm>
            <a:off x="91440" y="3511296"/>
            <a:ext cx="20574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ca. 408 BCE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2651760" y="3511296"/>
            <a:ext cx="62179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歐里庇得斯《奧瑞斯提斯》附有音樂 Euripides' Orestes (with music)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2212848" y="3886200"/>
            <a:ext cx="256032" cy="256032"/>
          </a:xfrm>
          <a:prstGeom prst="ellipse">
            <a:avLst/>
          </a:prstGeom>
          <a:solidFill>
            <a:srgbClr val="C8A020"/>
          </a:solidFill>
          <a:ln/>
        </p:spPr>
      </p:sp>
      <p:sp>
        <p:nvSpPr>
          <p:cNvPr id="34" name="Text 32"/>
          <p:cNvSpPr/>
          <p:nvPr/>
        </p:nvSpPr>
        <p:spPr>
          <a:xfrm>
            <a:off x="91440" y="3849624"/>
            <a:ext cx="20574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ca. 330 BCE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2651760" y="3849624"/>
            <a:ext cx="62179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亞里斯多塞諾斯音樂理論 Aristoxenus, Harmonic Elements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2212848" y="4224528"/>
            <a:ext cx="256032" cy="256032"/>
          </a:xfrm>
          <a:prstGeom prst="ellipse">
            <a:avLst/>
          </a:prstGeom>
          <a:solidFill>
            <a:srgbClr val="C8A020"/>
          </a:solidFill>
          <a:ln/>
        </p:spPr>
      </p:sp>
      <p:sp>
        <p:nvSpPr>
          <p:cNvPr id="37" name="Text 35"/>
          <p:cNvSpPr/>
          <p:nvPr/>
        </p:nvSpPr>
        <p:spPr>
          <a:xfrm>
            <a:off x="91440" y="4187952"/>
            <a:ext cx="20574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146 BCE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2651760" y="4187952"/>
            <a:ext cx="62179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希臘成為羅馬行省 Greece becomes province of Rome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2212848" y="4562856"/>
            <a:ext cx="256032" cy="256032"/>
          </a:xfrm>
          <a:prstGeom prst="ellipse">
            <a:avLst/>
          </a:prstGeom>
          <a:solidFill>
            <a:srgbClr val="C8A020"/>
          </a:solidFill>
          <a:ln/>
        </p:spPr>
      </p:sp>
      <p:sp>
        <p:nvSpPr>
          <p:cNvPr id="40" name="Text 38"/>
          <p:cNvSpPr/>
          <p:nvPr/>
        </p:nvSpPr>
        <p:spPr>
          <a:xfrm>
            <a:off x="91440" y="4526280"/>
            <a:ext cx="20574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ca. 1st cent. CE</a:t>
            </a:r>
            <a:endParaRPr lang="en-US" sz="1400" dirty="0"/>
          </a:p>
        </p:txBody>
      </p:sp>
      <p:sp>
        <p:nvSpPr>
          <p:cNvPr id="41" name="Text 39"/>
          <p:cNvSpPr/>
          <p:nvPr/>
        </p:nvSpPr>
        <p:spPr>
          <a:xfrm>
            <a:off x="2651760" y="4526280"/>
            <a:ext cx="62179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Seikilos 墓誌銘 Epitaph of Seikilos (oldest complete composition)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2C18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84124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古希臘的音樂 Music in Ancient Greece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1371600" y="731520"/>
            <a:ext cx="6400800" cy="36576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" y="804672"/>
            <a:ext cx="84124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古希臘是現存資料最豐富的古代音樂文明，保存了：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i="1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 餘件音樂作品或片段 · 大量文字理論著作 · 數百件陶器圖像 · 部分實物樂器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74320" y="1508760"/>
            <a:ext cx="2788920" cy="3337560"/>
          </a:xfrm>
          <a:prstGeom prst="rect">
            <a:avLst/>
          </a:prstGeom>
          <a:solidFill>
            <a:srgbClr val="3A2015"/>
          </a:solidFill>
          <a:ln/>
        </p:spPr>
      </p:sp>
      <p:sp>
        <p:nvSpPr>
          <p:cNvPr id="8" name="Text 6"/>
          <p:cNvSpPr/>
          <p:nvPr/>
        </p:nvSpPr>
        <p:spPr>
          <a:xfrm>
            <a:off x="365760" y="1600200"/>
            <a:ext cx="2606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音樂與宗教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Music &amp; Religion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57200" y="2121408"/>
            <a:ext cx="2423160" cy="27432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10" name="Text 8"/>
          <p:cNvSpPr/>
          <p:nvPr/>
        </p:nvSpPr>
        <p:spPr>
          <a:xfrm>
            <a:off x="365760" y="2176272"/>
            <a:ext cx="2606040" cy="2606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起源被神話化：阿波羅、俄耳甫斯</a:t>
            </a:r>
            <a:endParaRPr lang="en-US" sz="14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Origins mythologized (Apollo, Orpheus)</a:t>
            </a:r>
            <a:endParaRPr lang="en-US" sz="14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遍及希臘生活：軍事、學校、宗教、劇場</a:t>
            </a:r>
            <a:endParaRPr lang="en-US" sz="14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Pervaded all of Greek life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246120" y="1508760"/>
            <a:ext cx="2788920" cy="3337560"/>
          </a:xfrm>
          <a:prstGeom prst="rect">
            <a:avLst/>
          </a:prstGeom>
          <a:solidFill>
            <a:srgbClr val="3A2015"/>
          </a:solidFill>
          <a:ln/>
        </p:spPr>
      </p:sp>
      <p:sp>
        <p:nvSpPr>
          <p:cNvPr id="12" name="Text 10"/>
          <p:cNvSpPr/>
          <p:nvPr/>
        </p:nvSpPr>
        <p:spPr>
          <a:xfrm>
            <a:off x="3337560" y="1600200"/>
            <a:ext cx="2606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音樂與詩歌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Music &amp; Poetry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429000" y="2121408"/>
            <a:ext cx="2423160" cy="27432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14" name="Text 12"/>
          <p:cNvSpPr/>
          <p:nvPr/>
        </p:nvSpPr>
        <p:spPr>
          <a:xfrm>
            <a:off x="3337560" y="2176272"/>
            <a:ext cx="2606040" cy="2606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「melos」= 旋律＋歌詞＋舞蹈</a:t>
            </a:r>
            <a:endParaRPr lang="en-US" sz="14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Melos: melody + text + dance</a:t>
            </a:r>
            <a:endParaRPr lang="en-US" sz="14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主要是單音音樂 monophonic</a:t>
            </a:r>
            <a:endParaRPr lang="en-US" sz="14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「lyric poetry」= 配里拉琴的詩</a:t>
            </a:r>
            <a:endParaRPr lang="en-US" sz="14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Lyric poetry = sung to the lyre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217920" y="1508760"/>
            <a:ext cx="2788920" cy="3337560"/>
          </a:xfrm>
          <a:prstGeom prst="rect">
            <a:avLst/>
          </a:prstGeom>
          <a:solidFill>
            <a:srgbClr val="3A2015"/>
          </a:solidFill>
          <a:ln/>
        </p:spPr>
      </p:sp>
      <p:sp>
        <p:nvSpPr>
          <p:cNvPr id="16" name="Text 14"/>
          <p:cNvSpPr/>
          <p:nvPr/>
        </p:nvSpPr>
        <p:spPr>
          <a:xfrm>
            <a:off x="6309360" y="1600200"/>
            <a:ext cx="2606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音樂與數字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Music &amp; Numbers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6400800" y="2121408"/>
            <a:ext cx="2423160" cy="27432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18" name="Text 16"/>
          <p:cNvSpPr/>
          <p:nvPr/>
        </p:nvSpPr>
        <p:spPr>
          <a:xfrm>
            <a:off x="6309360" y="2176272"/>
            <a:ext cx="2606040" cy="2606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Pythagoras：8度=2:1, 5度=3:2</a:t>
            </a:r>
            <a:endParaRPr lang="en-US" sz="14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Octave 2:1, Fifth 3:2, Fourth 4:3</a:t>
            </a:r>
            <a:endParaRPr lang="en-US" sz="14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harmonia = 秩序、數學比例、音階</a:t>
            </a:r>
            <a:endParaRPr lang="en-US" sz="14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Mathematical order of universe</a:t>
            </a:r>
            <a:endParaRPr lang="en-US" sz="14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「音樂之球」天文學類比</a:t>
            </a:r>
            <a:endParaRPr lang="en-US" sz="14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Music of the Spheres (Plato)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BF5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7A283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7A283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7A28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希臘樂器 Greek Musical Instruments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365760" y="658368"/>
            <a:ext cx="8412480" cy="27432"/>
          </a:xfrm>
          <a:prstGeom prst="rect">
            <a:avLst/>
          </a:prstGeom>
          <a:solidFill>
            <a:srgbClr val="E8D8A8"/>
          </a:solidFill>
          <a:ln/>
        </p:spPr>
      </p:sp>
      <p:sp>
        <p:nvSpPr>
          <p:cNvPr id="6" name="Shape 4"/>
          <p:cNvSpPr/>
          <p:nvPr/>
        </p:nvSpPr>
        <p:spPr>
          <a:xfrm>
            <a:off x="320040" y="749808"/>
            <a:ext cx="2743200" cy="4023360"/>
          </a:xfrm>
          <a:prstGeom prst="rect">
            <a:avLst/>
          </a:prstGeom>
          <a:solidFill>
            <a:srgbClr val="A84030"/>
          </a:solidFill>
          <a:ln/>
        </p:spPr>
      </p:sp>
      <p:sp>
        <p:nvSpPr>
          <p:cNvPr id="7" name="Text 5"/>
          <p:cNvSpPr/>
          <p:nvPr/>
        </p:nvSpPr>
        <p:spPr>
          <a:xfrm>
            <a:off x="411480" y="841248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Aulos (αὐλός)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11480" y="1252728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雙管笛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11480" y="1572768"/>
            <a:ext cx="256032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酒神戴奧尼索斯 Dionysus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48640" y="1892808"/>
            <a:ext cx="2286000" cy="27432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11" name="Text 9"/>
          <p:cNvSpPr/>
          <p:nvPr/>
        </p:nvSpPr>
        <p:spPr>
          <a:xfrm>
            <a:off x="411480" y="1947672"/>
            <a:ext cx="2560320" cy="2788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雙管、各有指孔與蘆葦管（reed）</a:t>
            </a:r>
            <a:endParaRPr lang="en-US" sz="14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Double pipe with finger holes and reed mouthpiece</a:t>
            </a:r>
            <a:endParaRPr lang="en-US" sz="14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常見於飲酒聚會（symposium）和戲劇</a:t>
            </a:r>
            <a:endParaRPr lang="en-US" sz="14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Used at symposia, Dionysian festivals, theater</a:t>
            </a:r>
            <a:endParaRPr lang="en-US" sz="14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推測二管演奏同音或相距特定音程</a:t>
            </a:r>
            <a:endParaRPr lang="en-US" sz="14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pipes likely played in unison or intervals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3246120" y="749808"/>
            <a:ext cx="2743200" cy="4023360"/>
          </a:xfrm>
          <a:prstGeom prst="rect">
            <a:avLst/>
          </a:prstGeom>
          <a:solidFill>
            <a:srgbClr val="7A2830"/>
          </a:solidFill>
          <a:ln/>
        </p:spPr>
      </p:sp>
      <p:sp>
        <p:nvSpPr>
          <p:cNvPr id="13" name="Text 11"/>
          <p:cNvSpPr/>
          <p:nvPr/>
        </p:nvSpPr>
        <p:spPr>
          <a:xfrm>
            <a:off x="3337560" y="841248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Lyre (λύρα)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3337560" y="1252728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里拉琴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3337560" y="1572768"/>
            <a:ext cx="256032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太陽神阿波羅 Apollo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474720" y="1892808"/>
            <a:ext cx="2286000" cy="27432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17" name="Text 15"/>
          <p:cNvSpPr/>
          <p:nvPr/>
        </p:nvSpPr>
        <p:spPr>
          <a:xfrm>
            <a:off x="3337560" y="1947672"/>
            <a:ext cx="2560320" cy="2788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七弦，龜殼共鳴箱，用撥片彈奏</a:t>
            </a:r>
            <a:endParaRPr lang="en-US" sz="14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strings, tortoise-shell soundbox, played with plectrum</a:t>
            </a:r>
            <a:endParaRPr lang="en-US" sz="14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雅典教育的核心科目</a:t>
            </a:r>
            <a:endParaRPr lang="en-US" sz="14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element of Athenian education</a:t>
            </a:r>
            <a:endParaRPr lang="en-US" sz="14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伴奏舞蹈、歌唱、史詩朗誦</a:t>
            </a:r>
            <a:endParaRPr lang="en-US" sz="14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Accompanied dancing, singing, epic recitation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172200" y="749808"/>
            <a:ext cx="2743200" cy="4023360"/>
          </a:xfrm>
          <a:prstGeom prst="rect">
            <a:avLst/>
          </a:prstGeom>
          <a:solidFill>
            <a:srgbClr val="A84030"/>
          </a:solidFill>
          <a:ln/>
        </p:spPr>
      </p:sp>
      <p:sp>
        <p:nvSpPr>
          <p:cNvPr id="19" name="Text 17"/>
          <p:cNvSpPr/>
          <p:nvPr/>
        </p:nvSpPr>
        <p:spPr>
          <a:xfrm>
            <a:off x="6263640" y="841248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Kithara (κιθάρα)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263640" y="1252728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基薩拉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263640" y="1572768"/>
            <a:ext cx="256032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用於公眾儀式與比賽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6400800" y="1892808"/>
            <a:ext cx="2286000" cy="27432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23" name="Text 21"/>
          <p:cNvSpPr/>
          <p:nvPr/>
        </p:nvSpPr>
        <p:spPr>
          <a:xfrm>
            <a:off x="6263640" y="1947672"/>
            <a:ext cx="2560320" cy="2788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大型里拉琴，通常站立演奏</a:t>
            </a:r>
            <a:endParaRPr lang="en-US" sz="14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Larger lyre, played standing</a:t>
            </a:r>
            <a:endParaRPr lang="en-US" sz="14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用於遊行、儀式和劇場</a:t>
            </a:r>
            <a:endParaRPr lang="en-US" sz="14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Processions, ceremonies, theater</a:t>
            </a:r>
            <a:endParaRPr lang="en-US" sz="14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kitharode = 邊彈邊唱的歌手</a:t>
            </a:r>
            <a:endParaRPr lang="en-US" sz="14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Singer accompanying himself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365760" y="4800600"/>
            <a:ext cx="8412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C3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希臘人主要靠耳朵學習音樂，而非讀譜 · Greeks learned by ear, not notation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2C18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4" name="Shape 2"/>
          <p:cNvSpPr/>
          <p:nvPr/>
        </p:nvSpPr>
        <p:spPr>
          <a:xfrm>
            <a:off x="365760" y="182880"/>
            <a:ext cx="2926080" cy="411480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5" name="Text 3"/>
          <p:cNvSpPr/>
          <p:nvPr/>
        </p:nvSpPr>
        <p:spPr>
          <a:xfrm>
            <a:off x="365760" y="182880"/>
            <a:ext cx="2926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C181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 PERFORMANCE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65760" y="685800"/>
            <a:ext cx="84124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音樂競賽與職業音樂家</a:t>
            </a:r>
            <a:endParaRPr lang="en-US" sz="2400" dirty="0"/>
          </a:p>
          <a:p>
            <a:pPr indent="0" marL="0">
              <a:buNone/>
            </a:pPr>
            <a:r>
              <a:rPr lang="en-US" sz="2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Competitions and Professional Musicians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365760" y="1371600"/>
            <a:ext cx="8412480" cy="36576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8" name="Shape 6"/>
          <p:cNvSpPr/>
          <p:nvPr/>
        </p:nvSpPr>
        <p:spPr>
          <a:xfrm>
            <a:off x="274320" y="1463040"/>
            <a:ext cx="8595360" cy="612648"/>
          </a:xfrm>
          <a:prstGeom prst="rect">
            <a:avLst/>
          </a:prstGeom>
          <a:solidFill>
            <a:srgbClr val="3A2015"/>
          </a:solidFill>
          <a:ln/>
        </p:spPr>
      </p:sp>
      <p:sp>
        <p:nvSpPr>
          <p:cNvPr id="9" name="Text 7"/>
          <p:cNvSpPr/>
          <p:nvPr/>
        </p:nvSpPr>
        <p:spPr>
          <a:xfrm>
            <a:off x="411480" y="152704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■ 競賽起源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2468880" y="1508760"/>
            <a:ext cx="630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西元前 6 世紀起，阿夫洛斯和基薩拉成為獨奏樂器，開始舉辦競賽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6th cent. BCE, aulos &amp; kithara played as solos; competitions held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274320" y="2167128"/>
            <a:ext cx="8595360" cy="612648"/>
          </a:xfrm>
          <a:prstGeom prst="rect">
            <a:avLst/>
          </a:prstGeom>
          <a:solidFill>
            <a:srgbClr val="3A2015"/>
          </a:solidFill>
          <a:ln/>
        </p:spPr>
      </p:sp>
      <p:sp>
        <p:nvSpPr>
          <p:cNvPr id="12" name="Text 10"/>
          <p:cNvSpPr/>
          <p:nvPr/>
        </p:nvSpPr>
        <p:spPr>
          <a:xfrm>
            <a:off x="411480" y="223113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■ Sakadas of Argos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2468880" y="2212848"/>
            <a:ext cx="630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586、582、578 BCE 三度贏得皮提亞競賽（Pythian Games）阿夫洛斯獨奏首獎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Won 3 times; performed the Pythic Nomos (Apollo vs. Python)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274320" y="2871216"/>
            <a:ext cx="8595360" cy="612648"/>
          </a:xfrm>
          <a:prstGeom prst="rect">
            <a:avLst/>
          </a:prstGeom>
          <a:solidFill>
            <a:srgbClr val="3A2015"/>
          </a:solidFill>
          <a:ln/>
        </p:spPr>
      </p:sp>
      <p:sp>
        <p:nvSpPr>
          <p:cNvPr id="15" name="Text 13"/>
          <p:cNvSpPr/>
          <p:nvPr/>
        </p:nvSpPr>
        <p:spPr>
          <a:xfrm>
            <a:off x="411480" y="29352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■ 名演奏家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2468880" y="2916936"/>
            <a:ext cx="630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巡迴演出積累財富；觀眾可達數千人；部分女性演奏家亦成名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Famous virtuosos toured and attracted thousands; some women gained fame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274320" y="3575304"/>
            <a:ext cx="8595360" cy="612648"/>
          </a:xfrm>
          <a:prstGeom prst="rect">
            <a:avLst/>
          </a:prstGeom>
          <a:solidFill>
            <a:srgbClr val="3A2015"/>
          </a:solidFill>
          <a:ln/>
        </p:spPr>
      </p:sp>
      <p:sp>
        <p:nvSpPr>
          <p:cNvPr id="18" name="Text 16"/>
          <p:cNvSpPr/>
          <p:nvPr/>
        </p:nvSpPr>
        <p:spPr>
          <a:xfrm>
            <a:off x="411480" y="363931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■ 社會地位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2468880" y="3621024"/>
            <a:ext cx="630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競賽外的職業演奏家社會地位低，許多是奴隸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Outside competitions, most professional performers were of low status, often slaves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274320" y="4279392"/>
            <a:ext cx="8595360" cy="612648"/>
          </a:xfrm>
          <a:prstGeom prst="rect">
            <a:avLst/>
          </a:prstGeom>
          <a:solidFill>
            <a:srgbClr val="3A2015"/>
          </a:solidFill>
          <a:ln/>
        </p:spPr>
      </p:sp>
      <p:sp>
        <p:nvSpPr>
          <p:cNvPr id="21" name="Text 19"/>
          <p:cNvSpPr/>
          <p:nvPr/>
        </p:nvSpPr>
        <p:spPr>
          <a:xfrm>
            <a:off x="411480" y="434340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■ 獎品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2468880" y="4325112"/>
            <a:ext cx="630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圖 1.9 的陶罐（裝酒或油）即為競賽獎品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amphora in Fig. 1.9 was awarded as a competition prize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BF5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A8403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A8403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A84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音樂與倫理 Music and Ethos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640080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C3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希臘哲學家相信音樂能直接影響人的性格與道德 · Greek philosophers believed music could affect ethical character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365760" y="978408"/>
            <a:ext cx="8412480" cy="27432"/>
          </a:xfrm>
          <a:prstGeom prst="rect">
            <a:avLst/>
          </a:prstGeom>
          <a:solidFill>
            <a:srgbClr val="E8D8A8"/>
          </a:solidFill>
          <a:ln/>
        </p:spPr>
      </p:sp>
      <p:sp>
        <p:nvSpPr>
          <p:cNvPr id="7" name="Shape 5"/>
          <p:cNvSpPr/>
          <p:nvPr/>
        </p:nvSpPr>
        <p:spPr>
          <a:xfrm>
            <a:off x="320040" y="1051560"/>
            <a:ext cx="4114800" cy="3749040"/>
          </a:xfrm>
          <a:prstGeom prst="rect">
            <a:avLst/>
          </a:prstGeom>
          <a:solidFill>
            <a:srgbClr val="7A2830"/>
          </a:solidFill>
          <a:ln/>
        </p:spPr>
      </p:sp>
      <p:sp>
        <p:nvSpPr>
          <p:cNvPr id="8" name="Text 6"/>
          <p:cNvSpPr/>
          <p:nvPr/>
        </p:nvSpPr>
        <p:spPr>
          <a:xfrm>
            <a:off x="411480" y="114300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柏拉圖 Plato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11480" y="1554480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ca. 429–347 BCE · 《理想國》Republic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94360" y="1874520"/>
            <a:ext cx="3566160" cy="27432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11" name="Text 9"/>
          <p:cNvSpPr/>
          <p:nvPr/>
        </p:nvSpPr>
        <p:spPr>
          <a:xfrm>
            <a:off x="411480" y="1920240"/>
            <a:ext cx="3931920" cy="2834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音樂塑造靈魂；只有特定音樂適合教育</a:t>
            </a:r>
            <a:endParaRPr lang="en-US" sz="14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Music molds the soul; only certain music suits education</a:t>
            </a:r>
            <a:endParaRPr lang="en-US" sz="14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贊成 Dorian 和 Phrygian 調式（促進節制與勇氣）</a:t>
            </a:r>
            <a:endParaRPr lang="en-US" sz="14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Endorsed Dorian &amp; Phrygian harmoniai (temperance &amp; courage)</a:t>
            </a:r>
            <a:endParaRPr lang="en-US" sz="14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禁止複雜或混合類型的音樂</a:t>
            </a:r>
            <a:endParaRPr lang="en-US" sz="14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Banned complex or mixed musical genres</a:t>
            </a:r>
            <a:endParaRPr lang="en-US" sz="14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「音樂法律不可改變」→ 藝術無法度導致社會無法紀</a:t>
            </a:r>
            <a:endParaRPr lang="en-US" sz="14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Musical conventions must not change: lawlessness in art → anarchy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709160" y="1051560"/>
            <a:ext cx="4114800" cy="3749040"/>
          </a:xfrm>
          <a:prstGeom prst="rect">
            <a:avLst/>
          </a:prstGeom>
          <a:solidFill>
            <a:srgbClr val="A84030"/>
          </a:solidFill>
          <a:ln/>
        </p:spPr>
      </p:sp>
      <p:sp>
        <p:nvSpPr>
          <p:cNvPr id="13" name="Text 11"/>
          <p:cNvSpPr/>
          <p:nvPr/>
        </p:nvSpPr>
        <p:spPr>
          <a:xfrm>
            <a:off x="4800600" y="114300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亞里斯多德 Aristotle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800600" y="1554480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384–322 BCE · 《政治學》Politics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983480" y="1874520"/>
            <a:ext cx="3566160" cy="27432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16" name="Text 14"/>
          <p:cNvSpPr/>
          <p:nvPr/>
        </p:nvSpPr>
        <p:spPr>
          <a:xfrm>
            <a:off x="4800600" y="1920240"/>
            <a:ext cx="3931920" cy="2834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音樂模仿情感，激發聽者的 ethos</a:t>
            </a:r>
            <a:endParaRPr lang="en-US" sz="14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Music imitates and arouses ethos</a:t>
            </a:r>
            <a:endParaRPr lang="en-US" sz="14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比柏拉圖更開放：音樂亦可用於娛樂</a:t>
            </a:r>
            <a:endParaRPr lang="en-US" sz="14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open: music can serve enjoyment</a:t>
            </a:r>
            <a:endParaRPr lang="en-US" sz="14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負面情緒可藉音樂宣洩（catharsis）</a:t>
            </a:r>
            <a:endParaRPr lang="en-US" sz="14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Negative emotions purged — catharsis</a:t>
            </a:r>
            <a:endParaRPr lang="en-US" sz="14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Mixolydian 悲傷、Dorian 平靜、Phrygian 激昂</a:t>
            </a:r>
            <a:endParaRPr lang="en-US" sz="14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 effects shape character and emotion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BF5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7A283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7A283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7A28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希臘音樂理論 Greek Music Theory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365760" y="658368"/>
            <a:ext cx="8412480" cy="27432"/>
          </a:xfrm>
          <a:prstGeom prst="rect">
            <a:avLst/>
          </a:prstGeom>
          <a:solidFill>
            <a:srgbClr val="E8D8A8"/>
          </a:solidFill>
          <a:ln/>
        </p:spPr>
      </p:sp>
      <p:sp>
        <p:nvSpPr>
          <p:cNvPr id="6" name="Shape 4"/>
          <p:cNvSpPr/>
          <p:nvPr/>
        </p:nvSpPr>
        <p:spPr>
          <a:xfrm>
            <a:off x="365760" y="749808"/>
            <a:ext cx="8412480" cy="987552"/>
          </a:xfrm>
          <a:prstGeom prst="rect">
            <a:avLst/>
          </a:prstGeom>
          <a:solidFill>
            <a:srgbClr val="EDE0C4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813816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7A28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Tetrachord 四音列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548640" y="1161288"/>
            <a:ext cx="402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C18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四個音，跨越完全四度；是希臘音樂體系的基本單位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663440" y="822960"/>
            <a:ext cx="27432" cy="804672"/>
          </a:xfrm>
          <a:prstGeom prst="rect">
            <a:avLst/>
          </a:prstGeom>
          <a:solidFill>
            <a:srgbClr val="E8D8A8"/>
          </a:solidFill>
          <a:ln/>
        </p:spPr>
      </p:sp>
      <p:sp>
        <p:nvSpPr>
          <p:cNvPr id="10" name="Text 8"/>
          <p:cNvSpPr/>
          <p:nvPr/>
        </p:nvSpPr>
        <p:spPr>
          <a:xfrm>
            <a:off x="4754880" y="813816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C3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notes spanning a perfect fourth — building block of Greek scales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754880" y="1207008"/>
            <a:ext cx="384048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3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三種類型：全音階（diatonic）、半音階（chromatic）、異名同音（enharmonic）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365760" y="1819656"/>
            <a:ext cx="8412480" cy="987552"/>
          </a:xfrm>
          <a:prstGeom prst="rect">
            <a:avLst/>
          </a:prstGeom>
          <a:solidFill>
            <a:srgbClr val="F5ECD7"/>
          </a:solidFill>
          <a:ln/>
        </p:spPr>
      </p:sp>
      <p:sp>
        <p:nvSpPr>
          <p:cNvPr id="13" name="Text 11"/>
          <p:cNvSpPr/>
          <p:nvPr/>
        </p:nvSpPr>
        <p:spPr>
          <a:xfrm>
            <a:off x="548640" y="1883664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7A28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Greater Perfect System 大完整體系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548640" y="2231136"/>
            <a:ext cx="402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C18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四個四音列組合成兩個八度的音域體系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663440" y="1892808"/>
            <a:ext cx="27432" cy="804672"/>
          </a:xfrm>
          <a:prstGeom prst="rect">
            <a:avLst/>
          </a:prstGeom>
          <a:solidFill>
            <a:srgbClr val="E8D8A8"/>
          </a:solidFill>
          <a:ln/>
        </p:spPr>
      </p:sp>
      <p:sp>
        <p:nvSpPr>
          <p:cNvPr id="16" name="Text 14"/>
          <p:cNvSpPr/>
          <p:nvPr/>
        </p:nvSpPr>
        <p:spPr>
          <a:xfrm>
            <a:off x="4754880" y="1883664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C3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tetrachords combined to span two octaves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754880" y="2276856"/>
            <a:ext cx="384048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3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各音和四音列均有專用名稱（如 mese、hypaton、diezeugmenon）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365760" y="2889504"/>
            <a:ext cx="8412480" cy="987552"/>
          </a:xfrm>
          <a:prstGeom prst="rect">
            <a:avLst/>
          </a:prstGeom>
          <a:solidFill>
            <a:srgbClr val="EDE0C4"/>
          </a:solidFill>
          <a:ln/>
        </p:spPr>
      </p:sp>
      <p:sp>
        <p:nvSpPr>
          <p:cNvPr id="19" name="Text 17"/>
          <p:cNvSpPr/>
          <p:nvPr/>
        </p:nvSpPr>
        <p:spPr>
          <a:xfrm>
            <a:off x="548640" y="2953512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7A28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Species of Octave 八度音種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548640" y="3300984"/>
            <a:ext cx="402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C18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七種全音/半音排列方式 → 後來影響中世紀調式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663440" y="2962656"/>
            <a:ext cx="27432" cy="804672"/>
          </a:xfrm>
          <a:prstGeom prst="rect">
            <a:avLst/>
          </a:prstGeom>
          <a:solidFill>
            <a:srgbClr val="E8D8A8"/>
          </a:solidFill>
          <a:ln/>
        </p:spPr>
      </p:sp>
      <p:sp>
        <p:nvSpPr>
          <p:cNvPr id="22" name="Text 20"/>
          <p:cNvSpPr/>
          <p:nvPr/>
        </p:nvSpPr>
        <p:spPr>
          <a:xfrm>
            <a:off x="4754880" y="2953512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C3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arrangements of T &amp; S within an octave → influenced medieval modes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4754880" y="3346704"/>
            <a:ext cx="384048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3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Mixolydian, Lydian, Phrygian, Dorian, Hypolydian, Hypophrygian, Hypodorian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365760" y="3959352"/>
            <a:ext cx="8412480" cy="987552"/>
          </a:xfrm>
          <a:prstGeom prst="rect">
            <a:avLst/>
          </a:prstGeom>
          <a:solidFill>
            <a:srgbClr val="F5ECD7"/>
          </a:solidFill>
          <a:ln/>
        </p:spPr>
      </p:sp>
      <p:sp>
        <p:nvSpPr>
          <p:cNvPr id="25" name="Text 23"/>
          <p:cNvSpPr/>
          <p:nvPr/>
        </p:nvSpPr>
        <p:spPr>
          <a:xfrm>
            <a:off x="548640" y="4023360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7A28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Tonoi 調性</a:t>
            </a:r>
            <a:endParaRPr lang="en-US" sz="1450" dirty="0"/>
          </a:p>
        </p:txBody>
      </p:sp>
      <p:sp>
        <p:nvSpPr>
          <p:cNvPr id="26" name="Text 24"/>
          <p:cNvSpPr/>
          <p:nvPr/>
        </p:nvSpPr>
        <p:spPr>
          <a:xfrm>
            <a:off x="548640" y="4370832"/>
            <a:ext cx="402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C18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Aristoxenus 等人以移調方式定義的 15 種音高範圍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4663440" y="4032504"/>
            <a:ext cx="27432" cy="804672"/>
          </a:xfrm>
          <a:prstGeom prst="rect">
            <a:avLst/>
          </a:prstGeom>
          <a:solidFill>
            <a:srgbClr val="E8D8A8"/>
          </a:solidFill>
          <a:ln/>
        </p:spPr>
      </p:sp>
      <p:sp>
        <p:nvSpPr>
          <p:cNvPr id="28" name="Text 26"/>
          <p:cNvSpPr/>
          <p:nvPr/>
        </p:nvSpPr>
        <p:spPr>
          <a:xfrm>
            <a:off x="4754880" y="4023360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C3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scale positions defined by transposition (Aristoxenus et al.)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4754880" y="4416552"/>
            <a:ext cx="384048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3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較高的 tonoi 被認為充滿活力，較低的則平靜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2C18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84124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現存的古希臘音樂 Surviving Ancient Greek Music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371600" y="667512"/>
            <a:ext cx="6400800" cy="36576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" y="749808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現存約 45 件古希臘音樂作品或片段</a:t>
            </a:r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，時間跨度從西元前 5 世紀到西元 4 世紀。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最早的兩件來自歐里庇得斯（Euripides）劇作中的合唱。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74320" y="1298448"/>
            <a:ext cx="8595360" cy="3474720"/>
          </a:xfrm>
          <a:prstGeom prst="rect">
            <a:avLst/>
          </a:prstGeom>
          <a:solidFill>
            <a:srgbClr val="3A2015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1417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Seikilos 墓誌銘 · Epitaph of Seikilos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457200" y="18745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現存最古老完整的音樂作品 · ca. 1st century CE · 出土於土耳其特拉勒斯（Tralles）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1371600" y="2212848"/>
            <a:ext cx="6400800" cy="27432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11" name="Text 9"/>
          <p:cNvSpPr/>
          <p:nvPr/>
        </p:nvSpPr>
        <p:spPr>
          <a:xfrm>
            <a:off x="914400" y="2286000"/>
            <a:ext cx="731520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「Ὅσον ζῇς, φαίνου·
</a:t>
            </a:r>
            <a:pPr algn="ctr" indent="0" marL="0">
              <a:buNone/>
            </a:pPr>
            <a:r>
              <a:rPr lang="en-US" sz="1600" i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μηδὲν ὅλως σύ λυποῦ·
</a:t>
            </a:r>
            <a:pPr algn="ctr" indent="0" marL="0">
              <a:buNone/>
            </a:pPr>
            <a:r>
              <a:rPr lang="en-US" sz="1600" i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πρὸς ὀλίγον ἐστὶ τὸ ζῆν,
</a:t>
            </a:r>
            <a:pPr algn="ctr" indent="0" marL="0">
              <a:buNone/>
            </a:pPr>
            <a:r>
              <a:rPr lang="en-US" sz="1600" i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τὸ τέλος ὁ χρόνος ἀπαιτεῖ.」
</a:t>
            </a:r>
            <a:pPr algn="ctr"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趁著活著，閃耀吧；莫讓任何事令你憂愁。
生命短暫，時間終會把它帶走。
</a:t>
            </a:r>
            <a:pPr algn="ctr" indent="0" marL="0">
              <a:buNone/>
            </a:pPr>
            <a:r>
              <a:rPr lang="en-US" sz="1400" i="1" dirty="0">
                <a:solidFill>
                  <a:srgbClr val="E8D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While you live, shine; let nothing grieve you.</a:t>
            </a:r>
            <a:endParaRPr lang="en-US" sz="1600" dirty="0"/>
          </a:p>
          <a:p>
            <a:pPr algn="ctr" indent="0" marL="0">
              <a:buNone/>
            </a:pPr>
            <a:r>
              <a:rPr lang="en-US" sz="1400" i="1" dirty="0">
                <a:solidFill>
                  <a:srgbClr val="E8D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Life is short, and time claims its toll.</a:t>
            </a:r>
            <a:endParaRPr lang="en-US" sz="16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BF5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A8403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A8403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A84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古羅馬的音樂 Music in Ancient Rome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365760" y="658368"/>
            <a:ext cx="8412480" cy="27432"/>
          </a:xfrm>
          <a:prstGeom prst="rect">
            <a:avLst/>
          </a:prstGeom>
          <a:solidFill>
            <a:srgbClr val="E8D8A8"/>
          </a:solidFill>
          <a:ln/>
        </p:spPr>
      </p:sp>
      <p:sp>
        <p:nvSpPr>
          <p:cNvPr id="6" name="Shape 4"/>
          <p:cNvSpPr/>
          <p:nvPr/>
        </p:nvSpPr>
        <p:spPr>
          <a:xfrm>
            <a:off x="365760" y="749808"/>
            <a:ext cx="5120640" cy="987552"/>
          </a:xfrm>
          <a:prstGeom prst="rect">
            <a:avLst/>
          </a:prstGeom>
          <a:solidFill>
            <a:srgbClr val="EDE0C4"/>
          </a:solidFill>
          <a:ln/>
        </p:spPr>
      </p:sp>
      <p:sp>
        <p:nvSpPr>
          <p:cNvPr id="7" name="Text 5"/>
          <p:cNvSpPr/>
          <p:nvPr/>
        </p:nvSpPr>
        <p:spPr>
          <a:xfrm>
            <a:off x="502920" y="813816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84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■ 功能 Function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02920" y="1143000"/>
            <a:ext cx="4846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C18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婚禮、葬禮、公共競技場（鬥劍士）、宗教儀式、公共演出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18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Weddings, funerals, arena (gladiatorial games), religion, public performance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365760" y="1819656"/>
            <a:ext cx="5120640" cy="987552"/>
          </a:xfrm>
          <a:prstGeom prst="rect">
            <a:avLst/>
          </a:prstGeom>
          <a:solidFill>
            <a:srgbClr val="F5ECD7"/>
          </a:solidFill>
          <a:ln/>
        </p:spPr>
      </p:sp>
      <p:sp>
        <p:nvSpPr>
          <p:cNvPr id="10" name="Text 8"/>
          <p:cNvSpPr/>
          <p:nvPr/>
        </p:nvSpPr>
        <p:spPr>
          <a:xfrm>
            <a:off x="502920" y="1883664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84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■ 起源 Origin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02920" y="2212848"/>
            <a:ext cx="4846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C18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146 BCE 希臘成為羅馬行省後，大量吸收希臘音樂文化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18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146 BCE Greek conquest → massive Greek musical influence on Rome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365760" y="2889504"/>
            <a:ext cx="5120640" cy="987552"/>
          </a:xfrm>
          <a:prstGeom prst="rect">
            <a:avLst/>
          </a:prstGeom>
          <a:solidFill>
            <a:srgbClr val="EDE0C4"/>
          </a:solidFill>
          <a:ln/>
        </p:spPr>
      </p:sp>
      <p:sp>
        <p:nvSpPr>
          <p:cNvPr id="13" name="Text 11"/>
          <p:cNvSpPr/>
          <p:nvPr/>
        </p:nvSpPr>
        <p:spPr>
          <a:xfrm>
            <a:off x="502920" y="2953512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84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■ Hydraulis 水風琴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02920" y="3282696"/>
            <a:ext cx="4846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C18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在競技場大受歡迎；用水壓控制的管風琴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18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Popular in arenas; early organ operated by water pressure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365760" y="3959352"/>
            <a:ext cx="5120640" cy="987552"/>
          </a:xfrm>
          <a:prstGeom prst="rect">
            <a:avLst/>
          </a:prstGeom>
          <a:solidFill>
            <a:srgbClr val="F5ECD7"/>
          </a:solidFill>
          <a:ln/>
        </p:spPr>
      </p:sp>
      <p:sp>
        <p:nvSpPr>
          <p:cNvPr id="16" name="Text 14"/>
          <p:cNvSpPr/>
          <p:nvPr/>
        </p:nvSpPr>
        <p:spPr>
          <a:xfrm>
            <a:off x="502920" y="402336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84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■ Tuba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502920" y="4352544"/>
            <a:ext cx="4846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C18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長約 1.3 公尺的直管銅號；軍隊與公共儀式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18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 straight bronze trumpet ~1.3m; military &amp; ceremonies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5669280" y="749808"/>
            <a:ext cx="3108960" cy="4023360"/>
          </a:xfrm>
          <a:prstGeom prst="rect">
            <a:avLst/>
          </a:prstGeom>
          <a:solidFill>
            <a:srgbClr val="A84030"/>
          </a:solidFill>
          <a:ln/>
        </p:spPr>
      </p:sp>
      <p:sp>
        <p:nvSpPr>
          <p:cNvPr id="19" name="Text 17"/>
          <p:cNvSpPr/>
          <p:nvPr/>
        </p:nvSpPr>
        <p:spPr>
          <a:xfrm>
            <a:off x="5760720" y="841248"/>
            <a:ext cx="2926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BF5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羅馬樂器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FBF5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Roman Instruments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5943600" y="1417320"/>
            <a:ext cx="2560320" cy="27432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21" name="Text 19"/>
          <p:cNvSpPr/>
          <p:nvPr/>
        </p:nvSpPr>
        <p:spPr>
          <a:xfrm>
            <a:off x="5760720" y="1463040"/>
            <a:ext cx="2926080" cy="3246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Tibia（希臘 Aulos 的羅馬版）</a:t>
            </a:r>
            <a:endParaRPr lang="en-US" sz="14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Lyra / Cithara（弦樂）</a:t>
            </a:r>
            <a:endParaRPr lang="en-US" sz="14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Tuba（直管銅號）</a:t>
            </a:r>
            <a:endParaRPr lang="en-US" sz="14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Cornu（C 形號角）</a:t>
            </a:r>
            <a:endParaRPr lang="en-US" sz="14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Hydraulis（水風琴）</a:t>
            </a:r>
            <a:endParaRPr lang="en-US" sz="14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Sistrum（叉鈴，宗教用）</a:t>
            </a:r>
            <a:endParaRPr lang="en-US" sz="14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鼓、鈸、鈴 Drums, Cymbals, Bells</a:t>
            </a:r>
            <a:endParaRPr lang="en-US" sz="14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2C18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希臘的遺產 The Greek Heritage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365760" y="667512"/>
            <a:ext cx="8412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E8D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為西方音樂奠定的基石 — Foundations of Western Music Thought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1371600" y="1005840"/>
            <a:ext cx="6400800" cy="36576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7" name="Shape 5"/>
          <p:cNvSpPr/>
          <p:nvPr/>
        </p:nvSpPr>
        <p:spPr>
          <a:xfrm>
            <a:off x="274320" y="1097280"/>
            <a:ext cx="8595360" cy="667512"/>
          </a:xfrm>
          <a:prstGeom prst="rect">
            <a:avLst/>
          </a:prstGeom>
          <a:solidFill>
            <a:srgbClr val="3A2015"/>
          </a:solidFill>
          <a:ln/>
        </p:spPr>
      </p:sp>
      <p:sp>
        <p:nvSpPr>
          <p:cNvPr id="8" name="Text 6"/>
          <p:cNvSpPr/>
          <p:nvPr/>
        </p:nvSpPr>
        <p:spPr>
          <a:xfrm>
            <a:off x="411480" y="1170432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音階與調式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2377440" y="1143000"/>
            <a:ext cx="6400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七聲音階與調式體系，直接影響中世紀教會調式和現代大小調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7-note scales and modes → medieval church modes → modern major/minor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274320" y="1856232"/>
            <a:ext cx="8595360" cy="667512"/>
          </a:xfrm>
          <a:prstGeom prst="rect">
            <a:avLst/>
          </a:prstGeom>
          <a:solidFill>
            <a:srgbClr val="3A2015"/>
          </a:solidFill>
          <a:ln/>
        </p:spPr>
      </p:sp>
      <p:sp>
        <p:nvSpPr>
          <p:cNvPr id="11" name="Text 9"/>
          <p:cNvSpPr/>
          <p:nvPr/>
        </p:nvSpPr>
        <p:spPr>
          <a:xfrm>
            <a:off x="411480" y="1929384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音樂理論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2377440" y="1901952"/>
            <a:ext cx="6400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音程、音階、節奏的定義；仍是今日音樂理論的基礎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Interval, scale, rhythm definitions — still foundational today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274320" y="2615184"/>
            <a:ext cx="8595360" cy="667512"/>
          </a:xfrm>
          <a:prstGeom prst="rect">
            <a:avLst/>
          </a:prstGeom>
          <a:solidFill>
            <a:srgbClr val="3A2015"/>
          </a:solidFill>
          <a:ln/>
        </p:spPr>
      </p:sp>
      <p:sp>
        <p:nvSpPr>
          <p:cNvPr id="14" name="Text 12"/>
          <p:cNvSpPr/>
          <p:nvPr/>
        </p:nvSpPr>
        <p:spPr>
          <a:xfrm>
            <a:off x="411480" y="2688336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音樂倫理學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2377440" y="2660904"/>
            <a:ext cx="6400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音樂影響性格的觀念，從柏拉圖到現代流行音樂爭議都有回響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Music affects character — echoed in every era's debates (jazz, rock, rap...)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274320" y="3374136"/>
            <a:ext cx="8595360" cy="667512"/>
          </a:xfrm>
          <a:prstGeom prst="rect">
            <a:avLst/>
          </a:prstGeom>
          <a:solidFill>
            <a:srgbClr val="3A2015"/>
          </a:solidFill>
          <a:ln/>
        </p:spPr>
      </p:sp>
      <p:sp>
        <p:nvSpPr>
          <p:cNvPr id="17" name="Text 15"/>
          <p:cNvSpPr/>
          <p:nvPr/>
        </p:nvSpPr>
        <p:spPr>
          <a:xfrm>
            <a:off x="411480" y="3447288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數學與音響學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2377440" y="3419856"/>
            <a:ext cx="6400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Pythagoras 的諧音比例（2:1, 3:2, 4:3）是聲學和調音的基礎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Pythagorean ratios underlie acoustics and tuning theory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274320" y="4133088"/>
            <a:ext cx="8595360" cy="667512"/>
          </a:xfrm>
          <a:prstGeom prst="rect">
            <a:avLst/>
          </a:prstGeom>
          <a:solidFill>
            <a:srgbClr val="3A2015"/>
          </a:solidFill>
          <a:ln/>
        </p:spPr>
      </p:sp>
      <p:sp>
        <p:nvSpPr>
          <p:cNvPr id="20" name="Text 18"/>
          <p:cNvSpPr/>
          <p:nvPr/>
        </p:nvSpPr>
        <p:spPr>
          <a:xfrm>
            <a:off x="411480" y="420624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理論傳承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2377440" y="4178808"/>
            <a:ext cx="6400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希臘理論著作傳入中世紀歐洲，成為大學音樂課程的核心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Greek treatises passed to medieval Europe; formed core of university curriculum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2C18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37160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01768"/>
            <a:ext cx="9144000" cy="141732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228600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本章重點回顧 Chapter Summary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1371600" y="731520"/>
            <a:ext cx="6400800" cy="36576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841248"/>
            <a:ext cx="8229600" cy="4023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研究古代音樂需靠四種歷史痕跡：實物、圖像、文字、音樂本身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Study of ancient music relies on 4 types of evidence: physical remains, images, writings, music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史前時代已有樂器（骨笛 ~40,000 BCE）；文字發明後音樂歷史才真正開始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Prehistoric instruments existed (40,000 BCE); writing marks the true beginning of music history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美索不達米亞：七聲全音階、最早作曲家（恩赫杜安納）、最古老記譜（胡利安頌歌）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Mesopotamia: diatonic scales, first composer (Enheduanna), oldest notation (Hurrian Hymn)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希臘：音樂與宗教、詩歌、教育高度結合；柏拉圖與亞里斯多德論倫理學說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Greece: music intertwined with religion, poetry, education; Plato &amp; Aristotle on ethos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希臘音樂理論（四音列、調式、音階）奠定了後世西方音樂理論的基礎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Greek theory (tetrachord, modes, scales) founded all subsequent Western music theory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古羅馬大量吸收希臘音樂文化；古典遺產透過文字傳入中世紀歐洲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Rome absorbed Greek music; classical heritage transmitted to medieval Europe through texts</a:t>
            </a:r>
            <a:endParaRPr lang="en-US" sz="14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BF5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7A283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7A283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7A28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延伸閱讀與補充教材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64008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C3A2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Further Reading &amp; Supplementary Resources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365760" y="932688"/>
            <a:ext cx="8412480" cy="27432"/>
          </a:xfrm>
          <a:prstGeom prst="rect">
            <a:avLst/>
          </a:prstGeom>
          <a:solidFill>
            <a:srgbClr val="E8D8A8"/>
          </a:solidFill>
          <a:ln/>
        </p:spPr>
      </p:sp>
      <p:sp>
        <p:nvSpPr>
          <p:cNvPr id="7" name="Text 5"/>
          <p:cNvSpPr/>
          <p:nvPr/>
        </p:nvSpPr>
        <p:spPr>
          <a:xfrm>
            <a:off x="365760" y="100584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7A28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■ 聆聽 YouTube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548640" y="1298448"/>
            <a:ext cx="82296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1400" dirty="0">
                <a:solidFill>
                  <a:srgbClr val="4A3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Seikilos Epitaph（最古老完整歌曲，里拉琴版）: youtube.com/watch?v=8Vkcolt-nmU</a:t>
            </a:r>
            <a:endParaRPr lang="en-US" sz="1400" dirty="0"/>
          </a:p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1400" dirty="0">
                <a:solidFill>
                  <a:srgbClr val="4A3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Hurrian Hymn H.6（胡利安頌歌重建版，Peter Pringle）: youtube.com/watch?v=w8tfBLvlN98</a:t>
            </a:r>
            <a:endParaRPr lang="en-US" sz="1400" dirty="0"/>
          </a:p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1400" dirty="0">
                <a:solidFill>
                  <a:srgbClr val="4A3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古希臘音樂重建 · Euripides Orestes合唱（牛津大學）: youtube.com/watch?v=4hOK7bU0S1Y</a:t>
            </a:r>
            <a:endParaRPr lang="en-US" sz="1400" dirty="0"/>
          </a:p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1400" dirty="0">
                <a:solidFill>
                  <a:srgbClr val="4A3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古羅馬音樂重建 Synaulia（弦樂卷）: youtube.com/watch?v=zT6dOMKh3-w</a:t>
            </a:r>
            <a:endParaRPr lang="en-US" sz="1400" dirty="0"/>
          </a:p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1400" dirty="0">
                <a:solidFill>
                  <a:srgbClr val="4A3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Michael Levy 古希臘里拉琴演奏系列: youtube.com/channel/UCJ1X6F7lGMEadnNETSzTv8A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365760" y="228600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7A28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■ 閱讀 Read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548640" y="2578608"/>
            <a:ext cx="82296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1400" dirty="0">
                <a:solidFill>
                  <a:srgbClr val="4A3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維基百科 Music of ancient Greece: en.wikipedia.org/wiki/Music_of_ancient_Greece</a:t>
            </a:r>
            <a:endParaRPr lang="en-US" sz="1400" dirty="0"/>
          </a:p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1400" dirty="0">
                <a:solidFill>
                  <a:srgbClr val="4A3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Stanford Encyclopedia: History of Western Philosophy of Music: plato.stanford.edu/entries/hist-westphilmusic-to-1800</a:t>
            </a:r>
            <a:endParaRPr lang="en-US" sz="1400" dirty="0"/>
          </a:p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1400" dirty="0">
                <a:solidFill>
                  <a:srgbClr val="4A3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World History Encyclopedia — Greek Music: worldhistory.org/Greek_Music</a:t>
            </a:r>
            <a:endParaRPr lang="en-US" sz="1400" dirty="0"/>
          </a:p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1400" dirty="0">
                <a:solidFill>
                  <a:srgbClr val="4A3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Music of Mesopotamia (Wikipedia): en.wikipedia.org/wiki/Music_of_Mesopotamia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65760" y="356616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7A28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■ 學術 Academic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548640" y="3858768"/>
            <a:ext cx="82296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1400" dirty="0">
                <a:solidFill>
                  <a:srgbClr val="4A3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牛津大學：古希臘奧瑞斯提斯音樂重建計畫 (Oxford): classics.ox.ac.uk/recreating-music-ancient-greek-chorus-euripides-orestes</a:t>
            </a:r>
            <a:endParaRPr lang="en-US" sz="1400" dirty="0"/>
          </a:p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1400" dirty="0">
                <a:solidFill>
                  <a:srgbClr val="4A3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胡利安頌歌與楔形文字樂譜研究 (Open Culture): openculture.com/2025/04/hear-the-worlds-oldest-known-song</a:t>
            </a:r>
            <a:endParaRPr lang="en-US" sz="1400" dirty="0"/>
          </a:p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1400" dirty="0">
                <a:solidFill>
                  <a:srgbClr val="4A3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Oldest Songs in the World — Oldest.org: oldest.org/music/songs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Chapter 1: Music in Antiquity</dc:title>
  <dc:subject>PptxGenJS Presentation</dc:subject>
  <dc:creator>A History of Western Music, 10th ed.</dc:creator>
  <cp:lastModifiedBy>A History of Western Music, 10th ed.</cp:lastModifiedBy>
  <cp:revision>1</cp:revision>
  <dcterms:created xsi:type="dcterms:W3CDTF">2026-04-17T16:02:58Z</dcterms:created>
  <dcterms:modified xsi:type="dcterms:W3CDTF">2026-04-17T16:02:58Z</dcterms:modified>
</cp:coreProperties>
</file>