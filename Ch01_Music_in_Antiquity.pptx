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ANTIQUITY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6517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Prehistoric Civilizations · Mesopotamia · Ancient Greece · Rome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4–19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最早的音樂 The Earliest Music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119786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史前時期 40,000 BCE 起的骨笛與壁畫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173736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古美索不達米亞 Ancient Mesopotamia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51560" y="202082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蘇美文明、第一位作曲家、最早的記譜法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606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51560" y="256032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古希臘 Ancient Greece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2843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樂器、哲學、倫理學說、音樂理論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4290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51560" y="338328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古羅馬 Ancient Rome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51560" y="366674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從希臘繼承的音樂傳統與羅馬的發展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206240"/>
            <a:ext cx="54864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2519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51560" y="4206240"/>
            <a:ext cx="7680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希臘遺產 The Greek Heritage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51560" y="44897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西方音樂思想的奠基石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如何研究古代音樂？How We Study Music of the Past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音樂是聲音，聲音本質上是短暫的。我們依靠四種歷史痕跡 (historical traces) 重建過去的音樂。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實物遺存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Remains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樂器、演奏場所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骨笛、豎琴、劇場)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1460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60604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視覺圖像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Images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8892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5" name="Text 13"/>
          <p:cNvSpPr/>
          <p:nvPr/>
        </p:nvSpPr>
        <p:spPr>
          <a:xfrm>
            <a:off x="260604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陶器、壁畫上的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演奏場景描繪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文字記述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Sources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93776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關於音樂與音樂家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的哲學與理論著作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12280" y="1188720"/>
            <a:ext cx="1965960" cy="3474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12801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903720" y="196596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音樂本身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Music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086600" y="2788920"/>
            <a:ext cx="1417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6903720" y="2880360"/>
            <a:ext cx="1783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以記譜法保存或口傳，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1870年代後有錄音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最早的音樂 The Earliest Music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3152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史前時代 Prehistoric 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23444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石器時代於動物骨骼、猛獁象牙鑽孔製笛；最古老骨笛約 40,000 BCE（德國 Hohle Fels）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Stone Age bone/ivory flutes; oldest ~40,000 BCE at Hohle Fels, Germany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洞穴壁畫疑似描繪樂器演奏；土耳其新石器壁畫（BC 6000）顯示鼓手為舞者伴奏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Cave paintings depict instruments; Neolithic Turkey murals show drummers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青銅時代（BC 4000 起）：金屬樂器（鐘、鈸、角）和撥弦樂器出現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Bronze Age (4th mill. BCE): metal instruments and plucked strings emerge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沒有文字記錄 → 史前音樂幾乎完全沉默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written record → prehistoric music is nearly silent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0720" y="822960"/>
            <a:ext cx="3017520" cy="41605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0" y="914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Hohle Fels 骨笛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852160" y="1417320"/>
            <a:ext cx="2834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距今約 40,000–42,000 年
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格里芬禿鷲橈骨製成
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五個指孔，目前出土最完整的早期笛子
</a:t>
            </a:r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40,000–42,000 years old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from griffon vulture wing bone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finger holes — most complete early flute found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52160" y="35204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</a:rPr>
              <a:t>■ 關鍵觀念 Key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52160" y="3822192"/>
            <a:ext cx="2834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文字的發明標誌史前時代的結束，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也是音樂歷史的真正起點。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marks the true beginning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music history.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古美索不達米亞的音樂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Ancient Mesopotamia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612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地理位置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114300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底格里斯河與幼發拉底河之間（今伊拉克、敘利亞）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Tigris &amp; Euphrates Rivers (modern Iraq &amp; Syria)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385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文明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94560" y="192024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蘇美人（Sumerians）建立最早城市；楔形文字（Cuneiform）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Sumerians built first true cities; developed cuneiform writing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715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音樂用途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94560" y="269748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婚禮歌、哀歌、軍樂、工作歌、酒館音樂、神聖儀式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songs, laments, military, work, tavern, sacred ceremonies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42900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4930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文獻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94560" y="347472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2500 BCE 起的詞匯表：包含樂器、音律、演奏技術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lists from ~2500 BCE: instruments, tuning, performing techniques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20624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27024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194560" y="425196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巴比倫人使用七聲全音階；七種調式（對應鋼琴白鍵）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Babylonians used 7-note diatonic scales; 7 modes (piano white keys)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美索不達米亞的樂器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Mesopotamian Instruments · ca. 2500 BCE, Royal Tombs at 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005840"/>
            <a:ext cx="4114800" cy="10972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豎琴 Lyre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弦線與音板平行；弦繞在可調音的棒子上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run parallel to soundboard; tunable crossbar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114800" cy="10972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竪琴 Harp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02920" y="2697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弦線垂直於音板；琴頸直接連接共鳴箱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perpendicular to soundboard; neck attached to soundbox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11480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魯特琴 Lute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00600" y="14630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長頸撥弦樂器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Long-necked plucked string instrument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240280"/>
            <a:ext cx="411480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管樂 Pipes &amp; Drums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800600" y="26974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雙管笛、鼓、鈸、拍板、搖鈴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pipes, drums, cymbals, clappers, rattles, bells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456432"/>
            <a:ext cx="8412480" cy="987552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52958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公牛里拉 Bull Lyre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389534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蘇美獨特風格；琴箱飾以公牛頭（宗教意涵）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Distinctively Sumerian; soundbox features a bull's head (religious)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5760" y="4572000"/>
            <a:ext cx="84124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烏爾出土的豎琴（ca. 2500 BCE）是現存最早的撥弦樂器實物之一 · The lyres and harps from Ur are among the earliest surviving plucked string instruments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第一位有名字的作曲家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Composer Known by Name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430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Enheduanna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恩赫杜安納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⏱ 年代 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20240" y="24688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活躍於 ca. 2300 BCE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■‍■ 身份  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20240" y="29718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阿卡德族（Akkadian）月神南納（Nanna）的女大祭司，任職於烏爾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474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作品  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3474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為月神南納與女神伊南娜（Inanna）創作讚美詩（hymns）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776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現存  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20240" y="3977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歌詞刻於楔形文字泥板上保存——但音樂本身未傳下來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4805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意義 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920240" y="4480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比古埃及、希臘的已知作曲家早了一千多年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最古老的音樂記譜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Oldest Known Musical Notation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胡利安頌歌 Hurrian Hymn (H.6)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年代 Date: ca. 1400–1250 BCE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出土地 Found: Ugarit（敘利亞沿岸商業城邦）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載體 Medium: 楔形文字泥板（Clay tablet）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內容 Content: 獻給月神妻子尼卡爾（Nikkal）的讚美詩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現存最古老、近乎完整的記譜實例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Oldest nearly complete piece with musical notation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記譜法至今仍難以完全破解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Notation too poorly understood to read with certainty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當時音樂家可能不靠記譜演奏，而用它如食譜重建旋律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Used as recipe to reconstruct melody, not for live reading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005840"/>
            <a:ext cx="3291840" cy="384048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0" y="109728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Seikilos 墓誌銘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Epitaph of Seikilos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1810512"/>
            <a:ext cx="31089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年代：ca. 1st century CE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現存最古老、完整的音樂作品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Oldest complete surviving composition
</a:t>
            </a:r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歌詞（原文）
</a:t>
            </a:r>
            <a:pPr indent="0" marL="0">
              <a:buNone/>
            </a:pPr>
            <a:r>
              <a:rPr lang="en-US" sz="1400" i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Ὅσον ζῇς, φαίνου…
</a:t>
            </a:r>
            <a:pPr indent="0" marL="0">
              <a:buNone/>
            </a:pPr>
            <a:r>
              <a:rPr lang="en-US" sz="1400" b="1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中文大意：
</a:t>
            </a:r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「趁著活著，閃耀吧；別讓任何事令你憂愁」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you live, shine; let nothing grieve you.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31720" y="804672"/>
            <a:ext cx="45720" cy="41148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84124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80467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3500–3000 BCE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51760" y="80467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蘇美城市興起 Rise of Sumerian cities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12848" y="117957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114300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3100 BCE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114300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楔形文字建立 Cuneiform writing established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12848" y="1517904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48132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2500 BCE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1481328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烏爾皇家陵墓出土豎琴 Royal Tombs at Ur — lyres &amp; harps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12848" y="1856232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81965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2300 BCE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1819656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恩赫杜安納作曲 Enheduanna composes hymns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12848" y="2194560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215798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1800 BCE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2157984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巴比倫音樂理論著作 Babylonian writings about music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12848" y="253288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249631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1400–1250 BCE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51760" y="249631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最古老近乎完整的樂譜 Oldest nearly complete notation (Ugarit)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12848" y="287121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83464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800 BCE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283464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希臘城邦興起 Rise of Greek city-states; Homer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12848" y="3209544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317296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 BCE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51760" y="3172968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薩卡達斯贏得皮提亞競賽 Sakadas wins Pythic Games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12848" y="3547872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351129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408 BCE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51760" y="3511296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歐里庇得斯《奧瑞斯提斯》附有音樂 Euripides' Orestes (with music)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212848" y="3886200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384962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330 BCE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651760" y="3849624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亞里斯多塞諾斯音樂理論 Aristoxenus, Harmonic Elements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12848" y="4224528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418795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BCE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651760" y="4187952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希臘成為羅馬行省 Greece becomes province of Rome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212848" y="4562856"/>
            <a:ext cx="256032" cy="256032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452628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1st cent. CE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651760" y="4526280"/>
            <a:ext cx="6217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Seikilos 墓誌銘 Epitaph of Seikilos (oldest complete composition)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古希臘的音樂 Music in Ancient Greece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04672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古希臘是現存資料最豐富的古代音樂文明，保存了：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餘件音樂作品或片段 · 大量文字理論著作 · 數百件陶器圖像 · 部分實物樂器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音樂與宗教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Religion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起源被神話化：阿波羅、俄耳甫斯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Origins mythologized (Apollo, Orpheus)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遍及希臘生活：軍事、學校、宗教、劇場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Pervaded all of Greek life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461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音樂與詩歌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Poetry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「melos」= 旋律＋歌詞＋舞蹈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Melos: melody + text + dance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主要是單音音樂 monophonic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「lyric poetry」= 配里拉琴的詩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Lyric poetry = sung to the lyre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508760"/>
            <a:ext cx="2788920" cy="33375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600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音樂與數字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&amp; Numbers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2121408"/>
            <a:ext cx="2423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176272"/>
            <a:ext cx="26060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Pythagoras：8度=2:1, 5度=3:2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Octave 2:1, Fifth 3:2, Fourth 4:3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harmonia = 秩序、數學比例、音階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order of universe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「音樂之球」天文學類比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of the Spheres (Plato)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希臘樂器 Greek Musical Instruments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49808"/>
            <a:ext cx="274320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Aulos (αὐλός)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雙管笛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酒神戴奧尼索斯 Dionysus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雙管、各有指孔與蘆葦管（reed）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pipe with finger holes and reed mouthpiece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常見於飲酒聚會（symposium）和戲劇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symposia, Dionysian festivals, theater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推測二管演奏同音或相距特定音程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pipes likely played in unison or intervals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749808"/>
            <a:ext cx="2743200" cy="4023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Lyre (λύρα)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3756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里拉琴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太陽神阿波羅 Apollo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47472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七弦，龜殼共鳴箱，用撥片彈奏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strings, tortoise-shell soundbox, played with plectrum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雅典教育的核心科目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element of Athenian education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伴奏舞蹈、歌唱、史詩朗誦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Accompanied dancing, singing, epic recitation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749808"/>
            <a:ext cx="274320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841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Kithara (κιθάρα)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25272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基薩拉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63640" y="157276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用於公眾儀式與比賽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1892808"/>
            <a:ext cx="22860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947672"/>
            <a:ext cx="2560320" cy="2788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大型里拉琴，通常站立演奏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lyre, played standing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用於遊行、儀式和劇場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Processions, ceremonies, theater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kitharode = 邊彈邊唱的歌手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Singer accompanying himself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希臘人主要靠耳朵學習音樂，而非讀譜 · Greeks learned by ear, not notation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292608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音樂競賽與職業音樂家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Competitions and Professional Musicians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841248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463040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527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競賽起源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15087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西元前 6 世紀起，阿夫洛斯和基薩拉成為獨奏樂器，開始舉辦競賽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6th cent. BCE, aulos &amp; kithara played as solos; competitions held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2167128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311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Sakadas of Argos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2212848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586、582、578 BCE 三度贏得皮提亞競賽（Pythian Games）阿夫洛斯獨奏首獎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3 times; performed the Pythic Nomos (Apollo vs. Python)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871216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352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名演奏家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68880" y="291693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巡迴演出積累財富；觀眾可達數千人；部分女性演奏家亦成名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virtuosos toured and attracted thousands; some women gained fame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3575304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639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社會地位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68880" y="3621024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競賽外的職業演奏家社會地位低，許多是奴隸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competitions, most professional performers were of low status, often slaves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279392"/>
            <a:ext cx="8595360" cy="612648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4343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獎品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468880" y="432511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圖 1.9 的陶罐（裝酒或油）即為競賽獎品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amphora in Fig. 1.9 was awarded as a competition prize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音樂與倫理 Music and Ethos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希臘哲學家相信音樂能直接影響人的性格與道德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philosophers believed music could affect ethical character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13385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1207008"/>
            <a:ext cx="4114800" cy="37033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柏拉圖 Plato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17099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429–347 BCE · 《理想國》Republic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2029968"/>
            <a:ext cx="3566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084832"/>
            <a:ext cx="3931920" cy="2761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音樂塑造靈魂；只有特定音樂適合教育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molds the soul; only certain music suits education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贊成 Dorian 和 Phrygian 調式（促進節制與勇氣）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Endorsed Dorian &amp; Phrygian harmoniai (temperance &amp; courage)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禁止複雜或混合類型的音樂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complex or mixed musical genres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「音樂法律不可改變」→ 藝術無法度導致社會無法紀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conventions must not change: lawlessness in art → anarchy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1207008"/>
            <a:ext cx="4114800" cy="37033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亞里斯多德 Aristotle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7099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384–322 BCE · 《政治學》Politics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029968"/>
            <a:ext cx="356616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2084832"/>
            <a:ext cx="3931920" cy="2761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音樂模仿情感，激發聽者的 ethos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imitates and arouses ethos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比柏拉圖更開放：音樂亦可用於娛樂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open: music can serve enjoyment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負面情緒可藉音樂宣洩（catharsis）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emotions purged — catharsis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Mixolydian 悲傷、Dorian 平靜、Phrygian 激昂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effects shape character and emotion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希臘音樂理論 Greek Music Theory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49808"/>
            <a:ext cx="841248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1381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Tetrachord 四音列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11612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四個音，跨越完全四度；是希臘音樂體系的基本單位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813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notes spanning a perfect fourth — building block of Greek scales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207008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三種類型：全音階（diatonic）、半音階（chromatic）、異名同音（enharmonic）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1819656"/>
            <a:ext cx="841248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8836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Greater Perfect System 大完整體系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2231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四個四音列組合成兩個八度的音域體系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892808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88366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tetrachords combined to span two octaves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54880" y="2276856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各音和四音列均有專用名稱（如 mese、hypaton、diezeugmenon）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889504"/>
            <a:ext cx="841248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535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Species of Octave 八度音種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33009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七種全音/半音排列方式 → 後來影響中世紀調式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2962656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9535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arrangements of T &amp; S within an octave → influenced medieval modes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334670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Mixolydian, Lydian, Phrygian, Dorian, Hypolydian, Hypophrygian, Hypodorian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3959352"/>
            <a:ext cx="841248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0233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Tonoi 調性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48640" y="43708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Aristoxenus 等人以移調方式定義的 15 種音高範圍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4032504"/>
            <a:ext cx="27432" cy="80467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40233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scale positions defined by transposition (Aristoxenus et al.)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4416552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較高的 tonoi 被認為充滿活力，較低的則平靜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現存的古希臘音樂 Surviving Ancient Greek Music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371600" y="66751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現存約 45 件古希臘音樂作品或片段</a:t>
            </a:r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，時間跨度從西元前 5 世紀到西元 4 世紀。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最早的兩件來自歐里庇得斯（Euripides）劇作中的合唱。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8595360" cy="34747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Seikilos 墓誌銘 · Epitaph of Seikilos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現存最古老完整的音樂作品 · ca. 1st century CE · 出土於土耳其特拉勒斯（Tralles）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2212848"/>
            <a:ext cx="640080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86000"/>
            <a:ext cx="7315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「Ὅσον ζῇς, φαίνου·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μηδὲν ὅλως σύ λυποῦ·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πρὸς ὀλίγον ἐστὶ τὸ ζῆν,
</a:t>
            </a:r>
            <a:pPr algn="ctr" indent="0" marL="0">
              <a:buNone/>
            </a:pPr>
            <a:r>
              <a:rPr lang="en-US" sz="1600" i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τὸ τέλος ὁ χρόνος ἀπαιτεῖ.」
</a:t>
            </a:r>
            <a:pPr algn="ctr"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趁著活著，閃耀吧；莫讓任何事令你憂愁。
生命短暫，時間終會把它帶走。
</a:t>
            </a:r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While you live, shine; let nothing grieve you.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 is short, and time claims its toll.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古羅馬的音樂 Music in Ancient Rome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49808"/>
            <a:ext cx="512064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138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功能 Function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1430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婚禮、葬禮、公共競技場（鬥劍士）、宗教儀式、公共演出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Weddings, funerals, arena (gladiatorial games), religion, public performance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819656"/>
            <a:ext cx="512064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起源 Origin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21284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BCE 希臘成為羅馬行省後，大量吸收希臘音樂文化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146 BCE Greek conquest → massive Greek musical influence on Rome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889504"/>
            <a:ext cx="5120640" cy="987552"/>
          </a:xfrm>
          <a:prstGeom prst="rect">
            <a:avLst/>
          </a:prstGeom>
          <a:solidFill>
            <a:srgbClr val="EDE0C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953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Hydraulis 水風琴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282696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在競技場大受歡迎；用水壓控制的管風琴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in arenas; early organ operated by water pressure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959352"/>
            <a:ext cx="5120640" cy="987552"/>
          </a:xfrm>
          <a:prstGeom prst="rect">
            <a:avLst/>
          </a:prstGeom>
          <a:solidFill>
            <a:srgbClr val="F5ECD7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023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Tuba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352544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長約 1.3 公尺的直管銅號；軍隊與公共儀式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straight bronze trumpet ~1.3m; military &amp; ceremonies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0" y="749808"/>
            <a:ext cx="3108960" cy="4023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84124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羅馬樂器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Roman Instruments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2560320" cy="274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1463040"/>
            <a:ext cx="292608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Tibia（希臘 Aulos 的羅馬版）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Lyra / Cithara（弦樂）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Tuba（直管銅號）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Cornu（C 形號角）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Hydraulis（水風琴）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Sistrum（叉鈴，宗教用）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鼓、鈸、鈴 Drums, Cymbals, Bells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希臘的遺產 The Greek Heritage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6751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為西方音樂奠定的基石 — Foundations of Western Music Thought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100584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音階與調式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77440" y="114300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七聲音階與調式體系，直接影響中世紀教會調式和現代大小調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7-note scales and modes → medieval church modes → modern major/minor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2938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音樂理論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77440" y="190195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音程、音階、節奏的定義；仍是今日音樂理論的基礎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Interval, scale, rhythm definitions — still foundational today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68833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音樂倫理學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377440" y="266090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音樂影響性格的觀念，從柏拉圖到現代流行音樂爭議都有回響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affects character — echoed in every era's debates (jazz, rock, rap...)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374136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4472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數學與音響學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377440" y="341985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Pythagoras 的諧音比例（2:1, 3:2, 4:3）是聲學和調音的基礎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Pythagorean ratios underlie acoustics and tuning theory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4133088"/>
            <a:ext cx="8595360" cy="66751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42062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理論傳承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77440" y="417880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希臘理論著作傳入中世紀歐洲，成為大學音樂課程的核心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treatises passed to medieval Europe; formed core of university curriculum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本章重點回顧 Chapter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731520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41248"/>
            <a:ext cx="8229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研究古代音樂需靠四種歷史痕跡：實物、圖像、文字、音樂本身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ancient music relies on 4 types of evidence: physical remains, images, writings, music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史前時代已有樂器（骨笛 ~40,000 BCE）；文字發明後音樂歷史才真正開始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Prehistoric instruments existed (40,000 BCE); writing marks the true beginning of music history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美索不達米亞：七聲全音階、最早作曲家（恩赫杜安納）、最古老記譜（胡利安頌歌）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Mesopotamia: diatonic scales, first composer (Enheduanna), oldest notation (Hurrian Hymn)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希臘：音樂與宗教、詩歌、教育高度結合；柏拉圖與亞里斯多德論倫理學說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Greece: music intertwined with religion, poetry, education; Plato &amp; Aristotle on ethos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希臘音樂理論（四音列、調式、音階）奠定了後世西方音樂理論的基礎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theory (tetrachord, modes, scales) founded all subsequent Western music theory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古羅馬大量吸收希臘音樂文化；古典遺產透過文字傳入中世紀歐洲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Rome absorbed Greek music; classical heritage transmitted to medieval Europe through texts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3268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YouTube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129844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Seikilos Epitaph（最古老完整歌曲，里拉琴版）: youtube.com/watch?v=8Vkcolt-nmU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Hurrian Hymn H.6（胡利安頌歌重建版，Peter Pringle）: youtube.com/watch?v=w8tfBLvlN98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古希臘音樂重建 · Euripides Orestes合唱（牛津大學）: youtube.com/watch?v=4hOK7bU0S1Y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古羅馬音樂重建 Synaulia（弦樂卷）: youtube.com/watch?v=HlFpiNAOdUo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Levy 古希臘里拉琴演奏系列: youtube.com/channel/UCJ1X6F7lGMEadnNETSzTv8A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2860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閱讀 Read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257860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維基百科 Music of ancient Greece: en.wikipedia.org/wiki/Music_of_ancient_Greece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Encyclopedia: History of Western Philosophy of Music: plato.stanford.edu/entries/hist-westphilmusic-to-1800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History Encyclopedia — Greek Music: worldhistory.org/Greek_Music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of Mesopotamia (Wikipedia): en.wikipedia.org/wiki/Music_of_Mesopotamia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35661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學術 Academic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3858768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牛津大學：古希臘奧瑞斯提斯音樂重建計畫 (Oxford): classics.ox.ac.uk/recreating-music-ancient-greek-chorus-euripides-orestes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胡利安頌歌與楔形文字樂譜研究 (Open Culture): openculture.com/2025/04/hear-the-worlds-oldest-known-song</a:t>
            </a:r>
            <a:endParaRPr lang="en-US" sz="14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400" dirty="0">
                <a:solidFill>
                  <a:srgbClr val="4A3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Songs in the World — Oldest.org: oldest.org/music/songs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1: Music in Antiquity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2026-04-17T23:26:44Z</dcterms:created>
  <dcterms:modified xsi:type="dcterms:W3CDTF">2026-04-17T23:26:44Z</dcterms:modified>
</cp:coreProperties>
</file>