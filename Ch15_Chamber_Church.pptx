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0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C89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01768"/>
            <a:ext cx="9144000" cy="141732"/>
          </a:xfrm>
          <a:prstGeom prst="rect">
            <a:avLst/>
          </a:prstGeom>
          <a:solidFill>
            <a:srgbClr val="C8944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300" kern="0" dirty="0">
                <a:solidFill>
                  <a:srgbClr val="E8D8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HISTORY OF WESTERN MUSIC · TENTH EDITION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spc="600" kern="0" dirty="0">
                <a:solidFill>
                  <a:srgbClr val="C89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CHAPTER 15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74320" y="1280160"/>
            <a:ext cx="85953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F0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MUSIC FOR CHAMBER AND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F5F0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CHURCH IN THE EARLY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F5F0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SEVENTEENTH CENTURY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2286000" y="3429000"/>
            <a:ext cx="4572000" cy="36576"/>
          </a:xfrm>
          <a:prstGeom prst="rect">
            <a:avLst/>
          </a:prstGeom>
          <a:solidFill>
            <a:srgbClr val="C89440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35661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D8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Concertato Madrigal · Oratorio · Schütz · Frescobaldi · Violin Sonata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9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Textbook pp. 317–338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A6A6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2A6A6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30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本章概覽 Chapter Overview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8412480" cy="27432"/>
          </a:xfrm>
          <a:prstGeom prst="rect">
            <a:avLst/>
          </a:prstGeom>
          <a:solidFill>
            <a:srgbClr val="E8D8A8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914400"/>
            <a:ext cx="548640" cy="530352"/>
          </a:xfrm>
          <a:prstGeom prst="rect">
            <a:avLst/>
          </a:prstGeom>
          <a:solidFill>
            <a:srgbClr val="2A6A6A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9601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🎤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51560" y="9144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Italian Vocal Chamber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1170432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Concertato madrigal · Monteverdi (NAWM 82) · Cantata 興起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600200"/>
            <a:ext cx="548640" cy="530352"/>
          </a:xfrm>
          <a:prstGeom prst="rect">
            <a:avLst/>
          </a:prstGeom>
          <a:solidFill>
            <a:srgbClr val="2A6A6A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16459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⛪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51560" y="16002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Catholic Sacred Music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51560" y="1856232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Sacred concerto · Grandi (NAWM 83) · Carissimi Jephte (NAWM 84)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286000"/>
            <a:ext cx="548640" cy="530352"/>
          </a:xfrm>
          <a:prstGeom prst="rect">
            <a:avLst/>
          </a:prstGeom>
          <a:solidFill>
            <a:srgbClr val="2A6A6A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23317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✝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051560" y="22860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Lutheran Church Music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51560" y="2542032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Schütz · Saul (NAWM 85) · Kleine geistliche Concerte (NAWM 86)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2971800"/>
            <a:ext cx="548640" cy="530352"/>
          </a:xfrm>
          <a:prstGeom prst="rect">
            <a:avLst/>
          </a:prstGeom>
          <a:solidFill>
            <a:srgbClr val="2A6A6A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30175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🕍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051560" y="29718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Jewish Music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51560" y="3227832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Salamone Rossi · 會堂音樂與記譜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3657600"/>
            <a:ext cx="548640" cy="530352"/>
          </a:xfrm>
          <a:prstGeom prst="rect">
            <a:avLst/>
          </a:prstGeom>
          <a:solidFill>
            <a:srgbClr val="2A6A6A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37033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⌨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051560" y="36576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Keyboard: Frescobaldi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51560" y="3913632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Toccata No. 3 (NAWM 87) · Organ Mass · Stylus fantasticus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343400"/>
            <a:ext cx="548640" cy="530352"/>
          </a:xfrm>
          <a:prstGeom prst="rect">
            <a:avLst/>
          </a:prstGeom>
          <a:solidFill>
            <a:srgbClr val="2A6A6A"/>
          </a:solidFill>
          <a:ln/>
        </p:spPr>
      </p:sp>
      <p:sp>
        <p:nvSpPr>
          <p:cNvPr id="27" name="Text 25"/>
          <p:cNvSpPr/>
          <p:nvPr/>
        </p:nvSpPr>
        <p:spPr>
          <a:xfrm>
            <a:off x="365760" y="43891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🎻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051560" y="43434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Violin: Marini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051560" y="4599432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Sonata per il violino (NAWM 88) · 小提琴的獨立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0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89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C8944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89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義大利世俗聲樂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D8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Concertato Madrigal · Basso Ostinato · Cantata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371600" y="1024128"/>
            <a:ext cx="6400800" cy="36576"/>
          </a:xfrm>
          <a:prstGeom prst="rect">
            <a:avLst/>
          </a:prstGeom>
          <a:solidFill>
            <a:srgbClr val="C89440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1188720"/>
            <a:ext cx="4206240" cy="3611880"/>
          </a:xfrm>
          <a:prstGeom prst="rect">
            <a:avLst/>
          </a:prstGeom>
          <a:solidFill>
            <a:srgbClr val="1A2838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26187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9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🎤 Concertato Madrigal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572768"/>
            <a:ext cx="3977640" cy="3154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從 a cappella 牧歌 → 有 basso continuo 伴奏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Monteverdi 第 5–8 部牧歌集的演變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少數聲部 + 器樂 ritornello + continuo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兼具室內樂親密感與劇場表現力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🎵 NAWM 82: Monteverdi · Ohimè ch'io cado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第七部牧歌集 (Concerto, 1619)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二聲部 + basso continuo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表現跌倒、痛苦——半音下行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示範 concertato madrigal 的新語彙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Basso Ostinato（固定低音）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重複 bass pattern 上方旋律自由變化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Ciaccona（恰空）/ Passacaglia（帕薩卡利亞）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Romanesca · Ruggiero 等固定 bass 模式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→ Purcell · Pachelbel · Bach 的重要技法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663440" y="1188720"/>
            <a:ext cx="4206240" cy="3611880"/>
          </a:xfrm>
          <a:prstGeom prst="rect">
            <a:avLst/>
          </a:prstGeom>
          <a:solidFill>
            <a:srgbClr val="1A2838"/>
          </a:solidFill>
          <a:ln/>
        </p:spPr>
      </p:sp>
      <p:sp>
        <p:nvSpPr>
          <p:cNvPr id="11" name="Text 9"/>
          <p:cNvSpPr/>
          <p:nvPr/>
        </p:nvSpPr>
        <p:spPr>
          <a:xfrm>
            <a:off x="4800600" y="126187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9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📜 Cantata 清唱曲的興起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46320" y="1572768"/>
            <a:ext cx="3977640" cy="3154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Cantata = 「被唱的」(cantare)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對比 Sonata = 「被奏的」(sonare)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1620 年代興起——義大利室內聲樂的主流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早期形式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Strophic variation（分節變奏）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或 recitative + aria 交替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通常獨唱 + continuo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長度 5–15 分鐘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為貴族或學院私人場合演唱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🌟 重要作曲家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Luigi Rossi (1597–1653)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Giacomo Carissimi (1605–1674)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Barbara Strozzi (1619–1677)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最多產的 17 世紀女性作曲家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8 冊出版物——幾乎全為世俗聲樂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Cantata · Arietta · Duet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Cantata 到世紀末成為：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義大利最精緻的聲樂形式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作曲家的能力檢驗標準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→ A. Scarlatti · Handel · Bach 繼承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0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A6A6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2A6A6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30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天主教宗教音樂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694944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A6A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Sacred Concerto · Grandi (NAWM 83) · Carissimi Jephte (NAWM 84)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86000" y="1051560"/>
            <a:ext cx="4572000" cy="36576"/>
          </a:xfrm>
          <a:prstGeom prst="rect">
            <a:avLst/>
          </a:prstGeom>
          <a:solidFill>
            <a:srgbClr val="2A6A6A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1188720"/>
            <a:ext cx="4206240" cy="3611880"/>
          </a:xfrm>
          <a:prstGeom prst="rect">
            <a:avLst/>
          </a:prstGeom>
          <a:solidFill>
            <a:srgbClr val="E0ECE8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26187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0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⛪ Sacred Concerto 宗教協奏曲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572768"/>
            <a:ext cx="3977640" cy="3154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A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宗教歌詞 + concertato 技法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A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聲樂 + 器樂 + continuo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A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從 G. Gabrieli In ecclesiis 延伸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A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1–多聲部皆可 · 規模差異大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A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🌟 Alessandro Grandi (ca. 1586–1630)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A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威尼斯 St. Mark's 副樂長（Monteverdi 之下）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A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 quam tu pulchra es (NAWM 83)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A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獨唱 + continuo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A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雅歌文字 · 旋律溫柔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A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Recitative + aria 段落交替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A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小型 sacred concerto 典範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A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Stile antico vs. Stile moderno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A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教會同時保留兩種風格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A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Palestrina 風格繼續用於正式禮儀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A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新 concertato 風格用於節慶/特殊場合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A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兩者共存——作曲家需掌握兩套技術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663440" y="1188720"/>
            <a:ext cx="4206240" cy="3611880"/>
          </a:xfrm>
          <a:prstGeom prst="rect">
            <a:avLst/>
          </a:prstGeom>
          <a:solidFill>
            <a:srgbClr val="E0ECE8"/>
          </a:solidFill>
          <a:ln/>
        </p:spPr>
      </p:sp>
      <p:sp>
        <p:nvSpPr>
          <p:cNvPr id="11" name="Text 9"/>
          <p:cNvSpPr/>
          <p:nvPr/>
        </p:nvSpPr>
        <p:spPr>
          <a:xfrm>
            <a:off x="4800600" y="126187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0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🎭 Oratorio 神劇的興起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46320" y="1572768"/>
            <a:ext cx="3977640" cy="3154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A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宗教題材 · 有戲劇情節 · 但不上舞台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A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源於 Filippo Neri 的 Oratory（祈禱會）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A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Narration + dialogue + chorus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A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不用佈景、服裝、動作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A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🌟 Giacomo Carissimi (1605–1674)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A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羅馬 Collegio Germanico 樂長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A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拉丁神劇大師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A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🎵 Jephte (NAWM 84)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A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舊約士師記：Jephtha 戰勝後須獻祭女兒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A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Historicus（敘事者）+ 角色 + 合唱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A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「Plorate, colles」——女兒的哀歌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A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女聲獨唱 · 悲痛的下行半音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A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合唱呼應「Plorate」——催淚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A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不協和 + 半音 = 巴洛克情感力量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A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Oratorio → Handel Messiah · Bach Passion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A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成為巴洛克大型宗教音樂的核心類型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0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89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C8944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89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許茨與路德宗音樂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D8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Heinrich Schütz · Saul (NAWM 85) · Kleine geistliche Concerte (NAWM 86)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371600" y="1024128"/>
            <a:ext cx="6400800" cy="36576"/>
          </a:xfrm>
          <a:prstGeom prst="rect">
            <a:avLst/>
          </a:prstGeom>
          <a:solidFill>
            <a:srgbClr val="C89440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1188720"/>
            <a:ext cx="4206240" cy="3611880"/>
          </a:xfrm>
          <a:prstGeom prst="rect">
            <a:avLst/>
          </a:prstGeom>
          <a:solidFill>
            <a:srgbClr val="1A2838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26187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9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🌟 Heinrich Schütz (1585–1672)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572768"/>
            <a:ext cx="3977640" cy="3154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17 世紀最重要的德國作曲家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橫跨義大利新風格與德國路德宗傳統的橋樑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生平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1609–12/1628 兩度赴威尼斯學習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師事 G. Gabrieli → 後師事 Monteverdi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1617 起任 Dresden 宮廷樂長——直至逝世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三十年戰爭期間極力維持音樂生活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主要作品集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Psalmen Davids (1619) · 威尼斯 polychoral 風格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Cantiones sacrae (1625) · 拉丁經文歌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Symphoniae sacrae I–III (1629/47/50)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Kleine geistliche Concerte I–II (1636/39)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戰時縮編：1–5 聲 + continuo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Musikalische Exequien (1636) · 德文安魂曲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 部 Passion（晚年無伴奏）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663440" y="1188720"/>
            <a:ext cx="4206240" cy="3611880"/>
          </a:xfrm>
          <a:prstGeom prst="rect">
            <a:avLst/>
          </a:prstGeom>
          <a:solidFill>
            <a:srgbClr val="1A2838"/>
          </a:solidFill>
          <a:ln/>
        </p:spPr>
      </p:sp>
      <p:sp>
        <p:nvSpPr>
          <p:cNvPr id="11" name="Text 9"/>
          <p:cNvSpPr/>
          <p:nvPr/>
        </p:nvSpPr>
        <p:spPr>
          <a:xfrm>
            <a:off x="4800600" y="126187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9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🎵 NAWM 85 &amp; 86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46320" y="1572768"/>
            <a:ext cx="3977640" cy="3154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NAWM 85 · Saul, Saul, was verfolgst du mich?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Symphoniae sacrae III (1650)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使徒行傳 9:4 ——「掃羅，你為何逼迫我？」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大型 concertato：6 聲部 + 2 小提琴 + continuo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 補充合唱 (cappella)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耶穌呼喊「Saul」——echo 效果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力度從 fortissimo → pianissimo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聲音漸遠 = 神聖聲音的消逝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融合威尼斯 polychoral + 劇場戲劇性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NAWM 86 · O lieber Herre Gott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Kleine geistliche Concerte (1636)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戰爭時期——樂團縮編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獨唱 + continuo 的小型 sacred concerto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以路德聖歌旋律為基礎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簡單但深情——戰時的信仰表達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Schütz 為 Bach 鋪路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義大利技法 + 德國虔誠 = 路德宗音樂的典範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0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A6A6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2A6A6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30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弗雷斯科巴爾迪與鍵盤音樂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694944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A6A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Frescobaldi · Toccata (NAWM 87) · Organ Mass · Stylus fantasticus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86000" y="1051560"/>
            <a:ext cx="4572000" cy="36576"/>
          </a:xfrm>
          <a:prstGeom prst="rect">
            <a:avLst/>
          </a:prstGeom>
          <a:solidFill>
            <a:srgbClr val="2A6A6A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1188720"/>
            <a:ext cx="4206240" cy="3611880"/>
          </a:xfrm>
          <a:prstGeom prst="rect">
            <a:avLst/>
          </a:prstGeom>
          <a:solidFill>
            <a:srgbClr val="E0ECE8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26187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0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🌟 Girolamo Frescobaldi (1583–1643)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572768"/>
            <a:ext cx="3977640" cy="3154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A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巴洛克初期最偉大的鍵盤作曲家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A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1608–1628/1634–43 任 St. Peter's (Roma) 管風琴師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A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傳聞首場演出吸引 3 萬名聽眾（誇張但象徵其名望）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A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主要作品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A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Toccate e partite d'intavolatura, libro I (1615)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A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12 首 Toccata · 序言說明彈性速度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A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Ricercar · Canzona · Capriccio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A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Fiori musicali (1635)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A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三套管風琴彌撒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A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Bach 親手抄寫此譜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A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🎵 NAWM 87: Toccata No. 3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A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多段式 · 各段不同 tempo 與織度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A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自由段 vs. 模仿段交替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A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Frescobaldi 自己說：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A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「開頭要慢 · 依表情調整速度」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A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展現 stylus fantasticus（幻想風格）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663440" y="1188720"/>
            <a:ext cx="4206240" cy="3611880"/>
          </a:xfrm>
          <a:prstGeom prst="rect">
            <a:avLst/>
          </a:prstGeom>
          <a:solidFill>
            <a:srgbClr val="E0ECE8"/>
          </a:solidFill>
          <a:ln/>
        </p:spPr>
      </p:sp>
      <p:sp>
        <p:nvSpPr>
          <p:cNvPr id="11" name="Text 9"/>
          <p:cNvSpPr/>
          <p:nvPr/>
        </p:nvSpPr>
        <p:spPr>
          <a:xfrm>
            <a:off x="4800600" y="126187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0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🎻 Marini &amp; Violin Sonata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46320" y="1572768"/>
            <a:ext cx="3977640" cy="3154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1A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小提琴：17 世紀獨奏之王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1A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從合奏樂器到獨奏明星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1A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16 世紀：小提琴主要用於舞蹈伴奏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1A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1600 後：進入教堂與室內——地位躍升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1A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義大利製琴師：Amati → Stradivari → Guarneri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1A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🌟 Biagio Marini (1594–1663)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1A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小提琴家 · 作曲家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1A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曾任 St. Mark's 樂手（Monteverdi 的樂團）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1A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🎵 NAWM 88: Sonata IV per il violino (Op. 8)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1A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Violin + continuo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1A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多段式 · 各段不同速度與風格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1A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使用 double stops（雙音）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1A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為小提琴首批技巧性寫作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1A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有 affetti（情感效果段落）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1A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展示小提琴獨有的音色語彙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1A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意義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1A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小提琴 sonata 成為 17–18 世紀核心類型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1A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→ Corelli · Vivaldi · Tartini · Bach · Mozart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0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A6A6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2A6A6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30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時間軸 · Timeline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0" y="749808"/>
            <a:ext cx="4572000" cy="36576"/>
          </a:xfrm>
          <a:prstGeom prst="rect">
            <a:avLst/>
          </a:prstGeom>
          <a:solidFill>
            <a:srgbClr val="2A6A6A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914400"/>
            <a:ext cx="1005840" cy="402336"/>
          </a:xfrm>
          <a:prstGeom prst="rect">
            <a:avLst/>
          </a:prstGeom>
          <a:solidFill>
            <a:srgbClr val="2A6A6A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969264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F0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1607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371600" y="914400"/>
            <a:ext cx="3246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Monteverdi · L'Orfeo · Schütz 赴 Venice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663440" y="914400"/>
            <a:ext cx="1005840" cy="402336"/>
          </a:xfrm>
          <a:prstGeom prst="rect">
            <a:avLst/>
          </a:prstGeom>
          <a:solidFill>
            <a:srgbClr val="2A6A6A"/>
          </a:solidFill>
          <a:ln/>
        </p:spPr>
      </p:sp>
      <p:sp>
        <p:nvSpPr>
          <p:cNvPr id="10" name="Text 8"/>
          <p:cNvSpPr/>
          <p:nvPr/>
        </p:nvSpPr>
        <p:spPr>
          <a:xfrm>
            <a:off x="4709160" y="969264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F0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1615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760720" y="914400"/>
            <a:ext cx="3246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Frescobaldi · Toccate libro I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74320" y="1417320"/>
            <a:ext cx="1005840" cy="402336"/>
          </a:xfrm>
          <a:prstGeom prst="rect">
            <a:avLst/>
          </a:prstGeom>
          <a:solidFill>
            <a:srgbClr val="2A6A6A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" y="1472184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F0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1617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371600" y="1417320"/>
            <a:ext cx="3246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Schütz 任 Dresden 樂長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663440" y="1417320"/>
            <a:ext cx="1005840" cy="402336"/>
          </a:xfrm>
          <a:prstGeom prst="rect">
            <a:avLst/>
          </a:prstGeom>
          <a:solidFill>
            <a:srgbClr val="2A6A6A"/>
          </a:solidFill>
          <a:ln/>
        </p:spPr>
      </p:sp>
      <p:sp>
        <p:nvSpPr>
          <p:cNvPr id="16" name="Text 14"/>
          <p:cNvSpPr/>
          <p:nvPr/>
        </p:nvSpPr>
        <p:spPr>
          <a:xfrm>
            <a:off x="4709160" y="1472184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F0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1618–48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760720" y="1417320"/>
            <a:ext cx="3246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三十年戰爭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74320" y="1920240"/>
            <a:ext cx="1005840" cy="402336"/>
          </a:xfrm>
          <a:prstGeom prst="rect">
            <a:avLst/>
          </a:prstGeom>
          <a:solidFill>
            <a:srgbClr val="2A6A6A"/>
          </a:solidFill>
          <a:ln/>
        </p:spPr>
      </p:sp>
      <p:sp>
        <p:nvSpPr>
          <p:cNvPr id="19" name="Text 17"/>
          <p:cNvSpPr/>
          <p:nvPr/>
        </p:nvSpPr>
        <p:spPr>
          <a:xfrm>
            <a:off x="320040" y="1975104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F0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1619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371600" y="1920240"/>
            <a:ext cx="3246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Monteverdi · Seventh Book (Concerto)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663440" y="1920240"/>
            <a:ext cx="1005840" cy="402336"/>
          </a:xfrm>
          <a:prstGeom prst="rect">
            <a:avLst/>
          </a:prstGeom>
          <a:solidFill>
            <a:srgbClr val="2A6A6A"/>
          </a:solidFill>
          <a:ln/>
        </p:spPr>
      </p:sp>
      <p:sp>
        <p:nvSpPr>
          <p:cNvPr id="22" name="Text 20"/>
          <p:cNvSpPr/>
          <p:nvPr/>
        </p:nvSpPr>
        <p:spPr>
          <a:xfrm>
            <a:off x="4709160" y="1975104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F0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1623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760720" y="1920240"/>
            <a:ext cx="3246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Rossi · Hashirim asher lishlomo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74320" y="2423160"/>
            <a:ext cx="1005840" cy="402336"/>
          </a:xfrm>
          <a:prstGeom prst="rect">
            <a:avLst/>
          </a:prstGeom>
          <a:solidFill>
            <a:srgbClr val="2A6A6A"/>
          </a:solidFill>
          <a:ln/>
        </p:spPr>
      </p:sp>
      <p:sp>
        <p:nvSpPr>
          <p:cNvPr id="25" name="Text 23"/>
          <p:cNvSpPr/>
          <p:nvPr/>
        </p:nvSpPr>
        <p:spPr>
          <a:xfrm>
            <a:off x="320040" y="2478024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F0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1626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371600" y="2423160"/>
            <a:ext cx="3246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Schütz · Cantiones sacrae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663440" y="2423160"/>
            <a:ext cx="1005840" cy="402336"/>
          </a:xfrm>
          <a:prstGeom prst="rect">
            <a:avLst/>
          </a:prstGeom>
          <a:solidFill>
            <a:srgbClr val="2A6A6A"/>
          </a:solidFill>
          <a:ln/>
        </p:spPr>
      </p:sp>
      <p:sp>
        <p:nvSpPr>
          <p:cNvPr id="28" name="Text 26"/>
          <p:cNvSpPr/>
          <p:nvPr/>
        </p:nvSpPr>
        <p:spPr>
          <a:xfrm>
            <a:off x="4709160" y="2478024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F0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1629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760720" y="2423160"/>
            <a:ext cx="3246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Schütz · Symphoniae sacrae I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74320" y="2926080"/>
            <a:ext cx="1005840" cy="402336"/>
          </a:xfrm>
          <a:prstGeom prst="rect">
            <a:avLst/>
          </a:prstGeom>
          <a:solidFill>
            <a:srgbClr val="2A6A6A"/>
          </a:solidFill>
          <a:ln/>
        </p:spPr>
      </p:sp>
      <p:sp>
        <p:nvSpPr>
          <p:cNvPr id="31" name="Text 29"/>
          <p:cNvSpPr/>
          <p:nvPr/>
        </p:nvSpPr>
        <p:spPr>
          <a:xfrm>
            <a:off x="320040" y="2980944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F0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1635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371600" y="2926080"/>
            <a:ext cx="3246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Frescobaldi · Fiori musicali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663440" y="2926080"/>
            <a:ext cx="1005840" cy="402336"/>
          </a:xfrm>
          <a:prstGeom prst="rect">
            <a:avLst/>
          </a:prstGeom>
          <a:solidFill>
            <a:srgbClr val="2A6A6A"/>
          </a:solidFill>
          <a:ln/>
        </p:spPr>
      </p:sp>
      <p:sp>
        <p:nvSpPr>
          <p:cNvPr id="34" name="Text 32"/>
          <p:cNvSpPr/>
          <p:nvPr/>
        </p:nvSpPr>
        <p:spPr>
          <a:xfrm>
            <a:off x="4709160" y="2980944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F0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1636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760720" y="2926080"/>
            <a:ext cx="3246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Schütz · Kleine geistliche Concerte I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274320" y="3429000"/>
            <a:ext cx="1005840" cy="402336"/>
          </a:xfrm>
          <a:prstGeom prst="rect">
            <a:avLst/>
          </a:prstGeom>
          <a:solidFill>
            <a:srgbClr val="2A6A6A"/>
          </a:solidFill>
          <a:ln/>
        </p:spPr>
      </p:sp>
      <p:sp>
        <p:nvSpPr>
          <p:cNvPr id="37" name="Text 35"/>
          <p:cNvSpPr/>
          <p:nvPr/>
        </p:nvSpPr>
        <p:spPr>
          <a:xfrm>
            <a:off x="320040" y="3483864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F0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ca. 1640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371600" y="3429000"/>
            <a:ext cx="3246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Carissimi · Jephte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663440" y="3429000"/>
            <a:ext cx="1005840" cy="402336"/>
          </a:xfrm>
          <a:prstGeom prst="rect">
            <a:avLst/>
          </a:prstGeom>
          <a:solidFill>
            <a:srgbClr val="2A6A6A"/>
          </a:solidFill>
          <a:ln/>
        </p:spPr>
      </p:sp>
      <p:sp>
        <p:nvSpPr>
          <p:cNvPr id="40" name="Text 38"/>
          <p:cNvSpPr/>
          <p:nvPr/>
        </p:nvSpPr>
        <p:spPr>
          <a:xfrm>
            <a:off x="4709160" y="3483864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F0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1643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760720" y="3429000"/>
            <a:ext cx="3246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Frescobaldi · Monteverdi 逝世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274320" y="3931920"/>
            <a:ext cx="1005840" cy="402336"/>
          </a:xfrm>
          <a:prstGeom prst="rect">
            <a:avLst/>
          </a:prstGeom>
          <a:solidFill>
            <a:srgbClr val="2A6A6A"/>
          </a:solidFill>
          <a:ln/>
        </p:spPr>
      </p:sp>
      <p:sp>
        <p:nvSpPr>
          <p:cNvPr id="43" name="Text 41"/>
          <p:cNvSpPr/>
          <p:nvPr/>
        </p:nvSpPr>
        <p:spPr>
          <a:xfrm>
            <a:off x="320040" y="3986784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F0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1650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371600" y="3931920"/>
            <a:ext cx="3246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Schütz · Symphoniae sacrae III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663440" y="3931920"/>
            <a:ext cx="1005840" cy="402336"/>
          </a:xfrm>
          <a:prstGeom prst="rect">
            <a:avLst/>
          </a:prstGeom>
          <a:solidFill>
            <a:srgbClr val="2A6A6A"/>
          </a:solidFill>
          <a:ln/>
        </p:spPr>
      </p:sp>
      <p:sp>
        <p:nvSpPr>
          <p:cNvPr id="46" name="Text 44"/>
          <p:cNvSpPr/>
          <p:nvPr/>
        </p:nvSpPr>
        <p:spPr>
          <a:xfrm>
            <a:off x="4709160" y="3986784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F0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1655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760720" y="3931920"/>
            <a:ext cx="3246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Marini · Op. 8 Violin Sonatas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0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89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C8944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89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關鍵詞彙 · 延伸閱讀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D8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Terms &amp; Further Reading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371600" y="1024128"/>
            <a:ext cx="6400800" cy="36576"/>
          </a:xfrm>
          <a:prstGeom prst="rect">
            <a:avLst/>
          </a:prstGeom>
          <a:solidFill>
            <a:srgbClr val="C89440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1188720"/>
            <a:ext cx="4206240" cy="3611880"/>
          </a:xfrm>
          <a:prstGeom prst="rect">
            <a:avLst/>
          </a:prstGeom>
          <a:solidFill>
            <a:srgbClr val="1A2838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26187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9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🔑 Key Terms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572768"/>
            <a:ext cx="3977640" cy="3154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concertato madrigal · concerted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basso ostinato · ciaccona · passacaglia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romanesca · ruggiero · folia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cantata · strophic variation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sacred concerto · grand concerto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oratorio · historicus · chorus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Kleine geistliche Concerte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Symphoniae sacrae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toccata · ricercar · canzona · capriccio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stylus fantasticus · tempo rubato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Fiori musicali · organ Mass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sonata · violin sonata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double stops · affetti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Barbara Strozzi · Salamone Rossi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663440" y="1188720"/>
            <a:ext cx="4206240" cy="3611880"/>
          </a:xfrm>
          <a:prstGeom prst="rect">
            <a:avLst/>
          </a:prstGeom>
          <a:solidFill>
            <a:srgbClr val="1A2838"/>
          </a:solidFill>
          <a:ln/>
        </p:spPr>
      </p:sp>
      <p:sp>
        <p:nvSpPr>
          <p:cNvPr id="11" name="Text 9"/>
          <p:cNvSpPr/>
          <p:nvPr/>
        </p:nvSpPr>
        <p:spPr>
          <a:xfrm>
            <a:off x="4800600" y="126187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9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📚 Further Reading &amp; 🎧 Listening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46320" y="1572768"/>
            <a:ext cx="3977640" cy="3154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Silbiger. Frescobaldi (2004)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Moser/Pfatteicher. Heinrich Schütz (1959)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Smither. A History of the Oratorio (1977)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Allsop. The Italian Trio Sonata (1992)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🎧 NAWM 精選聆聽 (YouTube)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81 · Caccini · Sfogava con le stelle  youtu.be/gVcc4ZNBLPw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82 · Monteverdi · Ohimè ch'io cado  youtu.be/OOpUglExpoA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83 · Grandi · O quam tu pulchra es  youtu.be/G-u-bieKf24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84 · Carissimi · Jephte: Plorate  youtu.be/aEk9vLzCPBw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85 · Schütz · Saul, Saul  youtu.be/vTiMOsMsv2I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86 · Schütz · O lieber Herre Gott  youtu.be/HX9JhVVC-l8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87 · Frescobaldi · Toccata No. 3  youtu.be/PV4VRPIwbYw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88 · Marini · Sonata IV  youtu.be/DsaYKQI6elQ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15: Music for Chamber and Church in the Early Seventeenth Century</dc:title>
  <dc:subject>PptxGenJS Presentation</dc:subject>
  <dc:creator>A History of Western Music, 10th ed.</dc:creator>
  <cp:lastModifiedBy>A History of Western Music, 10th ed.</cp:lastModifiedBy>
  <cp:revision>1</cp:revision>
  <dcterms:created xsi:type="dcterms:W3CDTF">2026-04-12T07:15:29Z</dcterms:created>
  <dcterms:modified xsi:type="dcterms:W3CDTF">2026-04-12T07:15:29Z</dcterms:modified>
</cp:coreProperties>
</file>