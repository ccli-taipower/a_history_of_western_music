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JfHoxZlMY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KkDj_rJCk6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2s1Gf3b2w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RCDI_Jy6bE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eZZMrP9bET4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6dJmqSi_ql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1OyyJb3WNG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JfHoxZlMYw" TargetMode="External"/><Relationship Id="rId2" Type="http://schemas.openxmlformats.org/officeDocument/2006/relationships/hyperlink" Target="https://www.youtube.com/watch?v=KkDj_rJCk6E" TargetMode="External"/><Relationship Id="rId3" Type="http://schemas.openxmlformats.org/officeDocument/2006/relationships/hyperlink" Target="https://www.youtube.com/watch?v=2s1Gf3b2wRs" TargetMode="External"/><Relationship Id="rId4" Type="http://schemas.openxmlformats.org/officeDocument/2006/relationships/hyperlink" Target="https://www.youtube.com/watch?v=RCDI_Jy6bEk" TargetMode="External"/><Relationship Id="rId5" Type="http://schemas.openxmlformats.org/officeDocument/2006/relationships/hyperlink" Target="https://www.youtube.com/watch?v=eZZMrP9bET4" TargetMode="External"/><Relationship Id="rId6" Type="http://schemas.openxmlformats.org/officeDocument/2006/relationships/hyperlink" Target="https://www.youtube.com/watch?v=6dJmqSi_qlM" TargetMode="External"/><Relationship Id="rId7" Type="http://schemas.openxmlformats.org/officeDocument/2006/relationships/hyperlink" Target="https://www.youtube.com/watch?v=1OyyJb3WNGI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FOR CHAMBER AND CHURCH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EARLY SEVENTEENTH CENTURY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286000" y="320040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37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十七世紀初的室內樂與教會音樂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Strozzi · Carissimi · Schütz · Frescobaldi · Marini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326–353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Vocal Chamber Music 義大利聲樂室內樂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Concertato madrigal, basso ostinato, cantata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65760" y="1764792"/>
            <a:ext cx="8412480" cy="713232"/>
          </a:xfrm>
          <a:prstGeom prst="rect">
            <a:avLst>
              <a:gd name="adj" fmla="val 10256"/>
            </a:avLst>
          </a:prstGeom>
          <a:solidFill>
            <a:srgbClr val="EDE5C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10512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Catholic Sacred Music 天主教聖樂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Sacred concerto, oratorio (Grandi · Carissimi)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65760" y="2569464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15184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Lutheran Church Music 路德宗教會音樂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Heinrich Schütz: Italian style meets German text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65760" y="3374136"/>
            <a:ext cx="8412480" cy="713232"/>
          </a:xfrm>
          <a:prstGeom prst="rect">
            <a:avLst>
              <a:gd name="adj" fmla="val 10256"/>
            </a:avLst>
          </a:prstGeom>
          <a:solidFill>
            <a:srgbClr val="EDE5C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419856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Jewish Liturgical Music 猶太禮儀音樂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Salamone Rossi: polyphony in the synagogue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65760" y="4178808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22452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Music 器樂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Frescobaldi (toccata) · Marini (violin sonata)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義大利聲樂室內樂：協奏曲風牧歌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 Vocal Chamber Music: The Concertato Madrigal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medium 協奏媒介: solo voices + basso continuo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optional instruments — texture contrast is key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Monteverdi's Books 5–8 (1605–1638) trace the evolution: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from polyphonic madrigal → concerted madrigal with continuo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7 Concerto (1619): strophic variations, canzonettas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Book 8 Madrigali guerrieri et amorosi (1638): stile concitato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include madrigals, canzonettas, arias, recitatives,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dialogues — all with ritornellos &amp; basso continuo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82: Monteverdi — Ohimè dov'è il mio ben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蒙特威爾第《噢，我的愛人在何方》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Romanesca bass pattern: repeating harmonic progression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which two soprano voices weave expressive duet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Book 7 Concerto (1619): strophic variations on a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bass — each stanza varies melody over same bass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sopranos + basso continuo: intimate chamber texture;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frames each section (instrumental interlude)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shift from polyphonic madrigal → concertato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chamber song with basso continuo as structural foundation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https://www.youtube.com/watch?v=bJfHoxZlMYw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固定低音 Basso Ostinato / Ground Bass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Repeating Bass Patterns as Structural Foundation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ostinato 固定低音: a bass pattern that repeats while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melody changes above — usually 2, 4, or 8 bars in triple meter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Romanesca, Ruggiero: well-known bass patterns from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Spain/Italy used for songs &amp; instrumental variations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Descending tetrachord 下行四度: stepwise descent spanning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4th — associated with lament; Monteverdi's Lamento della ninfa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Chacona / Ciaccona 夏乾舞曲: from the Americas via Spain;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I–V–vi–V bass progression; Monteverdi's Zefiro torna (1632)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清唱套曲的發展 The Cantata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Strophic Song to Multi-Section Drama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Cantata = "a piece to be sung" (It. cantare);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1620 meant a published collection of strophic arias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mid-century: secular composition for solo voice + continuo,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sections of recitative + aria on a dramatic text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for private aristocratic performances;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preserved mostly in manuscripts, not printed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cantata composers: Luigi Rossi, Antonio Cesti,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Carissimi, and Barbara Strozzi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芭芭拉·史特羅乞 Barbara Strozzi (1619–1677)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Prolific Composer of Secular Vocal Music of Her Century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in Venice; adopted (perhaps biological) daughter of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 Giulio Strozzi; studied with Cavalli (Monteverdi's student)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8 collections (1644–1664): over 100 madrigals,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arias, cantatas, motets — more cantatas than any peer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Lagrime mie (NAWM 77): solo cantata alternating recitative,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arioso, &amp; aria; focus on unrequited love; dissonant expression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perform publicly due to social class;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as a way to be "heard" beyond private gatherings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天主教聖樂：宗教協奏曲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Catholic Sacred Music: The Sacred Concerto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古風 vs. stile moderno 現代風 coexist;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Palestrina's style preserved alongside basso continuo textures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sacred concerto 大型宗教協奏曲: cori spezzati,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choirs + soloists + instruments (G. Gabrieli tradition)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sacred concerto 小型宗教協奏曲: 1–4 solo voices +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 (± 1–2 violins); practical for smaller churches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Viadana's Cento concerti ecclesiastici (1602):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printed sacred vocal music with basso continuo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83: Grandi — O quam tu pulchra 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格蘭第《妳多麼美麗》(1625)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Grandi (1586–1630): Monteverdi's deputy at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Mark's, Venice; pioneered the solo motet with continuo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from Song of Songs 雅歌: dialogue of lovers read as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metaphor for God's love for the Church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Blends recitative style ("O quam tu pulchra es") with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lyric aria in triple meter ("Surge, propera, sponsa mea")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styles within a single piece mirror the new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operatic vocabulary applied to sacred expression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https://www.youtube.com/watch?v=KkDj_rJCk6E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修道院中的音樂 Music in Convents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Hidden Musical Cultures Behind Convent Walls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officials restricted music in convents, barring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teachers; yet nuns developed thriving musical cultures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Lucrezia Vizzana (1590–1662): entered Santa Cristina in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Bologna as a child; Componimenti musicali (1623) — motets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Chiara Margarita Cozzolani (1602–ca. 1677): four collections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sacred concertos; polychoral Vespers with modern arias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women published despite restrictions, showing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 music rivalled standards outside convent walls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神劇 Oratorio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Drama Without Staging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Oratorio = sacred dramatic work combining narrative,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dialogue, &amp; commentary; NOT staged, with a narrator (testo)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oratorio 義大利語神劇: vernacular, shorter,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spreading faith to commoners; performed during Lent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oratorio 拉丁語神劇: for aristocratic courts;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longer, more elaborate — like opera without costumes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after the oratory (prayer hall) where devotional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with music were held in 17th-century Rome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84: Carissimi — Historia di Jephte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卡里西米《耶弗他》(ca. 1648)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Carissimi (1605–1674): leading Latin oratorio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composer; based on Judges 11:29–40 (Jephtha's vow)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 in recitative; Jephtha's victory recounted by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6-voice ensemble with stile concitato battle effects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scene: daughter laments with descending tetrachord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bass; two sopranos echo her cadential flourishes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Six-voice chorus responds with polychoral &amp; madrigalistic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— blending operatic drama with sacred purpose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https://www.youtube.com/watch?v=2s1Gf3b2wRs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路德宗教會音樂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Lutheran Church Music: Italian Influence in Germany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composers absorbed Italian monodic &amp; concertato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while maintaining polyphonic chorale traditions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concerto in Germany: Hassler, Praetorius adopted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large-scale Venetian model; small concerto even more common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H. Schein: Opella nova (1618, 1626) — German sacred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concertos blending Lutheran chorale with Italian concertato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(1618–48): devastated resources;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smaller-scale works suited to reduced church forces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海因里希·許茨 Heinrich Schütz (1585–1672)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of Conveying the Meaning of Words Through Music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Innkeeper's son; singing talent noticed by Landgrave of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Hesse at age 12; sent to study law, then music in Venice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Studied with Giovanni Gabrieli in Venice (1609–1612);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visited again during Monteverdi's era — absorbed both styles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Chapelmaster at the Saxon court in Dresden (1615–1672);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German opera (Dafne, 1627, music lost)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forced him to publish Kleine geistliche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Konzerte (1636, 1639) for reduced forces — widely popular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乖茨的主要作品 Schütz: Major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Collections Spanning Five Decades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Psalmen Davids (1619): German polychoral psalms —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Venetian grandeur with sensitive German text treatment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Cantiones sacrae (1625): Latin motets with harmonic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novelties; Symphoniae sacrae I (1629): Italian concertato style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geistliche Konzerte (1636, 1639): 1–5 voices +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 only — composed for war-depleted church resources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Symphoniae sacrae III (1650): large-scale concertos;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(Seven Last Words), Christmas History, 3 Passions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85: Schütz — Saul, Saul, was verfolgst du mich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乖茨《掃羅，掃羅，你為何迫害我？》(1650)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Symphoniae sacrae III (1650): large sacred concerto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2 choirs + 6 soloists + 2 violins + continuo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Acts 9 &amp; 26: Christ's blinding voice to Saul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 to Damascus — a dramatic conversion scene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figures: cadentiae duriusculae (harsh dissonances)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"Saul"; saltus duriusculus (harsh leap) in solo section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Gabrieli's polychoral grandeur with Monteverdi's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dissonant rhetoric — Italian form with German sacred purpose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https://www.youtube.com/watch?v=RCDI_Jy6bEk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86: Schütz — O lieber Herre Gott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乖茨《親愛的主，上帝》— Kleine geistliche Konzerte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Kleine geistliche Konzerte (1636): small sacred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 for solo voice + basso continuo only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Wartime austerity: no instruments beyond continuo;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Schütz achieves profound expression with minimal forces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figures capture every nuance of the German text;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word-painting conveys meaning through melody &amp; harmony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throughout Germany — suitable for small churches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limited resources during the Thirty Years' War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C8A030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https://www.youtube.com/watch?v=eZZMrP9bET4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乖茨的遺產 Schütz's Legacy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Bridging Italian Innovation and German Sacred Tradition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tradition: The Seven Last Words of Christ (1650s?)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Christmas History (1664) — narrative + concertato scenes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Passions (1666): returned to the older German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 of plainsong narrative + polyphonic motet choruses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his lifetime known mainly in Lutheran areas;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rediscovered in the 19th–20th centuries as a towering figure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synthesis of German &amp; Italian elements laid the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from Schein to Bach to Brahms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猶太禮儀音樂 Jewish Liturgical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Salamone Rossi &amp; Polyphony in the Synagogue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Cantillation remained primary Jewish musical form;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techniques emerged in early 1600s despite rabbinical resistance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 Modena (1571–1648): rabbi &amp; humanist; promoted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polyphony at the Venice synagogue from 1607 onward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Salamone Rossi (ca. 1570–ca. 1630): Mantuan composer;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Hashirim asher lish'lomo (Songs of Solomon, 1622–23)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Hebrew psalms, hymns, synagogue songs in Italian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polyphonic style — first published Jewish liturgical polyphony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器樂類型 Types of Instrumental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to Categorize Baroque Instrumental Works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463040"/>
            <a:ext cx="4023360" cy="3383280"/>
          </a:xfrm>
          <a:prstGeom prst="rect">
            <a:avLst>
              <a:gd name="adj" fmla="val 2162"/>
            </a:avLst>
          </a:prstGeom>
          <a:solidFill>
            <a:srgbClr val="E8D8A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508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Improvisatory Style 即興風格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3794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Toccata, fantasia, prelude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觸技曲、幻想曲、前奏曲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Imitative Counterpoint 模仿對位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Ricercare, fugue, canzona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利切卡爾、賦格、坎佐那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變奏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Partita, chaconne, passacaglia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帕蒂塔、夏康、帕薩卡利亞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4023360" cy="3383280"/>
          </a:xfrm>
          <a:prstGeom prst="rect">
            <a:avLst>
              <a:gd name="adj" fmla="val 2162"/>
            </a:avLst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508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Settings / Dance 舞曲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92040" y="1691640"/>
            <a:ext cx="3794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verse, chorale prelude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風琴聖詠前奏曲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奏鳴曲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sections for 1–2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melody instruments + continuo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Padouana, gagliarda, courante,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allemande — linked dances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乎雷斯科巴第 Girolamo Frescobaldi (1583–1643)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Organist at St. Peter's, Rome — Keyboard Genius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in Ferrara; organist at St. Peter's, Rome from 1608;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served the Grand Duke of Tuscany &amp; Barberini family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Toccatas: succession of brief sections, each with a distinct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figure; tempo is free, not tied to a regular beat (affetti)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Fiori musicali (Musical Flowers, 1635): 3 organ masses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toccatas, ricercares, canzonas for liturgical use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keyboard works were a model for J. S. &amp; C. P. E. Bach;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Froberger (his student) spread the style across Europe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87: Frescobaldi — Toccata No. 3 (1615)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乎雷斯科巴第《觸技曲第三號》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Primo Libro di Toccate (First Book of Toccatas, 1615):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harpsichord — succession of brief contrasting sections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focuses on a particular figure: virtuoso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passagework, imitative exchanges, cadential weakening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can be played separately; player may end at any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— written music as a platform for performance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varies with mood: "not subject to a regular beat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modified according to the affections" (Frescobaldi)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https://www.youtube.com/watch?v=6dJmqSi_qlM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利切卡爾·坎佐那·奏鳴曲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Ricercare, Canzona, and Sonata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Ricercare: serious imitative work for organ/harpsichord;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subject developed continuously — ancestor of the fugue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Canzona: imitative piece in contrasting sections;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markedly rhythmic themes; for keyboard or ensemble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奏鳴曲: originally any instrumental piece; by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mid-century = contrasting sections for 1–2 instruments + continuo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c. 1650 canzona and sonata had merged;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"sonata" became the standard term for both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88: Marini — Sonata IV, Op. 8 (1629)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馬里尼《第四奏鳴曲》— 小提琴 + 數字低音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Biagio Marini (1594–1663): violinist at St. Mark's under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Monteverdi; published 22 collections of vocal &amp; instrumental music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IV per il violino per sonar con due corde: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"instrumental monody" — idiomatic violin writing with continuo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sections: expressive opening like a Caccini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madrigal → virtuosic figuration, double stops, large leaps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Rhapsodic &amp; metrical sections alternate; recitative and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styles adapted from vocal music to the violin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https://www.youtube.com/watch?v=1OyyJb3WNGI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變奏·夏康·組曲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Variations, Chaconne / Passacaglia, and Suite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變奏: on borrowed or newly composed themes;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type, melodic embellishment, or harmonic bass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Chaconne 夏康 &amp; Passacaglia 帕薩卡利亞: variations over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ground bass; triple meter, 4 bars; Frescobaldi's Partite (1627)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組曲: linked dances sharing a key; J. H. Schein's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Banchetto musicale (1617) — padouana, gagliarda, courante, etc.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1700 chaconne and passacaglia merged as terms;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became a major genre of the late Baroque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412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84124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Peri, L'Euridice — first opera whose music survives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13385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113385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Viadana, Cento concerti ecclesiastici (first printed sacred + bc)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1426464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42646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142646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Monteverdi, Fifth Book of Madrigals (basso continuo)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171907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17190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Frescobaldi, First Book of Toccatas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2011680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1618–48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201168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devastates Germany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65760" y="2304288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23042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1619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45920" y="230428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Psalmen Davids; Monteverdi, Book 7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65760" y="2596896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259689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1622–23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259689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Salamone Rossi, Hashirim asher lish'lomo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65760" y="2889504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288950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45920" y="288950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Grandi, O quam tu pulchra es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65760" y="3182112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31" name="Text 29"/>
          <p:cNvSpPr/>
          <p:nvPr/>
        </p:nvSpPr>
        <p:spPr>
          <a:xfrm>
            <a:off x="411480" y="318211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459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Marini, Sonate, Op. 8; Schütz, Symphoniae sacrae I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34" name="Text 32"/>
          <p:cNvSpPr/>
          <p:nvPr/>
        </p:nvSpPr>
        <p:spPr>
          <a:xfrm>
            <a:off x="411480" y="34747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1635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645920" y="347472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Frescobaldi, Fiori musicali (organ masses)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65760" y="3767328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" y="37673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1636–39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645920" y="376732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Kleine geistliche Konzerte (I &amp; II)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365760" y="4059936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" y="405993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1648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645920" y="405993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Carissimi, Historia di Jephte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365760" y="4352544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43" name="Text 41"/>
          <p:cNvSpPr/>
          <p:nvPr/>
        </p:nvSpPr>
        <p:spPr>
          <a:xfrm>
            <a:off x="411480" y="435254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645920" y="435254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Symphoniae sacrae III (Saul)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" y="46451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1659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645920" y="464515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Strozzi, Diporti di Euterpe (Lagrime mie)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傳統與創新 Tradition and Innovation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Lasting Significance of Early 17th-Century Music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genres: cantata, sacred concerto, oratorio, sonata,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partita, chaconne, passacaglia, dance suite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techniques: basso continuo, concertato medium,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bass — all became foundational for later Baroque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that different styles suit different purposes: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for sacred tradition, stile moderno for expression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music gained independence from vocal music;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toccatas &amp; ricercares compared to orations in rhetorical power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 Key Terms &amp; Listening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87552"/>
            <a:ext cx="4023360" cy="3913632"/>
          </a:xfrm>
          <a:prstGeom prst="rect">
            <a:avLst>
              <a:gd name="adj" fmla="val 1869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關鍵術語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9476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madrigal 協奏曲風牧歌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ostinato / ground bass 固定低音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Descending tetrachord 下行四度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Cantata 清唱套曲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concerto 宗教協奏曲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Oratorio 神劇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/ stile moderno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 利切卡爾 / Fugue 賦格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Canzona 坎佐那 / Sonata 奏鳴曲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Chaconne 夏康 / Passacaglia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 / Musical figures 音樂修辭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4023360" cy="3913632"/>
          </a:xfrm>
          <a:prstGeom prst="rect">
            <a:avLst>
              <a:gd name="adj" fmla="val 1869"/>
            </a:avLst>
          </a:prstGeom>
          <a:solidFill>
            <a:srgbClr val="E8D8A8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Listening 聆聽清單</a:t>
            </a:r>
            <a:endParaRPr lang="en-US" sz="18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892040" y="1417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82  Monteverdi, Ohimè dov'è il mio ben</a:t>
            </a:r>
            <a:endParaRPr lang="en-US" sz="14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489204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83  Grandi, O quam tu pulchra es</a:t>
            </a:r>
            <a:endParaRPr lang="en-US" sz="1400" dirty="0"/>
          </a:p>
        </p:txBody>
      </p:sp>
      <p:sp>
        <p:nvSpPr>
          <p:cNvPr id="13" name="Text 11">
            <a:hlinkClick r:id="rId3" tooltip=""/>
          </p:cNvPr>
          <p:cNvSpPr/>
          <p:nvPr/>
        </p:nvSpPr>
        <p:spPr>
          <a:xfrm>
            <a:off x="489204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84  Carissimi, Historia di Jephte</a:t>
            </a:r>
            <a:endParaRPr lang="en-US" sz="1400" dirty="0"/>
          </a:p>
        </p:txBody>
      </p:sp>
      <p:sp>
        <p:nvSpPr>
          <p:cNvPr id="14" name="Text 12">
            <a:hlinkClick r:id="rId4" tooltip=""/>
          </p:cNvPr>
          <p:cNvSpPr/>
          <p:nvPr/>
        </p:nvSpPr>
        <p:spPr>
          <a:xfrm>
            <a:off x="489204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85  Schütz, Saul, was verfolgst du mich</a:t>
            </a:r>
            <a:endParaRPr lang="en-US" sz="1400" dirty="0"/>
          </a:p>
        </p:txBody>
      </p:sp>
      <p:sp>
        <p:nvSpPr>
          <p:cNvPr id="15" name="Text 13">
            <a:hlinkClick r:id="rId5" tooltip=""/>
          </p:cNvPr>
          <p:cNvSpPr/>
          <p:nvPr/>
        </p:nvSpPr>
        <p:spPr>
          <a:xfrm>
            <a:off x="489204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86  Schütz, O lieber Herre Gott</a:t>
            </a:r>
            <a:endParaRPr lang="en-US" sz="1400" dirty="0"/>
          </a:p>
        </p:txBody>
      </p:sp>
      <p:sp>
        <p:nvSpPr>
          <p:cNvPr id="16" name="Text 14">
            <a:hlinkClick r:id="rId6" tooltip=""/>
          </p:cNvPr>
          <p:cNvSpPr/>
          <p:nvPr/>
        </p:nvSpPr>
        <p:spPr>
          <a:xfrm>
            <a:off x="489204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87  Frescobaldi, Toccata No. 3</a:t>
            </a:r>
            <a:endParaRPr lang="en-US" sz="1400" dirty="0"/>
          </a:p>
        </p:txBody>
      </p:sp>
      <p:sp>
        <p:nvSpPr>
          <p:cNvPr id="17" name="Text 15">
            <a:hlinkClick r:id="rId7" tooltip=""/>
          </p:cNvPr>
          <p:cNvSpPr/>
          <p:nvPr/>
        </p:nvSpPr>
        <p:spPr>
          <a:xfrm>
            <a:off x="489204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88  Marini, Sonata IV, Op.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15: Music for Chamber and Church in the Early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2026-04-17T22:47:48Z</dcterms:created>
  <dcterms:modified xsi:type="dcterms:W3CDTF">2026-04-17T22:47:48Z</dcterms:modified>
</cp:coreProperties>
</file>