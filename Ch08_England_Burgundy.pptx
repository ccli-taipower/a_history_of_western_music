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ENGLAND AND BURGUNDY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FIFTEENTH CENTURY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Contenance angloise · Dunstable · Binchois · Du Fay · The Polyphonic Mass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159–179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Music 英格蘭音樂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Sarum rite · Faburden · Carol · 三六度協和 · Dunstable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Contenance Angloise 英式風韻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 Le Franc 1440 詩篇 · 大陸作曲家學習英格蘭風格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Burgundian Court 勃艮第宮廷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 the Good · 歐洲最盛的禮拜堂樂團 · 國際樂風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Binchois 賓切瓦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1400–1460 · 勃艮第 chanson 大師 · rondeau De plus en plus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Du Fay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1397–1474 · 集大成者 · Se la face ay pale · Nuper rosarum flores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Polyphonic Mass 複音彌撒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mass · 四聲部 · L'homme armé 傳統 · 最尊貴的類型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英格蘭音樂的特色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Music · Sarum Rite · Faburden · Carol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English Sound 英式音響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頻繁的和聲三度、六度——常以平行進行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徹底的協和——極少不協和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簡單旋律、規則樂句、音節對音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同節奏（homorhythmic）織度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Sarum rite：英格蘭特有的聖歌方言（中世紀至宗教改革）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三聲部織度常以中聲部持 chant、上聲部平行四度、下聲部平行三度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Faburden &amp; Carol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Faburden（ca. 1430 首次見諸文獻）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即興複音技法——中聲部唱 chant、上方四度、下方三度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規則化系統——不識譜的修士也能唱出正確複音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結果是連續不斷的 6/3 和弦（三和六度）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Carol（英格蘭獨有體裁）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源自中世紀 carole（舞歌）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兩到三聲部 · 英文／拉丁文或混合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結構：stanzas（詩節）+ burden（副歌）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多為宗教題材：聖誕節、聖母馬利亞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例：Alleluia: A newë work (NAWM 32)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Dunstable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1390–1453 · 15 世紀最傑出的英格蘭作曲家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 Biography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同時為數學家、天文學家——回應中世紀四藝（quadrivium）傳統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非神職人員——服侍多位貴族贊助人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1422–1437 服侍 John, Duke of Bedford（攝政法國）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之後服侍 Queen Joan、Humphrey Duke of Gloucester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1437 繼承 Bedford 在法國的部分土地——可能長年居於法國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作品大部分保存在歐陸手稿中——證明其國際影響力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主要作品 Major Works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涵蓋當時所有複音類型（約 60 部）：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部 polyphonic mass cycles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組 Gloria-Credo 配對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 部其他 Mass Ordinary 樂章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部 isorhythmic motets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 部 plainchant settings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 部其他拉丁聖樂 · 5 首世俗歌曲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代表作：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Quam pulchra es (NAWM 33)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自由創作、文字清晰、自然節奏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Regina caeli laetare — cantus paraphrase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Contenance Angloise 英式風韻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Martin Le Franc · Le champion des dames (1440–42)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5544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Le Franc 原詩意譯（1440–42）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「Du Fay 與 Binchois 有一種新的實踐方式——在高音與低音中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創造活潑的協和。他們採取了英格蘭人的風韻（contenance angloise），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並追隨 Dunstable——這賦予他們的音樂奇妙的愉悅感。」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834640"/>
            <a:ext cx="8595360" cy="196596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英式風韻的音樂特徵 Musical Features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頻繁使用和聲三度與六度——常以平行進行呈現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徹底的協和——極少不協和（僅允許經過音與留音）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避免平行五度與八度（中世紀複音常見）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同節奏織度（homorhythmic）——各聲部節奏相似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簡單、優美、可歌的旋律線條 · 清晰音節宣告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成為 15 世紀國際風格的核心 — foundation of mid-15c international style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勃艮第宮廷 The Burgundian Court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Europe's Foremost Center of Music · ca. 1400–1477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E0EED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The Duchy 公國領地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名義上為法王封臣，實際幾與法王平起平坐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封地：Burgundy、荷蘭、比利時、東北法國、盧森堡、洛林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重心城市：Lille、Bruges、Ghent、Brussels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1419–35 與英格蘭結盟對抗法王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1477 Charles the Bold 戰死 → 法國吸收勃艮第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四位主要公爵：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Philip the Bold (1363–1404) 建立禮拜堂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John the Fearless (1404–19)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Philip the Good (1419–67) 全盛期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Charles the Bold (1467–77) 業餘作曲家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E0EED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The Chapel 禮拜堂樂團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1384 Philip the Bold 建立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1445 達 23 位歌手——歐洲僅次於英王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音樂家主要來自法蘭德斯與低地諸省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另維持樂手隊：trumpet、drums、vielle、lute、harp、organ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四種主要作品類型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Chansons · Motets · Magnificats · Mass Ordinary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多數為三聲部，音域略廣於 14 世紀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 主旋律 · tenor 對位 · contratenor 填和聲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Gilles Binchois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1400–1460 · 勃艮第宮廷 chanson 大師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 Biography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 Mons — 受訓為唱詩班男童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曾服侍英王軍隊 William Pole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直接接觸英格蘭音樂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1427 加入 Philip the Good 禮拜堂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服侍三十餘年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1453 以豐厚年金退休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 Dunstable、Du Fay 並列三大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主要作品：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28 彌撒樂章 · 6 Magnificats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29 motets · 51 rondeaux · 7 ballades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De plus en plus (NAWM 34, ca. 1425)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形式：rondeau (ABaAabAB) · 15 世紀最常見的 chanson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風格混合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6/8 拍 · hemiola 交叉節奏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 清晰宣告，音節對音為主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主旋律上行三和弦後級進下行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節奏較慢、旋律優美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contratenor 填補和聲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大量三度與六度——幾近完全協和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終止式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傳統：major 6th → octave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新式：contratenor 八度躍升像屬→主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Du Fay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1397–1474 · 國際風格的集大成者 · 時代最富盛名的作曲家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214884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801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生涯軌跡 Career Timeline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生於布魯塞爾附近 · 1409 進入 Cambrai 唱詩班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1414–18 出席康士坦斯公會議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1420 服侍 Rimini 的 Malatesta 家族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1426–28 服侍 Bologna 樞機主教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1428–33、1435–37 兩度服務教宗禮拜堂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1433–39 擔任 Savoy 宮廷禮拜堂長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晚年終老於 Cambrai — 作品保存於約 100 份手稿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3429000"/>
            <a:ext cx="8595360" cy="146304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50215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主要作品 Major Works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913632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至少 6 部 masses · 35 部其他彌撒樂章 · 4 部 Magnificats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 首聖詩聖歌 · 24 部 motets · 34 首 plainchant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 rondeaux · 8 ballades · 13 其他世俗歌曲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代表作：Resvellies vous (NAWM 35) · Missa Se la face ay pale (NAWM 37) · Nuper rosarum flores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Fay 的代表作品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Chansons · Motets · Fauxbourdon · Nuper rosarum flores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07008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07008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25272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Resvellies vous (1423, NAWM 35)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481328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Ballade 形式 · 寫於 Rimini 婚禮 · 法義元素、少見英格蘭特徵 · Ars Subtilior 式快速音型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1810512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810512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85623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Christe redemptor omnium (NAWM 36)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20848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hymn · 使用 fauxbourdon · cantus 中 paraphrase chant · 偶數詩節為複音、奇數為齊唱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2414016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2414016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45973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la face ay pale (ca. 1430s, NAWM 37a)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2688336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Ballade · 自由創作而非固定形式 · 強烈英格蘭影響——成熟國際風格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" y="3017520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06324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Nuper rosarum flores (1436)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329184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Isorhythmic motet · 為佛羅倫斯大教堂穹頂落成典禮 · 兩條 tenor 呼應建築結構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" y="3621024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3621024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666744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Supremum est mortalibus bonum (1433)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3895344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 isorhythm、fauxbourdon、自由對位 · 教宗 Eugene 與神聖羅馬皇帝 Sigismund 會晤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4224528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224528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4270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Se la face ay pale (1450s)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2920" y="4498848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mass · 首部以世俗歌曲為 cantus firmus 的完整彌撒（見下頁）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Fauxbourdon 假低音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Continental Adaptation of English Faburden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554480"/>
          </a:xfrm>
          <a:prstGeom prst="rect">
            <a:avLst/>
          </a:prstGeom>
          <a:solidFill>
            <a:srgbClr val="E0EED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技法說明 The Technique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822960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只寫兩聲部：cantus 與 tenor，主要平行六度進行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第三聲部由歌手自動唱 cantus 下方平行四度（不寫出）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連續 6/3 和弦，句末終止於開放五度八度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受英格蘭 faburden 啟發，但技法不同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834640"/>
            <a:ext cx="4206240" cy="1965960"/>
          </a:xfrm>
          <a:prstGeom prst="rect">
            <a:avLst/>
          </a:prstGeom>
          <a:solidFill>
            <a:srgbClr val="E0EEDA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07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用途 Usage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397764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 Fay 有 24 部作品使用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其他作曲家超過 100 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主要用於較簡單的日課聖歌：聖詩、對唱曲、詩篇、頌歌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 中通常是 chant 的 paraphrase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834640"/>
            <a:ext cx="4206240" cy="1965960"/>
          </a:xfrm>
          <a:prstGeom prst="rect">
            <a:avLst/>
          </a:prstGeom>
          <a:solidFill>
            <a:srgbClr val="E0EEDA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907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🆚 Faburden vs. Fauxbourdon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3364992"/>
            <a:ext cx="397764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Faburden（英格蘭）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中聲部 = chant · 即興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Fauxbourdon（歐陸）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 = paraphrased chant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中聲部四度以下（未寫出）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寫譜作品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Polyphonic Mass 複音彌撒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Prestigious Musical Genre · 15th–16th Century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07008"/>
            <a:ext cx="8595360" cy="640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" y="1298448"/>
            <a:ext cx="502920" cy="457200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2984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12801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Stylistic Coherence 風格一致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5361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僅靠整體風格連結——最鬆散 · 無旋律關聯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920240"/>
            <a:ext cx="8595360" cy="640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2011680"/>
            <a:ext cx="502920" cy="457200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0116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1993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Plainsong Mass 聖歌彌撒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24942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各樂章用各自對應的 chant（如 Machaut 彌撒）· 僅禮儀相關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633472"/>
            <a:ext cx="8595360" cy="640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8" name="Shape 16"/>
          <p:cNvSpPr/>
          <p:nvPr/>
        </p:nvSpPr>
        <p:spPr>
          <a:xfrm>
            <a:off x="411480" y="2724912"/>
            <a:ext cx="502920" cy="457200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272491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51560" y="2706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Motto Mass 動機彌撒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96265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各樂章以相同 head motive（開頭音型）開始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3346704"/>
            <a:ext cx="8595360" cy="640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1480" y="3438144"/>
            <a:ext cx="502920" cy="457200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438144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51560" y="341985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Cantus-firmus / Tenor Mass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6758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 cantus firmus 置於所有樂章的 tenor · 15 世紀下半主流 · 通常四聲部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4059936"/>
            <a:ext cx="8595360" cy="640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28" name="Shape 26"/>
          <p:cNvSpPr/>
          <p:nvPr/>
        </p:nvSpPr>
        <p:spPr>
          <a:xfrm>
            <a:off x="411480" y="4151376"/>
            <a:ext cx="502920" cy="457200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" y="415137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51560" y="4133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Cantus-firmus/Imitation Mass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51560" y="43891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不只借用 tenor，也借用原曲其他聲部的片段（Du Fay Missa Se la face ay pale）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Cantus-firmus Mass 的發展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Voices · Missa Caput · L'homme armé Tradition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關鍵創新 Key Innovations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英格蘭作曲家最早寫作——Dunstable、Leonel Power（d. 1445）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早期為三聲部——cantus firmus 置於 tenor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問題：tenor 若為最低聲部，則無法作為和聲基礎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解決：1440s 匿名 Missa Caput 首創——在 tenor 下加入第四聲部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四聲部命名：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superius / cantus / discantus（英文 soprano 來源）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contratenor altus → altus → alto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tenor（持 cantus firmus）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contratenor bassus → bassus → bass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四聲部織度至此成為標準——持續至今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Missa Se la face ay pale (NAWM 37)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1450s 寫於 Savoy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首部以世俗歌曲為 cantus firmus 的完整彌撒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以自己的 ballade tenor 為 c.f.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可能紀念 1453 都靈裹屍布——歌詞「蒼白面容」喻基督受難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節奏變形（augmentation）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Kyrie、Sanctus、Agnus：音值加倍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Gloria、Credo：c.f. 出現三次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三倍 → 雙倍 → 原速（旋律最清楚可辨）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Amen 借用 ballade 其他聲部（c.f./imitation）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各樂章共用 head motive——結構統一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年代大事記 Timeline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England, Burgundy, and Music · 1400–1477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1414–18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3736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of Constance 結束大分裂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09160" y="1188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8076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英王 Henry V 於 Agincourt 大勝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1419–67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37360" y="157276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 the Good 統治勃艮第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09160" y="15727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1419–35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80760" y="157276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勃艮第與英格蘭結盟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" y="19568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1422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737360" y="19568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Henry VI 即位 · Bedford 攝政法國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09160" y="19568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1423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080760" y="19568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在 Rimini 寫 Resvellies vous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234086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1425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37360" y="234086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Binchois · De plus en plus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09160" y="234086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1427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80760" y="234086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Binchois 加入 Philip the Good 禮拜堂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1428–39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737360" y="272491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往返教宗禮拜堂與 Savoy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09160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1430s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080760" y="272491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首批 cantus-firmus mass cycles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" y="3108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1436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737360" y="31089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· Nuper rosarum flores（佛羅倫斯穹頂）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09160" y="3108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1440–42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80760" y="31089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Franc · Le champion des dames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5760" y="34930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1440s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737360" y="349300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匿名 Missa Caput——四聲部開端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709160" y="34930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1450s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80760" y="349300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· Missa Se la face ay pale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65760" y="38770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737360" y="387705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百年戰爭結束 · Dunstable 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709160" y="38770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1460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080760" y="387705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Binchois 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65760" y="42611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1474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737360" y="426110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卒 於 Cambrai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709160" y="42611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080760" y="426110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the Bold 戰死 · 法國併吞勃艮第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Enduring Musical Language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Summary · 持久的音樂語言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188720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34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■󠁧󠁢󠁥󠁮󠁧󠁿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188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英格蘭的貢獻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42646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三六度協和、頻繁平行音程、同節奏織度——15 世紀大陸風格的靈感來源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801368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84708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18013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國際風格的誕生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03911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Fay、Binchois 融合法、義、英三種傳統——mid-15c international style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2414016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4597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241401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複音彌撒的確立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從配對樂章到完整 cycles——cantus-firmus mass 成為最尊貴的類型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026664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072384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" y="302666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四聲部織度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32644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匿名 Missa Caput 首創（1440s）——SATB 架構自此成為標準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65760" y="3639312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68503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05840" y="363931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新的音響美學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5840" y="38770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徹底協和、控制不協和、避免平行五八度——15–16 世紀的共同語言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251960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42976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05840" y="42519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持久的影響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448970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時代的聲響對現代人仍聽來「熟悉」——中世紀與文藝復興的分水嶺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重要術語與延伸閱讀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· Further Reading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783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2529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重要術語 Key Terms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Contenance angloise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7373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Sarum rite · Faburden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19659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Carol · Burden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Cantilena · Motet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24231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Fauxbourdon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6517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Head motive · Motto mass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15087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Polyphonic mass cycle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17373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Cantus-firmus / Tenor mass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63440" y="19659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Cantus-firmus/Imitation mass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63440" y="21945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Plainsong mass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24231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Superius · Altus · Tenor · Bassus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63440" y="26517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L'homme armé · Missa Caput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3017520"/>
            <a:ext cx="8595360" cy="1600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05409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聆聽 Listen (NAWM 32–37)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310128"/>
            <a:ext cx="8321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newë work (English carol, NAWM 32)  youtu.be/odCOfgR0HkI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Dunstable — Quam pulchra es (NAWM 33)  youtu.be/lMoyfuCbnjs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Binchois — De plus en plus (NAWM 34)  youtu.be/dzjB7HaFKFg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 Fay — Resvellies vous (NAWM 35)  youtu.be/iObHTuqHxRo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 Fay — Conditor alme siderum (NAWM 36)  youtu.be/UqYgWMdkhSg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 Fay — Se la face ay pale (NAWM 37)  youtu.be/_EMbGN2jeno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4663440"/>
            <a:ext cx="8595360" cy="411480"/>
          </a:xfrm>
          <a:prstGeom prst="rect">
            <a:avLst/>
          </a:prstGeom>
          <a:solidFill>
            <a:srgbClr val="3E203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091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Fallows, Dufay · Bent, Dunstaple · Kirkman, Polyphonic Mass · Strohm, Rise of European Music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8: England and Burgundy in the Fifteenth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2026-04-17T22:34:08Z</dcterms:created>
  <dcterms:modified xsi:type="dcterms:W3CDTF">2026-04-17T22:34:08Z</dcterms:modified>
</cp:coreProperties>
</file>