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POLYPHONY THROUGH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THIRTEENTH CENTURY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Organum · Aquitanian · Notre Dame · Motet · Franconian Notation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80–104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西方音樂的四項特徵 Four Traits of Western Music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對位、和聲、記譜的核心地位、作曲與演奏的分離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早期奧爾加農 Early Organum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enchiriadis、Winchester Troper、Guido of Arezzo、Ad organum faciendum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亞奎丹複音 Aquitanian Polyphony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聖馬夏修院與聖地牙哥朝聖路線；discant vs florid organum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巴黎聖母院學派 Notre Dame School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· Pérotin · Magnus liber organi · 6 個節奏模式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經文歌 Motet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Clausula → Latin motet → French/secular motet；Franconian 記譜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英格蘭複音 English Polyphony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喜用三度與六度；Rondellus · Rota · Sumer is icumen in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西方音樂的四項特徵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Concepts That Distinguish Western Music from Most Other Traditions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25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005840" y="129844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12618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對位 Counterpoint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5544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多條獨立旋律線同時結合——旋律間的對話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melodic lines combined so each retains its own shape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1945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005840" y="216712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213055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和聲 Harmony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423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垂直聲響的組合、進行與張力解決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dimension: chord progressions, tension, resolution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063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303580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299923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記譜的核心地位 Centrality of Notation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918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不僅記錄音樂，還是作曲工具與保存方式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is both a tool for composition and a means of preservation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79476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1005840" y="390448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1097280" y="38679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作曲與演奏分離 Composition vs. Performance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4160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作曲家成為獨立角色——作品先於演出而存在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composer emerges as a distinct role; the work exists prior to performance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這些特徵在 9–13 世紀的複音音樂中成形，成為西方音樂傳統的根基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早期奧爾加農 Early Organum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9th–11th Centuries · The First Written Polyphony of the West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18288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平行奧爾加農 Parallel Organum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3840480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enchiriadis（ca. 850–890 抄本）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主要聲部唱聖詠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附加聲部（organal voice）平行五度或四度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四度平行因三全音（tritone）問題而較複雜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產生混合平行與斜行的修正版本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18288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1521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混合平行與斜行 Mixed Parallel/Oblique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609344"/>
            <a:ext cx="3840480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of Arezzo — Micrologus (ca. 1025–28)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為避免三全音，聲部有時保持同音（斜行）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兩聲部得以同音開始、結束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Winchester Troper（英格蘭，ca. 992–996）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收錄 174 首由 Wulfstan 創作的奧爾加農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063240"/>
            <a:ext cx="4206240" cy="17373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127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音對音奧爾加農 Note-Against-Note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584448"/>
            <a:ext cx="3840480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世紀後期 · 附加聲部置於聖詠之上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使用逆向（contrary）與斜行（oblique）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聲部常交叉——更自由的橫向線條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已使用三度作為協和音程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 organal voice 變為 upper voice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206240" cy="1737360"/>
          </a:xfrm>
          <a:prstGeom prst="rect">
            <a:avLst/>
          </a:prstGeom>
          <a:solidFill>
            <a:srgbClr val="4A3828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3127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Ad organum faciendum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3584448"/>
            <a:ext cx="3840480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「如何作奧爾加農」· ca. 1100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最重要的早期複音實用教本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提供音對音複音的具體範例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此時複音仍被視為對聖詠的即興裝飾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手稿中的記譜僅供教學——實際演唱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大多仍為即興與口傳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亞奎丹複音 Aquitanian Polyphony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12th Century · St. Martial at Limoges · Santiago de Compostela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1430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來源與背景 Sources &amp; Context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00784"/>
            <a:ext cx="8229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南法 St. Martial 修道院（Limoges）· 12 世紀手稿保存複音 versus 與聖詠裝飾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Codex Calixtinus（ca. 1173）· 聖地牙哥德孔波斯特拉朝聖聖殿手稿 · 含 21 首複音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作品多為兩聲部 · 兩聲部皆使用拉丁文 · 多數為節慶禮儀用 · 或拉丁讚美詩 versus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468880"/>
            <a:ext cx="4206240" cy="2331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542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Discant 對唱風格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86207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99232"/>
            <a:ext cx="3840480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兩聲部以「音對音」方式行進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Note-against-note counterpoint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速度相近——兩聲部有明確節奏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常用逆向與斜行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常見於以音節式聖詠為基底之處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英文 "discant" 源自拉丁 discantus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「分開地唱」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468880"/>
            <a:ext cx="4206240" cy="23317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542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Florid 華麗奧爾加農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286207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2999232"/>
            <a:ext cx="3840480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下方聲部（tenor）以持續長音唱聖詠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拉丁 tenere = 「持續、держать」→ tenor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上方聲部在長音之上唱華麗裝飾花唱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Upper voice sings melismas over sustained tones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節奏自由——無固定拍子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聲音效果像「在聖詠上懸浮」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開創了巴黎聖母院時期的奧爾加農風格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巴黎聖母院學派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Dame Polyphony · Paris, Late 12th to Early 13th Century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8595360" cy="1737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6128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聖母院與大學 Cathedral &amp; University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18488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建築工程：奠基 ca. 1160 · 祭壇區 1182 · 首祭 1183 · 中殿 ca. 1200 · 正立面 ca. 1250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Foundations ca. 1160, choir 1182, first mass 1183, nave ca. 1200, façade ca. 1250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與巴黎大學（ca. 1150 創立）在地理與人脈上密不可分——是哲學與神學的中心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Linked to the nascent University of Paris — a center of Scholastic thought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其建築的高度、華麗、結構複雜——音樂也對應地變得又長、又繁、又結構化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music paralleled the cathedral: long, intricate, carefully structured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926080"/>
            <a:ext cx="8595360" cy="18745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9008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傳播與口頭傳承 Transmission &amp; Orality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447288"/>
            <a:ext cx="8229600" cy="1307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此曲目在西歐傳唱逾一世紀——從西班牙到波蘭、從義大利到蘇格蘭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Repertory sung for over a century across Europe from Spain to Poland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現存最早手稿來自 1240 年代——比曲目本身晚了數十年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Earliest manuscripts date from 1240s, decades after the music was first created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同一曲在不同手稿中文本差異明顯 → 顯示口傳與即興仍為主要媒介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Versions vary between manuscripts — evidence of oral transmission alongside writing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梵蒂岡所藏一份 ca. 1200 年巴黎抄本描述「如何即興演唱 Notre Dame 風格的奧爾加農」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六種節奏模式 The Rhythmic Modes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Dame's Great Innovation · First Notation for Duration Since Ancient Greece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430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Johannes de Garlandia (ca. 1260) 在 De mensurabili musica 中歸納為六種「模式」，以連音符組合（ligatures）表示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841248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361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模式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153619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模式 Pattern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15361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現代節奏等值 Modern Equivalent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1965960"/>
            <a:ext cx="8412480" cy="4206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94560" y="2011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66160" y="2011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  (長-短)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最古老最常用 · trochaic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2404872"/>
            <a:ext cx="8412480" cy="420624"/>
          </a:xfrm>
          <a:prstGeom prst="rect">
            <a:avLst/>
          </a:prstGeom>
          <a:solidFill>
            <a:srgbClr val="4A282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4505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94560" y="2450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66160" y="245059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  (短-長)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35040" y="2450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iambic 反向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2843784"/>
            <a:ext cx="8412480" cy="4206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8895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194560" y="2889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B B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28895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■. ■ ■   (長-短-短)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35040" y="28895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dactylic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3282696"/>
            <a:ext cx="8412480" cy="420624"/>
          </a:xfrm>
          <a:prstGeom prst="rect">
            <a:avLst/>
          </a:prstGeom>
          <a:solidFill>
            <a:srgbClr val="4A2820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328416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 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66160" y="332841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■.   (短-短-長)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35040" y="332841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anapestic · 極少用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65760" y="3721608"/>
            <a:ext cx="8412480" cy="4206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376732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7673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66160" y="376732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■. ■.   (連續長音)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35040" y="37673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 · tenor 常用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160520"/>
            <a:ext cx="8412480" cy="420624"/>
          </a:xfrm>
          <a:prstGeom prst="rect">
            <a:avLst/>
          </a:prstGeom>
          <a:solidFill>
            <a:srgbClr val="4A2820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206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 B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566160" y="4206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■   (連續短音)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035040" y="4206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tribrachic · 裝飾性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65760" y="46817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基本時間單位 tempus 永遠以三為一組——體現三位一體的完美數字「3」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萊奧寧與《大奧爾加農書》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&amp; the Magnus liber organi (ca. 1160s–ca. 1200)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Léonin (fl. 1150s–ca. 1201)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1150 年代起任巴黎主教座堂神職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Notre Dame 參事、聖職者；與 St. Victor 修道院有關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同時為詩人——曾以詩句改寫創世紀前八卷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Anonymous IV（ca. 1285 論文）稱其為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「excellent organista」（傑出的奧爾加農歌者/作曲家）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據記載編纂了 Magnus liber organi（「大奧爾加農書」）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但並非獨力完成——如同聖母院的建築，這是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數代歌者的集體創作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Magnus liber organi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內容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教會年度主要節慶之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Graduals、Alleluias、Office Responsories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的獨唱段落的兩聲部複音設定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特點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在 Leoninus 的 organum duplum 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tenor 以聖詠為基、行緩慢長音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upper voice（duplum）以華麗花唱盤旋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現存形式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「大書」本身已失傳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後世手稿（兩部於 Wolfenbüttel，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一部於 Florence）保存了曲目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佩羅丁、克勞蘇拉與導引歌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Pérotin · Substitute Clausula · Conductus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417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Pérotin (fl. late 12th – early 13th c.)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00784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Anonymous IV 稱其為「Perotinus the Great」· 編訂 Magnus liber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首創三聲部 organum triplum 與四聲部 organum quadruplum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代表作：Viderunt omnes（1198）· Sederunt principes · Alleluia Nativitas（NAWM 19）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所有上聲部使用節奏模式 · 常以 voice exchange 結構長段落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4206240" cy="21031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Substitute Clausula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clausula = 「句子、子句」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奧爾加農中的自足段落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「替代式 clausula」可取代原曲相同段落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讓聖詠有多種處理選擇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多為 discant 風格（兩聲部皆有節奏模式）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Florence 手稿收錄 10 種 Dominus 替代版本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97480"/>
            <a:ext cx="4206240" cy="21031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Polyphonic Conductus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3218688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Dame 複音作曲家也創作 conductus：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為新作旋律——不借自聖詠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各聲部同時歌唱相同歌詞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歌詞多為音節式設定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句首句尾常出現花唱尾聲 caudae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主題為拉丁宗教或嚴肅題材詩歌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經文歌的誕生 The Birth of the Motet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13th Century · From Clausula to New Genre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600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起源 Origin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822960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巴黎聖母院樂手在 13 世紀初，為 discant clausula 的上聲部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加上新的拉丁歌詞——如同之前為花唱填詞而成的 tropes 和 sequences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產生的新體裁稱為「motet」（拉丁 motetus，源自法文 mot =「字」）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由此，一段原本無詞的音樂裝飾（clausula），反過來被「加上文字裝飾」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musical decoration gets decorated in turn with words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經文歌常以各聲部第一字組成複合標題：如 Factum est salutare / Dominus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788920"/>
            <a:ext cx="8595360" cy="19659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8620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演變 Development Over the 13th Century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1927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初期：拉丁宗教文本，以 clausula 為骨架 · 可在彌撒中演唱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中期：增加第三、第四聲部 → double motet（兩歌詞）· triple motet（三歌詞）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後期：使用法文、世俗主題 → motet 脫離教會 · 成為文化菁英的娛樂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原為聖詠段落，後成為純粹的音樂骨幹——Hieronymus de Moravia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ca. 1270 稱其為「cantus firmus」（固定曲調）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 13 世紀中葉，經文歌已取代 organum 與 conductus，成為主導的複音體裁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By mid-century, the motet displaced organum and conductus as the leading genre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Franconian 記譜與後期經文歌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 of Cologne (ca. 1280) · A New Way of Writing Rhythm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Ars cantus mensurabilis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8404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of Cologne · ca. 1280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「可度量音樂的藝術」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革命性突破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用音符形狀本身表示相對時值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四種單音符號：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Double long（倍長）· Long（長）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Breve（短）· Semibreve（半短）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基本單位 tempus 以三為一組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三個 tempora = 一個 perfection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（完美的三位一體結構）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此體系沿用數世紀——現代音符的祖先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後期經文歌風格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8404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Franconian Motet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 Franco 命名的新式經文歌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各上聲部獨立節奏 · 不再遵循節奏模式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例：Adam de la Halle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Petronian Motet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Petrus de Cruce / Pierre de la Croix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 tempus 可容納多達 7 個 semibreves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三聲部速度層級：tenor(慢)+duplum(中)+triplum(快)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例：Aucun ont trouvé (NAWM 22)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Choirbook Format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三聲部分寫於同頁或對頁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triplum · motetus · tenor 各佔區域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1280 起至 16 世紀沿用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英格蘭複音 English Polyphony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Musical Dialect in 13th-Century England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4297680" cy="37947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英格蘭風格特徵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384048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09344"/>
            <a:ext cx="3931920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1066 諾曼征服後，英格蘭文化音樂與法國緊密連結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寫作 Notre Dame 各體裁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偏好 conductus 的「同節奏」與規律樂句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喜用不完美協和音程（三度、六度）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常以平行方式出現——受本土民間複音影響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Gerald of Wales（ca. 1200）記載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威爾斯與北不列顛的即興部分歌唱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Hymn to St. Magnus（12 世紀）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奧克尼群島守護聖人頌歌——連續平行三度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這些特色在 15 世紀影響歐陸作曲家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孕育出「國際風格 international style」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114800" cy="379476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1521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聲部互換與循環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83480" y="1481328"/>
            <a:ext cx="365760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609344"/>
            <a:ext cx="3840480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Rondellus 輪唱複音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三個樂句 a b c 由三聲部輪流交換：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V1: a b c · V2: c a b · V3: b c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同一段三聲部樂句重複三次，角色互換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Rota 卡農輪唱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同度永恆卡農（perpetual round）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Sumer is icumen in（ca. 1250）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「夏日已來到」——最著名的 rota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四聲部同度卡農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下方兩聲部唱 pes（持續低音）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彼此形成兩聲部 rondellus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產生 F-A-C-F 與 G-B■-D 交替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英文歌詞讚美夏日與杜鵑鳥歌唱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關鍵人物 Key Figures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1323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850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Guido of Arezzo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991 – post-1033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0" y="89611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8503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義大利本篤會修士 · Micrologus（ca. 1025–28）描述混合平行與斜行式奧爾加農 · 亦創造 solmization 與四線譜系統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335024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4081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13624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Wulfstan of Winchester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15636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992–996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0" y="140817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13624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Winchester Troper 中 174 首奧爾加農的作者——現存最早的大型英格蘭複音曲集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1847088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202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1874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Léonin (Leoninus)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075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1150s – ca. 1201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74904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巴黎聖母院神職與詩人 · Anonymous IV 稱其為「excellent organista」· 與《Magnus liber organi》的編纂密不可分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43230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23865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Pérotin (Perotinus)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2587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late 12th – early 13th c.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432304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74904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「Perotinus the Great」· 擴充 Magnus liber · 首創三聲部與四聲部 organum · 代表作 Viderunt omnes（1198）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29443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8680" y="2898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de Garlandia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0998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1260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0" y="2944368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5" name="Text 33"/>
          <p:cNvSpPr/>
          <p:nvPr/>
        </p:nvSpPr>
        <p:spPr>
          <a:xfrm>
            <a:off x="3749040" y="2898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mensurabili musica 論文整理六種節奏模式——把即興傳統系統化為可書寫的節奏體系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383280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4564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8680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 of Cologne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68680" y="3611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1280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0" y="345643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1" name="Text 39"/>
          <p:cNvSpPr/>
          <p:nvPr/>
        </p:nvSpPr>
        <p:spPr>
          <a:xfrm>
            <a:off x="374904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cantus mensurabilis —— 確立用音符形狀本身表示時值的記譜法，現代記譜法的直接祖先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895344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39684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68680" y="39227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Adam de la Halle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68680" y="4123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1240–1288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0" y="396849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7" name="Text 45"/>
          <p:cNvSpPr/>
          <p:nvPr/>
        </p:nvSpPr>
        <p:spPr>
          <a:xfrm>
            <a:off x="3749040" y="392277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同時是 trouvère 與經文歌作者 · De ma dame vient / Dieus / Omnes 體現 Franconian 經文歌風格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480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68680" y="44348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Petrus de Cruce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68680" y="4636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mid-13th – early 14th c.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657600" y="448056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3" name="Text 51"/>
          <p:cNvSpPr/>
          <p:nvPr/>
        </p:nvSpPr>
        <p:spPr>
          <a:xfrm>
            <a:off x="374904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de la Croix · 進一步細分 semibreves · 開啟 Ars nova 的節奏複雜性之先聲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560320" y="822960"/>
            <a:ext cx="45720" cy="4023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85953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" y="8229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850–890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88920" y="8229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 · 最早描述平行奧爾加農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41448" y="107899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" y="10424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992–996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88920" y="104241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Wulfstan of Winchester · Winchester Troper 中 174 首奧爾加農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441448" y="129844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126187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11th c.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8920" y="126187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羅馬式教堂與修院時期 · 音對音奧爾加農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41448" y="151790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0" y="148132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1025–28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88920" y="148132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of Arezzo · Micrologus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441448" y="1737360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0" name="Text 18"/>
          <p:cNvSpPr/>
          <p:nvPr/>
        </p:nvSpPr>
        <p:spPr>
          <a:xfrm>
            <a:off x="182880" y="170078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88920" y="170078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organum faciendum · 奧爾加農實用教本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441448" y="195681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" y="192024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1109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788920" y="192024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Anselm 卒 · 經院哲學之父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41448" y="217627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6" name="Text 24"/>
          <p:cNvSpPr/>
          <p:nvPr/>
        </p:nvSpPr>
        <p:spPr>
          <a:xfrm>
            <a:off x="182880" y="21396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12th c.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88920" y="213969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Aquitanian polyphony（St. Martial · Limoges）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41448" y="239572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" y="235915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1140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788920" y="235915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最早的哥德式建築出現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441448" y="261518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257860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mid-12th c.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788920" y="257860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巴黎大學成立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41448" y="2834640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35" name="Text 33"/>
          <p:cNvSpPr/>
          <p:nvPr/>
        </p:nvSpPr>
        <p:spPr>
          <a:xfrm>
            <a:off x="182880" y="279806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1150s–ca.1201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788920" y="279806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於巴黎主教座堂活動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441448" y="305409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38" name="Text 36"/>
          <p:cNvSpPr/>
          <p:nvPr/>
        </p:nvSpPr>
        <p:spPr>
          <a:xfrm>
            <a:off x="182880" y="301752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1160–1250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788920" y="301752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巴黎聖母院建造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441448" y="327355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2788920" y="323697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Calixtinus（聖地牙哥德孔波斯特拉）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441448" y="349300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44" name="Text 42"/>
          <p:cNvSpPr/>
          <p:nvPr/>
        </p:nvSpPr>
        <p:spPr>
          <a:xfrm>
            <a:off x="182880" y="34564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1198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788920" y="345643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Pérotin · Viderunt omnes（四聲部）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441448" y="371246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47" name="Text 45"/>
          <p:cNvSpPr/>
          <p:nvPr/>
        </p:nvSpPr>
        <p:spPr>
          <a:xfrm>
            <a:off x="182880" y="36758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1209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2788920" y="367588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Francis of Assisi 創立方濟會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441448" y="3931920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0" name="Text 48"/>
          <p:cNvSpPr/>
          <p:nvPr/>
        </p:nvSpPr>
        <p:spPr>
          <a:xfrm>
            <a:off x="182880" y="389534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1250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2788920" y="389534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 is icumen in（現存最早的英語 rota）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441448" y="415137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3" name="Text 51"/>
          <p:cNvSpPr/>
          <p:nvPr/>
        </p:nvSpPr>
        <p:spPr>
          <a:xfrm>
            <a:off x="182880" y="4114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1260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2788920" y="411480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Johannes de Garlandia · De mensurabili musica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441448" y="437083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6" name="Text 54"/>
          <p:cNvSpPr/>
          <p:nvPr/>
        </p:nvSpPr>
        <p:spPr>
          <a:xfrm>
            <a:off x="182880" y="433425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1267–73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2788920" y="433425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Thomas Aquinas · Summa Theologica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2441448" y="459028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9" name="Text 57"/>
          <p:cNvSpPr/>
          <p:nvPr/>
        </p:nvSpPr>
        <p:spPr>
          <a:xfrm>
            <a:off x="182880" y="455371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1280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2788920" y="455371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of Cologne · Ars cantus mensurabilis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2441448" y="480974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62" name="Text 60"/>
          <p:cNvSpPr/>
          <p:nvPr/>
        </p:nvSpPr>
        <p:spPr>
          <a:xfrm>
            <a:off x="182880" y="47731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1285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2788920" y="477316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IV 論文（記載 Léonin、Pérotin）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複音音樂的遺產 A Polyphonic Tradition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Summary · Why This Music Mattered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43000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16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1887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 世紀複音的興起是西方音樂史上的重大轉折——多聲部協調、對位、和聲、垂直音響成為西方傳統的核心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rise of polyphony 11th–13th c. was a turning point: coordinated parts, counterpoint, harmony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64792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8379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18105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當代為複音而發展的記譜法引入兩項永久特徵：聲部垂直對齊、用不同音符形狀表示相對時值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innovations: vertical alignment of parts; note shapes indicating duration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386584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45973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43230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巴黎聖母院學派創造了前所未見的音樂複雜度——長度、結構、三四聲部的協調，皆如同大教堂的建築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Dame's music matched the cathedral: unprecedented length, structure, grandeur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008376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0815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30540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經文歌從 clausula 的填詞演變為世俗菁英的娛樂——成為複音音樂的主導體裁直到中世紀末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motet evolved from clausula trope to elite entertainment, dominating through the late Middle Ages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7033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012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大多數中世紀複音只存活了一兩代——後被視為「粗糙」· 直到 20 世紀才重新被發掘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medieval polyphony faded within a generation or two; revived only in the 20th century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251960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3251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60120" y="4297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中世紀的聲響啟發了 Debussy 的平行和弦、極簡主義的重複模式、嘻哈的分層文本——古老音樂的回聲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sounds echo in Debussy, minimalism, and even the layered texts of hip hop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21945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Listen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 — parallel organum (NAWM 14)  youtu.be/kGnCQKRwMfc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Aquitanian: Jubilemus, exultemus (NAWM 15)  youtu.be/22srNVUmF3Q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— Viderunt omnes, duplum (NAWM 17)  youtu.be/_p9WQlyVPrA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Pérotin — Viderunt omnes, quadruplum (NAWM 19)  youtu.be/fPZrMpFnygw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Factum est salutare / Dominus (NAWM 20)  youtu.be/iLKKwuirSoo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— De ma dame vient (NAWM 21)  youtu.be/zGV5APEq7bc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 is icumen in (NAWM 23)  youtu.be/sMCA9nYnLWo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2826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55701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Hoppin — Medieval Music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Roesner — Who 'Made' the Magnus Liber?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Wright — Notre Dame of Paris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55701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Fuller — Early Polyphony (NOHM)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Organum · Motet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Grout HWM Online · Ch 5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434840"/>
            <a:ext cx="8412480" cy="54864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46227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4462272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Organum · Polyphony · Musica enchiriadis · Magnus liber organi · Léonin / Pérotin · Clausula · Conductus · Motet · Rhythmic modes · Sumer is icumen 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5: Polyphony through the Thirteenth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2026-04-17T16:09:56Z</dcterms:created>
  <dcterms:modified xsi:type="dcterms:W3CDTF">2026-04-17T16:09:56Z</dcterms:modified>
</cp:coreProperties>
</file>