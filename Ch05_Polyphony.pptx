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3716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01768"/>
            <a:ext cx="9144000" cy="141732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4114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spc="300" kern="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HISTORY OF WESTERN MUSIC · TENTH EDITION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82296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spc="600" kern="0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CHAPTER 5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274320" y="1280160"/>
            <a:ext cx="85953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POLYPHONY THROUGH</a:t>
            </a:r>
            <a:endParaRPr lang="en-US" sz="3800" dirty="0"/>
          </a:p>
          <a:p>
            <a:pPr algn="ctr" indent="0" marL="0">
              <a:buNone/>
            </a:pPr>
            <a:r>
              <a:rPr lang="en-US" sz="3800" b="1" dirty="0">
                <a:solidFill>
                  <a:srgbClr val="FBF5E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THIRTEENTH CENTURY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2286000" y="3246120"/>
            <a:ext cx="45720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338328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Organum · Aquitanian · Notre Dame · Motet · Franconian Notation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pp. 80–104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本章概覽 Chapter Overview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749808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14400"/>
            <a:ext cx="548640" cy="530352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960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51560" y="9144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西方音樂的四項特徵 Four Traits of Western Music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51560" y="11704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對位、和聲、記譜的核心地位、作曲與演奏的分離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" y="1600200"/>
            <a:ext cx="548640" cy="530352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6459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051560" y="16002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早期奧爾加農 Early Organum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051560" y="18562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Musica enchiriadis、Winchester Troper、Guido of Arezzo、Ad organum faciendum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65760" y="2286000"/>
            <a:ext cx="548640" cy="530352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" y="23317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51560" y="22860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亞奎丹複音 Aquitanian Polyphony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51560" y="25420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聖馬夏修院與聖地牙哥朝聖路線；discant vs florid organum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65760" y="2971800"/>
            <a:ext cx="548640" cy="530352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30175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051560" y="29718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巴黎聖母院學派 Notre Dame School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51560" y="32278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Léonin · Pérotin · Magnus liber organi · 6 個節奏模式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65760" y="3657600"/>
            <a:ext cx="548640" cy="530352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37033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051560" y="36576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經文歌 Motet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51560" y="39136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Clausula → Latin motet → French/secular motet；Franconian 記譜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365760" y="4343400"/>
            <a:ext cx="548640" cy="530352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27" name="Text 25"/>
          <p:cNvSpPr/>
          <p:nvPr/>
        </p:nvSpPr>
        <p:spPr>
          <a:xfrm>
            <a:off x="365760" y="438912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</a:rPr>
              <a:t>■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1051560" y="4343400"/>
            <a:ext cx="7680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英格蘭複音 English Polyphony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1051560" y="4599432"/>
            <a:ext cx="7680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喜用三度與六度；Rondellus · Rota · Sumer is icumen in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西方音樂的四項特徵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Four Concepts That Distinguish Western Music from Most Other Traditions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8595360" cy="77724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32588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①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1005840" y="1298448"/>
            <a:ext cx="27432" cy="54864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1261872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對位 Counterpoint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97280" y="155448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多條獨立旋律線同時結合——旋律間的對話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or more melodic lines combined so each retains its own shape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74320" y="2057400"/>
            <a:ext cx="8595360" cy="77724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" y="21945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②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1005840" y="2167128"/>
            <a:ext cx="27432" cy="54864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5" name="Text 13"/>
          <p:cNvSpPr/>
          <p:nvPr/>
        </p:nvSpPr>
        <p:spPr>
          <a:xfrm>
            <a:off x="1097280" y="2130552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和聲 Harmony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097280" y="242316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垂直聲響的組合、進行與張力解決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vertical dimension: chord progressions, tension, resolution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274320" y="2926080"/>
            <a:ext cx="8595360" cy="77724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8" name="Text 16"/>
          <p:cNvSpPr/>
          <p:nvPr/>
        </p:nvSpPr>
        <p:spPr>
          <a:xfrm>
            <a:off x="365760" y="306324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③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1005840" y="3035808"/>
            <a:ext cx="27432" cy="54864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0" name="Text 18"/>
          <p:cNvSpPr/>
          <p:nvPr/>
        </p:nvSpPr>
        <p:spPr>
          <a:xfrm>
            <a:off x="1097280" y="2999232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記譜的核心地位 Centrality of Notation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1097280" y="329184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不僅記錄音樂，還是作曲工具與保存方式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 is both a tool for composition and a means of preservation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74320" y="3794760"/>
            <a:ext cx="8595360" cy="77724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393192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④</a:t>
            </a:r>
            <a:endParaRPr lang="en-US" sz="2600" dirty="0"/>
          </a:p>
        </p:txBody>
      </p:sp>
      <p:sp>
        <p:nvSpPr>
          <p:cNvPr id="24" name="Shape 22"/>
          <p:cNvSpPr/>
          <p:nvPr/>
        </p:nvSpPr>
        <p:spPr>
          <a:xfrm>
            <a:off x="1005840" y="3904488"/>
            <a:ext cx="27432" cy="54864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5" name="Text 23"/>
          <p:cNvSpPr/>
          <p:nvPr/>
        </p:nvSpPr>
        <p:spPr>
          <a:xfrm>
            <a:off x="1097280" y="3867912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作曲與演奏分離 Composition vs. Performance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097280" y="4160520"/>
            <a:ext cx="7680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作曲家成為獨立角色——作品先於演出而存在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composer emerges as a distinct role; the work exists prior to performance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這些特徵在 9–13 世紀的複音音樂中成形，成為西方音樂傳統的根基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8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早期奧爾加農 Early Organum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6400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9th–11th Centuries · The First Written Polyphony of the West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950976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097280"/>
            <a:ext cx="4206240" cy="18288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15214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① 平行奧爾加農 Parallel Organum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609344"/>
            <a:ext cx="3840480" cy="12710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Musica enchiriadis（ca. 850–890 抄本）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主要聲部唱聖詠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附加聲部（organal voice）平行五度或四度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四度平行因三全音（tritone）問題而較複雜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產生混合平行與斜行的修正版本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097280"/>
            <a:ext cx="4206240" cy="1828800"/>
          </a:xfrm>
          <a:prstGeom prst="rect">
            <a:avLst/>
          </a:prstGeom>
          <a:solidFill>
            <a:srgbClr val="5C3A28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15214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② 混合平行與斜行 Mixed Parallel/Oblique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609344"/>
            <a:ext cx="3840480" cy="12710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Guido of Arezzo — Micrologus (ca. 1025–28)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為避免三全音，聲部有時保持同音（斜行）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兩聲部得以同音開始、結束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Winchester Troper（英格蘭，ca. 992–996）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收錄 174 首由 Wulfstan 創作的奧爾加農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74320" y="3017520"/>
            <a:ext cx="4206240" cy="182880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14" name="Text 12"/>
          <p:cNvSpPr/>
          <p:nvPr/>
        </p:nvSpPr>
        <p:spPr>
          <a:xfrm>
            <a:off x="411480" y="307238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③ 音對音奧爾加農 Note-Against-Note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3493008"/>
            <a:ext cx="384048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11 世紀後期；附加聲部置於聖詠之上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使用逆向（contrary）與斜行（oblique）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聲部常交叉——更自由的橫向線條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已使用三度作為協和音程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由 organal voice 變為 upper voice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663440" y="3017520"/>
            <a:ext cx="4206240" cy="1828800"/>
          </a:xfrm>
          <a:prstGeom prst="rect">
            <a:avLst/>
          </a:prstGeom>
          <a:solidFill>
            <a:srgbClr val="4A3828"/>
          </a:solidFill>
          <a:ln/>
        </p:spPr>
      </p:sp>
      <p:sp>
        <p:nvSpPr>
          <p:cNvPr id="17" name="Text 15"/>
          <p:cNvSpPr/>
          <p:nvPr/>
        </p:nvSpPr>
        <p:spPr>
          <a:xfrm>
            <a:off x="4800600" y="3072384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Ad organum faciendum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846320" y="3493008"/>
            <a:ext cx="3840480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「如何作奧爾加農」· ca. 1100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最重要的早期複音實用教本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提供音對音複音具體範例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複音仍被視為對聖詠的即興裝飾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記譜僅供教學；實際多為即興口傳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亞奎丹複音 Aquitanian Polyphony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12th Century · St. Martial at Limoges · Santiago de Compostela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8595360" cy="11430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43584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來源與背景 Sources &amp; Context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00784"/>
            <a:ext cx="8229600" cy="6309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南法 St. Martial 修道院（Limoges）· 12 世紀手稿保存複音 versus 與聖詠裝飾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Codex Calixtinus（ca. 1173）· 聖地牙哥德孔波斯特拉朝聖聖殿手稿 · 含 21 首複音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作品多為兩聲部 · 兩聲部皆使用拉丁文 · 多數為節慶禮儀用 · 或拉丁讚美詩 versus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2468880"/>
            <a:ext cx="4206240" cy="233172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254203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Discant 對唱風格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02920" y="2862072"/>
            <a:ext cx="374904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999232"/>
            <a:ext cx="3840480" cy="1728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兩聲部以「音對音」方式行進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Note-against-note counterpoint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速度相近——兩聲部有明確節奏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常用逆向與斜行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常見於以音節式聖詠為基底之處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英文 "discant" 源自拉丁 discantus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= 「分開地唱」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663440" y="2468880"/>
            <a:ext cx="4206240" cy="233172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15" name="Text 13"/>
          <p:cNvSpPr/>
          <p:nvPr/>
        </p:nvSpPr>
        <p:spPr>
          <a:xfrm>
            <a:off x="4800600" y="254203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Florid 華麗奧爾加農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892040" y="2862072"/>
            <a:ext cx="374904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7" name="Text 15"/>
          <p:cNvSpPr/>
          <p:nvPr/>
        </p:nvSpPr>
        <p:spPr>
          <a:xfrm>
            <a:off x="4846320" y="2999232"/>
            <a:ext cx="3840480" cy="172821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下方聲部（tenor）以持續長音唱聖詠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拉丁 tenere = 「持續、держать」→ tenor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上方聲部在長音之上唱華麗裝飾花唱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Upper voice sings melismas over sustained tones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節奏自由——無固定拍子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聲音效果像「在聖詠上懸浮」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開創了巴黎聖母院時期的奧爾加農風格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巴黎聖母院學派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400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Dame Polyphony · Paris, Late 12th to Early 13th Century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950976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078992"/>
            <a:ext cx="8595360" cy="18288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133856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聖母院與大學 Cathedral &amp; University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554480"/>
            <a:ext cx="8229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建築：奠基 ca. 1160、祭壇 1182、中殿 ca. 1200、正立面 ca. 1250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Choir 1182, nave ca. 1200, façade ca. 1250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與巴黎大學（ca. 1150）密不可分——哲學與神學的中心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Linked to the University of Paris — center of Scholastic thought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音樂亦長、繁、結構化——仿教堂建築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Music paralleled the cathedral: long, intricate, structured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2971800"/>
            <a:ext cx="8595360" cy="182880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3035808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傳播與口頭傳承 Transmission &amp; Orality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3456432"/>
            <a:ext cx="82296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曲目在西歐傳唱逾一世紀——從西班牙到蘇格蘭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Sung across Europe for over a century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現存最早手稿來自 1240 年代，晚於曲目數十年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Earliest manuscripts from the 1240s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同曲在不同手稿中文本差異——顯示口傳為主要媒介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Manuscript variations show oral transmission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六種節奏模式 The Rhythmic Modes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Notre Dame's Great Innovation · First Notation for Duration Since Ancient Greece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11556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Johannes de Garlandia (ca. 1260) 在 De mensurabili musica 歸納為六種「模式」，以連音符組合表示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8412480" cy="41148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" y="1536192"/>
            <a:ext cx="1645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模式 Mode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2194560" y="1536192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模式 Pattern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212080" y="1536192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C181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現代節奏等值 Modern Equivalent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365760" y="1965960"/>
            <a:ext cx="8412480" cy="420624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" y="201168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2194560" y="201168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B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566160" y="201168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■   (長-短)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035040" y="201168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最古老最常用 · trochaic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65760" y="2404872"/>
            <a:ext cx="8412480" cy="420624"/>
          </a:xfrm>
          <a:prstGeom prst="rect">
            <a:avLst/>
          </a:prstGeom>
          <a:solidFill>
            <a:srgbClr val="4A2820"/>
          </a:solidFill>
          <a:ln/>
        </p:spPr>
      </p:sp>
      <p:sp>
        <p:nvSpPr>
          <p:cNvPr id="18" name="Text 16"/>
          <p:cNvSpPr/>
          <p:nvPr/>
        </p:nvSpPr>
        <p:spPr>
          <a:xfrm>
            <a:off x="457200" y="2450592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194560" y="2450592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L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566160" y="2450592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■   (短-長)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035040" y="2450592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iambic 反向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65760" y="2843784"/>
            <a:ext cx="8412480" cy="420624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2889504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III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2194560" y="2889504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B B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566160" y="2889504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■. ■ ■   (長-短-短)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035040" y="2889504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dactylic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3282696"/>
            <a:ext cx="8412480" cy="420624"/>
          </a:xfrm>
          <a:prstGeom prst="rect">
            <a:avLst/>
          </a:prstGeom>
          <a:solidFill>
            <a:srgbClr val="4A2820"/>
          </a:solidFill>
          <a:ln/>
        </p:spPr>
      </p:sp>
      <p:sp>
        <p:nvSpPr>
          <p:cNvPr id="28" name="Text 26"/>
          <p:cNvSpPr/>
          <p:nvPr/>
        </p:nvSpPr>
        <p:spPr>
          <a:xfrm>
            <a:off x="457200" y="3328416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IV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2194560" y="3328416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B 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66160" y="3328416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■ ■.   (短-短-長)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6035040" y="3328416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anapestic · 極少用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365760" y="3721608"/>
            <a:ext cx="8412480" cy="420624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33" name="Text 31"/>
          <p:cNvSpPr/>
          <p:nvPr/>
        </p:nvSpPr>
        <p:spPr>
          <a:xfrm>
            <a:off x="457200" y="3767328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2194560" y="3767328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 L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3566160" y="3767328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■. ■.   (連續長音)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035040" y="376732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最古老 · tenor 常用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365760" y="4160520"/>
            <a:ext cx="8412480" cy="420624"/>
          </a:xfrm>
          <a:prstGeom prst="rect">
            <a:avLst/>
          </a:prstGeom>
          <a:solidFill>
            <a:srgbClr val="4A2820"/>
          </a:solidFill>
          <a:ln/>
        </p:spPr>
      </p:sp>
      <p:sp>
        <p:nvSpPr>
          <p:cNvPr id="38" name="Text 36"/>
          <p:cNvSpPr/>
          <p:nvPr/>
        </p:nvSpPr>
        <p:spPr>
          <a:xfrm>
            <a:off x="457200" y="4206240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2194560" y="4206240"/>
            <a:ext cx="13716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 B B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3566160" y="4206240"/>
            <a:ext cx="246888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■ ■   (連續短音)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035040" y="4206240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tribrachic · 裝飾性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365760" y="4681728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8A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基本時間單位 tempus 永遠以三為一組——體現三位一體的完美數字「3」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8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萊奧寧與《大奧爾加農書》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6400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Léonin &amp; the Magnus liber organi (ca. 1160s–ca. 1200)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950976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097280"/>
            <a:ext cx="4206240" cy="36576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17043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Léonin (fl. 1150s–ca. 1201)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1517904"/>
            <a:ext cx="374904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627632"/>
            <a:ext cx="384048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1150 年代起任巴黎主教座堂神職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Notre Dame 參事、聖職者；與 St. Victor 修道院有關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同時為詩人——曾以詩句改寫創世紀前八卷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Anonymous IV（ca. 1285 論文）稱其為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「excellent organista」（傑出的奧爾加農歌者/作曲家）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據記載編纂了 Magnus liber organi（「大奧爾加農書」）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但並非獨力完成——如同聖母院的建築，這是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數代歌者的集體創作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663440" y="1097280"/>
            <a:ext cx="4206240" cy="3657600"/>
          </a:xfrm>
          <a:prstGeom prst="rect">
            <a:avLst/>
          </a:prstGeom>
          <a:solidFill>
            <a:srgbClr val="5C3A2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170432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Magnus liber organi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892040" y="1517904"/>
            <a:ext cx="374904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4" name="Text 12"/>
          <p:cNvSpPr/>
          <p:nvPr/>
        </p:nvSpPr>
        <p:spPr>
          <a:xfrm>
            <a:off x="4846320" y="1627632"/>
            <a:ext cx="384048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內容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教會年度主要節慶之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Graduals、Alleluias、Office Responsories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的獨唱段落的兩聲部複音設定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特點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在 Leoninus 的 organum duplum 中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tenor 以聖詠為基、行緩慢長音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upper voice（duplum）以華麗花唱盤旋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現存形式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「大書」本身已失傳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後世手稿（兩部於 Wolfenbüttel，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一部於 Florence）保存了曲目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佩羅丁、克勞蘇拉與導引歌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Pérotin · Substitute Clausula · Conductus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8595360" cy="141732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43584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Pérotin (fl. late 12th – early 13th c.)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00784"/>
            <a:ext cx="822960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Anonymous IV 稱其為「Perotinus the Great」· 編訂 Magnus liber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首創三聲部 organum triplum 與四聲部 organum quadruplum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代表作：Viderunt omnes（1198）· Sederunt principes · Alleluia Nativitas（NAWM 19）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所有上聲部使用節奏模式 · 常以 voice exchange 結構長段落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2697480"/>
            <a:ext cx="4206240" cy="210312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276148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Substitute Clausula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3218688"/>
            <a:ext cx="384048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clausula = 「句子、子句」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奧爾加農中的自足段落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「替代式 clausula」可取代原曲相同段落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讓聖詠有多種處理選擇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多為 discant 風格（兩聲部皆有節奏模式）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Florence 手稿收錄 10 種 Dominus 替代版本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663440" y="2697480"/>
            <a:ext cx="4206240" cy="210312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14" name="Text 12"/>
          <p:cNvSpPr/>
          <p:nvPr/>
        </p:nvSpPr>
        <p:spPr>
          <a:xfrm>
            <a:off x="4800600" y="2761488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Polyphonic Conductus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46320" y="3218688"/>
            <a:ext cx="384048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Dame 複音作曲家也創作 conductus：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tenor 為新作旋律——不借自聖詠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各聲部同時歌唱相同歌詞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歌詞多為音節式設定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句首句尾常出現花唱尾聲 caudae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主題為拉丁宗教或嚴肅題材詩歌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經文歌的誕生 The Birth of the Motet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6400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13th Century · From Clausula to New Genre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950976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078992"/>
            <a:ext cx="8595360" cy="16002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152144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起源 Origin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609344"/>
            <a:ext cx="8229600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13 世紀初，巴黎樂手為 discant clausula 上聲部加上拉丁新詞（如同 tropes 之於花唱）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新體裁稱為「motet」：拉丁 motetus &lt; 法文 mot 字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音樂裝飾反過來被文字裝飾：decoration gets decorated in turn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常以各聲部首字組成複合標題：Factum est salutare / Dominus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2788920"/>
            <a:ext cx="8595360" cy="196596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11" name="Text 9"/>
          <p:cNvSpPr/>
          <p:nvPr/>
        </p:nvSpPr>
        <p:spPr>
          <a:xfrm>
            <a:off x="411480" y="2862072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演變 Development Over the 13th Century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3319272"/>
            <a:ext cx="82296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初期：拉丁宗教文本以 clausula 為骨架，可在彌撒中演唱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中期：加入三、四聲部 → double / triple motet（多歌詞）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後期：法文、世俗主題 → 脫離教會，成為菁英的娛樂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tenor 由聖詠段落轉為純音樂骨幹 → Hieronymus de Moravia ca. 1270 稱「cantus firmus」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13 世紀中葉 motet 取代 organum 與 conductus，成為主導體裁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Franconian 記譜與後期經文歌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Franco of Cologne (ca. 1280) · A New Way of Writing Rhythm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88720"/>
            <a:ext cx="4206240" cy="361188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Ars cantus mensurabilis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1719072"/>
            <a:ext cx="384048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Franco of Cologne · ca. 1280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「可度量音樂的藝術」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革命性突破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用音符形狀本身表示相對時值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四種單音符號：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Double long（倍長）· Long（長）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Breve（短）· Semibreve（半短）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基本單位 tempus 以三為一組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三個 tempora = 一個 perfection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（完美的三位一體結構）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此體系沿用數世紀——現代音符的祖先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206240" cy="361188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1" name="Text 9"/>
          <p:cNvSpPr/>
          <p:nvPr/>
        </p:nvSpPr>
        <p:spPr>
          <a:xfrm>
            <a:off x="4800600" y="1261872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後期經文歌風格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846320" y="1719072"/>
            <a:ext cx="3840480" cy="3246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Franconian Motet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以 Franco 命名的新式經文歌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各上聲部獨立節奏，不遵循節奏模式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例：Adam de la Halle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Petronian Motet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Petrus de Cruce / Pierre de la Croix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每 tempus 可容納多達 7 個 semibreves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三聲部速度層級：tenor 慢+duplum 中+triplum 快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例：Aucun ont trouvé (NAWM 22)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③ Choirbook Format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三聲部分寫於同頁或對頁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1280 起至 16 世紀沿用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840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英格蘭複音 English Polyphony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64008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Distinctive Musical Dialect in 13th-Century England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950976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078992"/>
            <a:ext cx="4297680" cy="379476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8" name="Text 6"/>
          <p:cNvSpPr/>
          <p:nvPr/>
        </p:nvSpPr>
        <p:spPr>
          <a:xfrm>
            <a:off x="411480" y="1152144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英格蘭風格特徵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02920" y="1481328"/>
            <a:ext cx="384048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1609344"/>
            <a:ext cx="3931920" cy="3136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1066 諾曼征服後，英格蘭文化音樂與法國緊密連結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寫作 Notre Dame 各體裁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偏好 conductus 的「同節奏」與規律樂句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喜用不完美協和音程（三度、六度）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常以平行方式出現——受本土民間複音影響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Gerald of Wales（ca. 1200）記載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威爾斯與北不列顛的即興部分歌唱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Hymn to St. Magnus（12 世紀）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奧克尼群島守護聖人頌歌——連續平行三度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這些特色在 15 世紀影響歐陸作曲家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孕育出「國際風格 international style」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754880" y="1078992"/>
            <a:ext cx="4114800" cy="3794760"/>
          </a:xfrm>
          <a:prstGeom prst="rect">
            <a:avLst/>
          </a:prstGeom>
          <a:solidFill>
            <a:srgbClr val="5C3A28"/>
          </a:solidFill>
          <a:ln/>
        </p:spPr>
      </p:sp>
      <p:sp>
        <p:nvSpPr>
          <p:cNvPr id="12" name="Text 10"/>
          <p:cNvSpPr/>
          <p:nvPr/>
        </p:nvSpPr>
        <p:spPr>
          <a:xfrm>
            <a:off x="4892040" y="1152144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聲部互換與循環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983480" y="1481328"/>
            <a:ext cx="3657600" cy="1828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4" name="Text 12"/>
          <p:cNvSpPr/>
          <p:nvPr/>
        </p:nvSpPr>
        <p:spPr>
          <a:xfrm>
            <a:off x="4937760" y="1609344"/>
            <a:ext cx="3840480" cy="31363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Rondellus 輪唱複音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三個樂句 a b c 由三聲部輪流交換：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V1: a b c · V2: c a b · V3: b c 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同一段三聲部樂句重複三次，角色互換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Rota 卡農輪唱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同度永恆卡農（perpetual round）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Sumer is icumen in（ca. 1250）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「夏日已來到」——最著名的 rota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四聲部同度卡農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下方兩聲部唱 pes（持續低音）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彼此形成兩聲部 rondellus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產生 F-A-C-F 與 G-B■-D 交替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• 英文歌詞讚美夏日與杜鵑鳥歌唱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關鍵人物 Key Figures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371600" y="713232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6" name="Shape 4"/>
          <p:cNvSpPr/>
          <p:nvPr/>
        </p:nvSpPr>
        <p:spPr>
          <a:xfrm>
            <a:off x="274320" y="822960"/>
            <a:ext cx="8595360" cy="4572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89611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■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68680" y="85039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Guido of Arezzo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105156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991 – post-1033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57600" y="896112"/>
            <a:ext cx="22860" cy="32004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1" name="Text 9"/>
          <p:cNvSpPr/>
          <p:nvPr/>
        </p:nvSpPr>
        <p:spPr>
          <a:xfrm>
            <a:off x="3749040" y="85039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義大利本篤會修士 · Micrologus（ca. 1025–28）描述混合平行與斜行式奧爾加農 · 亦創造 solmization 與四線譜系統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274320" y="1335024"/>
            <a:ext cx="8595360" cy="4572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3" name="Text 11"/>
          <p:cNvSpPr/>
          <p:nvPr/>
        </p:nvSpPr>
        <p:spPr>
          <a:xfrm>
            <a:off x="365760" y="1408176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■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868680" y="136245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Wulfstan of Winchester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68680" y="156362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fl. 992–996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0" y="1408176"/>
            <a:ext cx="22860" cy="32004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17" name="Text 15"/>
          <p:cNvSpPr/>
          <p:nvPr/>
        </p:nvSpPr>
        <p:spPr>
          <a:xfrm>
            <a:off x="3749040" y="1362456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Winchester Troper 中 174 首奧爾加農的作者——現存最早的大型英格蘭複音曲集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274320" y="1847088"/>
            <a:ext cx="8595360" cy="4572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9" name="Text 17"/>
          <p:cNvSpPr/>
          <p:nvPr/>
        </p:nvSpPr>
        <p:spPr>
          <a:xfrm>
            <a:off x="365760" y="192024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■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68680" y="18745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Léonin (Leoninus)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8680" y="207568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fl. 1150s – ca. 1201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657600" y="1920240"/>
            <a:ext cx="22860" cy="32004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3" name="Text 21"/>
          <p:cNvSpPr/>
          <p:nvPr/>
        </p:nvSpPr>
        <p:spPr>
          <a:xfrm>
            <a:off x="3749040" y="187452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巴黎聖母院神職與詩人 · Anonymous IV 稱其為「excellent organista」· 與《Magnus liber organi》的編纂密不可分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274320" y="2359152"/>
            <a:ext cx="8595360" cy="4572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25" name="Text 23"/>
          <p:cNvSpPr/>
          <p:nvPr/>
        </p:nvSpPr>
        <p:spPr>
          <a:xfrm>
            <a:off x="365760" y="2432304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■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868680" y="2386584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Pérotin (Perotinus)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868680" y="258775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fl. late 12th – early 13th c.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3657600" y="2432304"/>
            <a:ext cx="22860" cy="32004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29" name="Text 27"/>
          <p:cNvSpPr/>
          <p:nvPr/>
        </p:nvSpPr>
        <p:spPr>
          <a:xfrm>
            <a:off x="3749040" y="2386584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「Perotinus the Great」· 擴充 Magnus liber · 首創三聲部與四聲部 organum · 代表作 Viderunt omnes（1198）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274320" y="2871216"/>
            <a:ext cx="8595360" cy="4572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31" name="Text 29"/>
          <p:cNvSpPr/>
          <p:nvPr/>
        </p:nvSpPr>
        <p:spPr>
          <a:xfrm>
            <a:off x="365760" y="2944368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■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868680" y="289864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Johannes de Garlandia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68680" y="309981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1260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3657600" y="2944368"/>
            <a:ext cx="22860" cy="32004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5" name="Text 33"/>
          <p:cNvSpPr/>
          <p:nvPr/>
        </p:nvSpPr>
        <p:spPr>
          <a:xfrm>
            <a:off x="3749040" y="289864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mensurabili musica 論文整理六種節奏模式——把即興傳統系統化為可書寫的節奏體系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274320" y="3383280"/>
            <a:ext cx="8595360" cy="4572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37" name="Text 35"/>
          <p:cNvSpPr/>
          <p:nvPr/>
        </p:nvSpPr>
        <p:spPr>
          <a:xfrm>
            <a:off x="365760" y="3456432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■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868680" y="341071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Franco of Cologne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868680" y="36118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1280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3657600" y="3456432"/>
            <a:ext cx="22860" cy="32004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1" name="Text 39"/>
          <p:cNvSpPr/>
          <p:nvPr/>
        </p:nvSpPr>
        <p:spPr>
          <a:xfrm>
            <a:off x="3749040" y="341071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Ars cantus mensurabilis —— 確立用音符形狀本身表示時值的記譜法，現代記譜法的直接祖先</a:t>
            </a:r>
            <a:endParaRPr lang="en-US" sz="1400" dirty="0"/>
          </a:p>
        </p:txBody>
      </p:sp>
      <p:sp>
        <p:nvSpPr>
          <p:cNvPr id="42" name="Shape 40"/>
          <p:cNvSpPr/>
          <p:nvPr/>
        </p:nvSpPr>
        <p:spPr>
          <a:xfrm>
            <a:off x="274320" y="3895344"/>
            <a:ext cx="8595360" cy="4572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43" name="Text 41"/>
          <p:cNvSpPr/>
          <p:nvPr/>
        </p:nvSpPr>
        <p:spPr>
          <a:xfrm>
            <a:off x="365760" y="3968496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■</a:t>
            </a:r>
            <a:endParaRPr lang="en-US" sz="1600" dirty="0"/>
          </a:p>
        </p:txBody>
      </p:sp>
      <p:sp>
        <p:nvSpPr>
          <p:cNvPr id="44" name="Text 42"/>
          <p:cNvSpPr/>
          <p:nvPr/>
        </p:nvSpPr>
        <p:spPr>
          <a:xfrm>
            <a:off x="868680" y="3922776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Adam de la Halle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868680" y="412394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1240–1288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3657600" y="3968496"/>
            <a:ext cx="22860" cy="32004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7" name="Text 45"/>
          <p:cNvSpPr/>
          <p:nvPr/>
        </p:nvSpPr>
        <p:spPr>
          <a:xfrm>
            <a:off x="3749040" y="3922776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同時是 trouvère 與經文歌作者 · De ma dame vient / Dieus / Omnes 體現 Franconian 經文歌風格</a:t>
            </a:r>
            <a:endParaRPr lang="en-US" sz="1400" dirty="0"/>
          </a:p>
        </p:txBody>
      </p:sp>
      <p:sp>
        <p:nvSpPr>
          <p:cNvPr id="48" name="Shape 46"/>
          <p:cNvSpPr/>
          <p:nvPr/>
        </p:nvSpPr>
        <p:spPr>
          <a:xfrm>
            <a:off x="274320" y="4407408"/>
            <a:ext cx="8595360" cy="45720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49" name="Text 47"/>
          <p:cNvSpPr/>
          <p:nvPr/>
        </p:nvSpPr>
        <p:spPr>
          <a:xfrm>
            <a:off x="365760" y="4480560"/>
            <a:ext cx="457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■</a:t>
            </a:r>
            <a:endParaRPr lang="en-US" sz="1600" dirty="0"/>
          </a:p>
        </p:txBody>
      </p:sp>
      <p:sp>
        <p:nvSpPr>
          <p:cNvPr id="50" name="Text 48"/>
          <p:cNvSpPr/>
          <p:nvPr/>
        </p:nvSpPr>
        <p:spPr>
          <a:xfrm>
            <a:off x="868680" y="443484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Petrus de Cruce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868680" y="463600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mid-13th – early 14th c.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3657600" y="4480560"/>
            <a:ext cx="22860" cy="32004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53" name="Text 51"/>
          <p:cNvSpPr/>
          <p:nvPr/>
        </p:nvSpPr>
        <p:spPr>
          <a:xfrm>
            <a:off x="3749040" y="443484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Pierre de la Croix · 進一步細分 semibreves · 開啟 Ars nova 的節奏複雜性之先聲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歷史時間軸 Timeline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713232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2560320" y="822960"/>
            <a:ext cx="45720" cy="402336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7" name="Shape 5"/>
          <p:cNvSpPr/>
          <p:nvPr/>
        </p:nvSpPr>
        <p:spPr>
          <a:xfrm>
            <a:off x="2441448" y="859536"/>
            <a:ext cx="237744" cy="237744"/>
          </a:xfrm>
          <a:prstGeom prst="ellipse">
            <a:avLst/>
          </a:prstGeom>
          <a:solidFill>
            <a:srgbClr val="7A2830"/>
          </a:solidFill>
          <a:ln/>
        </p:spPr>
      </p:sp>
      <p:sp>
        <p:nvSpPr>
          <p:cNvPr id="8" name="Text 6"/>
          <p:cNvSpPr/>
          <p:nvPr/>
        </p:nvSpPr>
        <p:spPr>
          <a:xfrm>
            <a:off x="182880" y="822960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850–890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788920" y="822960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Musica enchiriadis · 最早描述平行奧爾加農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441448" y="1078992"/>
            <a:ext cx="237744" cy="237744"/>
          </a:xfrm>
          <a:prstGeom prst="ellipse">
            <a:avLst/>
          </a:prstGeom>
          <a:solidFill>
            <a:srgbClr val="7A2830"/>
          </a:solidFill>
          <a:ln/>
        </p:spPr>
      </p:sp>
      <p:sp>
        <p:nvSpPr>
          <p:cNvPr id="11" name="Text 9"/>
          <p:cNvSpPr/>
          <p:nvPr/>
        </p:nvSpPr>
        <p:spPr>
          <a:xfrm>
            <a:off x="182880" y="10424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992–996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788920" y="1042416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Wulfstan of Winchester · Winchester Troper 中 174 首奧爾加農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441448" y="1298448"/>
            <a:ext cx="237744" cy="237744"/>
          </a:xfrm>
          <a:prstGeom prst="ellipse">
            <a:avLst/>
          </a:prstGeom>
          <a:solidFill>
            <a:srgbClr val="7A2830"/>
          </a:solidFill>
          <a:ln/>
        </p:spPr>
      </p:sp>
      <p:sp>
        <p:nvSpPr>
          <p:cNvPr id="14" name="Text 12"/>
          <p:cNvSpPr/>
          <p:nvPr/>
        </p:nvSpPr>
        <p:spPr>
          <a:xfrm>
            <a:off x="182880" y="1261872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11th c.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788920" y="1261872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羅馬式教堂與修院時期 · 音對音奧爾加農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441448" y="1517904"/>
            <a:ext cx="237744" cy="237744"/>
          </a:xfrm>
          <a:prstGeom prst="ellipse">
            <a:avLst/>
          </a:prstGeom>
          <a:solidFill>
            <a:srgbClr val="7A2830"/>
          </a:solidFill>
          <a:ln/>
        </p:spPr>
      </p:sp>
      <p:sp>
        <p:nvSpPr>
          <p:cNvPr id="17" name="Text 15"/>
          <p:cNvSpPr/>
          <p:nvPr/>
        </p:nvSpPr>
        <p:spPr>
          <a:xfrm>
            <a:off x="182880" y="148132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1025–28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2788920" y="1481328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Guido of Arezzo · Micrologus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441448" y="1737360"/>
            <a:ext cx="237744" cy="237744"/>
          </a:xfrm>
          <a:prstGeom prst="ellipse">
            <a:avLst/>
          </a:prstGeom>
          <a:solidFill>
            <a:srgbClr val="7A2830"/>
          </a:solidFill>
          <a:ln/>
        </p:spPr>
      </p:sp>
      <p:sp>
        <p:nvSpPr>
          <p:cNvPr id="20" name="Text 18"/>
          <p:cNvSpPr/>
          <p:nvPr/>
        </p:nvSpPr>
        <p:spPr>
          <a:xfrm>
            <a:off x="182880" y="1700784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1100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2788920" y="1700784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organum faciendum · 奧爾加農實用教本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441448" y="1956816"/>
            <a:ext cx="237744" cy="237744"/>
          </a:xfrm>
          <a:prstGeom prst="ellipse">
            <a:avLst/>
          </a:prstGeom>
          <a:solidFill>
            <a:srgbClr val="7A2830"/>
          </a:solidFill>
          <a:ln/>
        </p:spPr>
      </p:sp>
      <p:sp>
        <p:nvSpPr>
          <p:cNvPr id="23" name="Text 21"/>
          <p:cNvSpPr/>
          <p:nvPr/>
        </p:nvSpPr>
        <p:spPr>
          <a:xfrm>
            <a:off x="182880" y="1920240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1109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2788920" y="1920240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St. Anselm 卒 · 經院哲學之父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2441448" y="2176272"/>
            <a:ext cx="237744" cy="237744"/>
          </a:xfrm>
          <a:prstGeom prst="ellipse">
            <a:avLst/>
          </a:prstGeom>
          <a:solidFill>
            <a:srgbClr val="7A2830"/>
          </a:solidFill>
          <a:ln/>
        </p:spPr>
      </p:sp>
      <p:sp>
        <p:nvSpPr>
          <p:cNvPr id="26" name="Text 24"/>
          <p:cNvSpPr/>
          <p:nvPr/>
        </p:nvSpPr>
        <p:spPr>
          <a:xfrm>
            <a:off x="182880" y="213969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12th c.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788920" y="2139696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Aquitanian polyphony（St. Martial · Limoges）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2441448" y="2395728"/>
            <a:ext cx="237744" cy="237744"/>
          </a:xfrm>
          <a:prstGeom prst="ellipse">
            <a:avLst/>
          </a:prstGeom>
          <a:solidFill>
            <a:srgbClr val="7A2830"/>
          </a:solidFill>
          <a:ln/>
        </p:spPr>
      </p:sp>
      <p:sp>
        <p:nvSpPr>
          <p:cNvPr id="29" name="Text 27"/>
          <p:cNvSpPr/>
          <p:nvPr/>
        </p:nvSpPr>
        <p:spPr>
          <a:xfrm>
            <a:off x="182880" y="2359152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1140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2788920" y="2359152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最早的哥德式建築出現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2441448" y="2615184"/>
            <a:ext cx="237744" cy="237744"/>
          </a:xfrm>
          <a:prstGeom prst="ellipse">
            <a:avLst/>
          </a:prstGeom>
          <a:solidFill>
            <a:srgbClr val="7A2830"/>
          </a:solidFill>
          <a:ln/>
        </p:spPr>
      </p:sp>
      <p:sp>
        <p:nvSpPr>
          <p:cNvPr id="32" name="Text 30"/>
          <p:cNvSpPr/>
          <p:nvPr/>
        </p:nvSpPr>
        <p:spPr>
          <a:xfrm>
            <a:off x="182880" y="257860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mid-12th c.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2788920" y="2578608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巴黎大學成立</a:t>
            </a:r>
            <a:endParaRPr lang="en-US" sz="1400" dirty="0"/>
          </a:p>
        </p:txBody>
      </p:sp>
      <p:sp>
        <p:nvSpPr>
          <p:cNvPr id="34" name="Shape 32"/>
          <p:cNvSpPr/>
          <p:nvPr/>
        </p:nvSpPr>
        <p:spPr>
          <a:xfrm>
            <a:off x="2441448" y="2834640"/>
            <a:ext cx="237744" cy="237744"/>
          </a:xfrm>
          <a:prstGeom prst="ellipse">
            <a:avLst/>
          </a:prstGeom>
          <a:solidFill>
            <a:srgbClr val="7A2830"/>
          </a:solidFill>
          <a:ln/>
        </p:spPr>
      </p:sp>
      <p:sp>
        <p:nvSpPr>
          <p:cNvPr id="35" name="Text 33"/>
          <p:cNvSpPr/>
          <p:nvPr/>
        </p:nvSpPr>
        <p:spPr>
          <a:xfrm>
            <a:off x="182880" y="2798064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1150s–ca.1201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2788920" y="2798064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Léonin 於巴黎主教座堂活動</a:t>
            </a:r>
            <a:endParaRPr lang="en-US" sz="1400" dirty="0"/>
          </a:p>
        </p:txBody>
      </p:sp>
      <p:sp>
        <p:nvSpPr>
          <p:cNvPr id="37" name="Shape 35"/>
          <p:cNvSpPr/>
          <p:nvPr/>
        </p:nvSpPr>
        <p:spPr>
          <a:xfrm>
            <a:off x="2441448" y="3054096"/>
            <a:ext cx="237744" cy="237744"/>
          </a:xfrm>
          <a:prstGeom prst="ellipse">
            <a:avLst/>
          </a:prstGeom>
          <a:solidFill>
            <a:srgbClr val="7A2830"/>
          </a:solidFill>
          <a:ln/>
        </p:spPr>
      </p:sp>
      <p:sp>
        <p:nvSpPr>
          <p:cNvPr id="38" name="Text 36"/>
          <p:cNvSpPr/>
          <p:nvPr/>
        </p:nvSpPr>
        <p:spPr>
          <a:xfrm>
            <a:off x="182880" y="3017520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1160–1250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2788920" y="3017520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巴黎聖母院建造</a:t>
            </a:r>
            <a:endParaRPr lang="en-US" sz="1400" dirty="0"/>
          </a:p>
        </p:txBody>
      </p:sp>
      <p:sp>
        <p:nvSpPr>
          <p:cNvPr id="40" name="Shape 38"/>
          <p:cNvSpPr/>
          <p:nvPr/>
        </p:nvSpPr>
        <p:spPr>
          <a:xfrm>
            <a:off x="2441448" y="3273552"/>
            <a:ext cx="237744" cy="237744"/>
          </a:xfrm>
          <a:prstGeom prst="ellipse">
            <a:avLst/>
          </a:prstGeom>
          <a:solidFill>
            <a:srgbClr val="7A2830"/>
          </a:solidFill>
          <a:ln/>
        </p:spPr>
      </p:sp>
      <p:sp>
        <p:nvSpPr>
          <p:cNvPr id="41" name="Text 39"/>
          <p:cNvSpPr/>
          <p:nvPr/>
        </p:nvSpPr>
        <p:spPr>
          <a:xfrm>
            <a:off x="182880" y="323697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1173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2788920" y="3236976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Codex Calixtinus（聖地牙哥德孔波斯特拉）</a:t>
            </a:r>
            <a:endParaRPr lang="en-US" sz="1400" dirty="0"/>
          </a:p>
        </p:txBody>
      </p:sp>
      <p:sp>
        <p:nvSpPr>
          <p:cNvPr id="43" name="Shape 41"/>
          <p:cNvSpPr/>
          <p:nvPr/>
        </p:nvSpPr>
        <p:spPr>
          <a:xfrm>
            <a:off x="2441448" y="3493008"/>
            <a:ext cx="237744" cy="237744"/>
          </a:xfrm>
          <a:prstGeom prst="ellipse">
            <a:avLst/>
          </a:prstGeom>
          <a:solidFill>
            <a:srgbClr val="7A2830"/>
          </a:solidFill>
          <a:ln/>
        </p:spPr>
      </p:sp>
      <p:sp>
        <p:nvSpPr>
          <p:cNvPr id="44" name="Text 42"/>
          <p:cNvSpPr/>
          <p:nvPr/>
        </p:nvSpPr>
        <p:spPr>
          <a:xfrm>
            <a:off x="182880" y="3456432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1198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2788920" y="3456432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Pérotin · Viderunt omnes（四聲部）</a:t>
            </a:r>
            <a:endParaRPr lang="en-US" sz="1400" dirty="0"/>
          </a:p>
        </p:txBody>
      </p:sp>
      <p:sp>
        <p:nvSpPr>
          <p:cNvPr id="46" name="Shape 44"/>
          <p:cNvSpPr/>
          <p:nvPr/>
        </p:nvSpPr>
        <p:spPr>
          <a:xfrm>
            <a:off x="2441448" y="3712464"/>
            <a:ext cx="237744" cy="237744"/>
          </a:xfrm>
          <a:prstGeom prst="ellipse">
            <a:avLst/>
          </a:prstGeom>
          <a:solidFill>
            <a:srgbClr val="7A2830"/>
          </a:solidFill>
          <a:ln/>
        </p:spPr>
      </p:sp>
      <p:sp>
        <p:nvSpPr>
          <p:cNvPr id="47" name="Text 45"/>
          <p:cNvSpPr/>
          <p:nvPr/>
        </p:nvSpPr>
        <p:spPr>
          <a:xfrm>
            <a:off x="182880" y="367588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1209</a:t>
            </a:r>
            <a:endParaRPr lang="en-US" sz="1400" dirty="0"/>
          </a:p>
        </p:txBody>
      </p:sp>
      <p:sp>
        <p:nvSpPr>
          <p:cNvPr id="48" name="Text 46"/>
          <p:cNvSpPr/>
          <p:nvPr/>
        </p:nvSpPr>
        <p:spPr>
          <a:xfrm>
            <a:off x="2788920" y="3675888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St. Francis of Assisi 創立方濟會</a:t>
            </a:r>
            <a:endParaRPr lang="en-US" sz="1400" dirty="0"/>
          </a:p>
        </p:txBody>
      </p:sp>
      <p:sp>
        <p:nvSpPr>
          <p:cNvPr id="49" name="Shape 47"/>
          <p:cNvSpPr/>
          <p:nvPr/>
        </p:nvSpPr>
        <p:spPr>
          <a:xfrm>
            <a:off x="2441448" y="3931920"/>
            <a:ext cx="237744" cy="237744"/>
          </a:xfrm>
          <a:prstGeom prst="ellipse">
            <a:avLst/>
          </a:prstGeom>
          <a:solidFill>
            <a:srgbClr val="7A2830"/>
          </a:solidFill>
          <a:ln/>
        </p:spPr>
      </p:sp>
      <p:sp>
        <p:nvSpPr>
          <p:cNvPr id="50" name="Text 48"/>
          <p:cNvSpPr/>
          <p:nvPr/>
        </p:nvSpPr>
        <p:spPr>
          <a:xfrm>
            <a:off x="182880" y="3895344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1250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2788920" y="3895344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Sumer is icumen in（現存最早的英語 rota）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2441448" y="4151376"/>
            <a:ext cx="237744" cy="237744"/>
          </a:xfrm>
          <a:prstGeom prst="ellipse">
            <a:avLst/>
          </a:prstGeom>
          <a:solidFill>
            <a:srgbClr val="7A2830"/>
          </a:solidFill>
          <a:ln/>
        </p:spPr>
      </p:sp>
      <p:sp>
        <p:nvSpPr>
          <p:cNvPr id="53" name="Text 51"/>
          <p:cNvSpPr/>
          <p:nvPr/>
        </p:nvSpPr>
        <p:spPr>
          <a:xfrm>
            <a:off x="182880" y="4114800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1260</a:t>
            </a:r>
            <a:endParaRPr lang="en-US" sz="1400" dirty="0"/>
          </a:p>
        </p:txBody>
      </p:sp>
      <p:sp>
        <p:nvSpPr>
          <p:cNvPr id="54" name="Text 52"/>
          <p:cNvSpPr/>
          <p:nvPr/>
        </p:nvSpPr>
        <p:spPr>
          <a:xfrm>
            <a:off x="2788920" y="4114800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Johannes de Garlandia · De mensurabili musica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2441448" y="4370832"/>
            <a:ext cx="237744" cy="237744"/>
          </a:xfrm>
          <a:prstGeom prst="ellipse">
            <a:avLst/>
          </a:prstGeom>
          <a:solidFill>
            <a:srgbClr val="7A2830"/>
          </a:solidFill>
          <a:ln/>
        </p:spPr>
      </p:sp>
      <p:sp>
        <p:nvSpPr>
          <p:cNvPr id="56" name="Text 54"/>
          <p:cNvSpPr/>
          <p:nvPr/>
        </p:nvSpPr>
        <p:spPr>
          <a:xfrm>
            <a:off x="182880" y="433425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1267–73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2788920" y="4334256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St. Thomas Aquinas · Summa Theologica</a:t>
            </a:r>
            <a:endParaRPr lang="en-US" sz="1400" dirty="0"/>
          </a:p>
        </p:txBody>
      </p:sp>
      <p:sp>
        <p:nvSpPr>
          <p:cNvPr id="58" name="Shape 56"/>
          <p:cNvSpPr/>
          <p:nvPr/>
        </p:nvSpPr>
        <p:spPr>
          <a:xfrm>
            <a:off x="2441448" y="4590288"/>
            <a:ext cx="237744" cy="237744"/>
          </a:xfrm>
          <a:prstGeom prst="ellipse">
            <a:avLst/>
          </a:prstGeom>
          <a:solidFill>
            <a:srgbClr val="7A2830"/>
          </a:solidFill>
          <a:ln/>
        </p:spPr>
      </p:sp>
      <p:sp>
        <p:nvSpPr>
          <p:cNvPr id="59" name="Text 57"/>
          <p:cNvSpPr/>
          <p:nvPr/>
        </p:nvSpPr>
        <p:spPr>
          <a:xfrm>
            <a:off x="182880" y="4553712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1280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2788920" y="4553712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Franco of Cologne · Ars cantus mensurabilis</a:t>
            </a:r>
            <a:endParaRPr lang="en-US" sz="1400" dirty="0"/>
          </a:p>
        </p:txBody>
      </p:sp>
      <p:sp>
        <p:nvSpPr>
          <p:cNvPr id="61" name="Shape 59"/>
          <p:cNvSpPr/>
          <p:nvPr/>
        </p:nvSpPr>
        <p:spPr>
          <a:xfrm>
            <a:off x="2441448" y="4809744"/>
            <a:ext cx="237744" cy="237744"/>
          </a:xfrm>
          <a:prstGeom prst="ellipse">
            <a:avLst/>
          </a:prstGeom>
          <a:solidFill>
            <a:srgbClr val="7A2830"/>
          </a:solidFill>
          <a:ln/>
        </p:spPr>
      </p:sp>
      <p:sp>
        <p:nvSpPr>
          <p:cNvPr id="62" name="Text 60"/>
          <p:cNvSpPr/>
          <p:nvPr/>
        </p:nvSpPr>
        <p:spPr>
          <a:xfrm>
            <a:off x="182880" y="47731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400" dirty="0">
                <a:solidFill>
                  <a:srgbClr val="5C3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ca. 1285</a:t>
            </a:r>
            <a:endParaRPr lang="en-US" sz="1400" dirty="0"/>
          </a:p>
        </p:txBody>
      </p:sp>
      <p:sp>
        <p:nvSpPr>
          <p:cNvPr id="63" name="Text 61"/>
          <p:cNvSpPr/>
          <p:nvPr/>
        </p:nvSpPr>
        <p:spPr>
          <a:xfrm>
            <a:off x="2788920" y="4773168"/>
            <a:ext cx="6035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C18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Anonymous IV 論文（記載 Léonin、Pérotin）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C18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64592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複音音樂的遺產 A Polyphonic Tradition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Chapter Summary · Why This Music Mattered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1371600" y="1024128"/>
            <a:ext cx="6400800" cy="36576"/>
          </a:xfrm>
          <a:prstGeom prst="rect">
            <a:avLst/>
          </a:prstGeom>
          <a:solidFill>
            <a:srgbClr val="C8A020"/>
          </a:solidFill>
          <a:ln/>
        </p:spPr>
      </p:sp>
      <p:sp>
        <p:nvSpPr>
          <p:cNvPr id="7" name="Shape 5"/>
          <p:cNvSpPr/>
          <p:nvPr/>
        </p:nvSpPr>
        <p:spPr>
          <a:xfrm>
            <a:off x="274320" y="1143000"/>
            <a:ext cx="8595360" cy="54864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8" name="Text 6"/>
          <p:cNvSpPr/>
          <p:nvPr/>
        </p:nvSpPr>
        <p:spPr>
          <a:xfrm>
            <a:off x="365760" y="121615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■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0120" y="118872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11–13 世紀複音興起：對位、和聲、垂直音響成為西方傳統核心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Polyphony 11th–13th c.: counterpoint and harmony enter Western tradition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1764792"/>
            <a:ext cx="8595360" cy="54864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1" name="Text 9"/>
          <p:cNvSpPr/>
          <p:nvPr/>
        </p:nvSpPr>
        <p:spPr>
          <a:xfrm>
            <a:off x="365760" y="1837944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■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60120" y="1810512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記譜法引入兩大特徵：聲部垂直對齊、音符形狀表時值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Notation: vertical alignment of parts; note shapes indicating duration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74320" y="2386584"/>
            <a:ext cx="8595360" cy="54864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4" name="Text 12"/>
          <p:cNvSpPr/>
          <p:nvPr/>
        </p:nvSpPr>
        <p:spPr>
          <a:xfrm>
            <a:off x="365760" y="2459736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■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60120" y="2432304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聖母院學派的音樂如大教堂——長度、結構、多聲部協調前所未見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Dame music matched the cathedral: length, structure, grandeur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274320" y="3008376"/>
            <a:ext cx="8595360" cy="54864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17" name="Text 15"/>
          <p:cNvSpPr/>
          <p:nvPr/>
        </p:nvSpPr>
        <p:spPr>
          <a:xfrm>
            <a:off x="365760" y="3081528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■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60120" y="3054096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經文歌由 clausula 填詞演變為世俗娛樂，主導中世紀晚期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motet evolved from clausula trope to elite entertainment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274320" y="3630168"/>
            <a:ext cx="8595360" cy="54864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20" name="Text 18"/>
          <p:cNvSpPr/>
          <p:nvPr/>
        </p:nvSpPr>
        <p:spPr>
          <a:xfrm>
            <a:off x="365760" y="370332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■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960120" y="3675888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大多中世紀複音一兩代後即被視為粗糙，20 世紀才重新發掘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medieval polyphony faded quickly, revived only in the 20th c.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274320" y="4251960"/>
            <a:ext cx="8595360" cy="548640"/>
          </a:xfrm>
          <a:prstGeom prst="rect">
            <a:avLst/>
          </a:prstGeom>
          <a:solidFill>
            <a:srgbClr val="3A2015"/>
          </a:solidFill>
          <a:ln/>
        </p:spPr>
      </p:sp>
      <p:sp>
        <p:nvSpPr>
          <p:cNvPr id="23" name="Text 21"/>
          <p:cNvSpPr/>
          <p:nvPr/>
        </p:nvSpPr>
        <p:spPr>
          <a:xfrm>
            <a:off x="365760" y="432511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00000"/>
                </a:solidFill>
              </a:rPr>
              <a:t>■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60120" y="429768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中世紀聲響回聲於 Debussy 的平行和弦、極簡主義、嘻哈分層文本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8D8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Medieval sounds echo in Debussy, minimalism, and hip hop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4" name="Text 2"/>
          <p:cNvSpPr/>
          <p:nvPr/>
        </p:nvSpPr>
        <p:spPr>
          <a:xfrm>
            <a:off x="365760" y="18288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延伸閱讀與補充教材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7A283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Further Reading &amp; Supplementary Resources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868680"/>
            <a:ext cx="8412480" cy="27432"/>
          </a:xfrm>
          <a:prstGeom prst="rect">
            <a:avLst/>
          </a:prstGeom>
          <a:solidFill>
            <a:srgbClr val="E8D8A8"/>
          </a:solidFill>
          <a:ln/>
        </p:spPr>
      </p:sp>
      <p:sp>
        <p:nvSpPr>
          <p:cNvPr id="6" name="Shape 4"/>
          <p:cNvSpPr/>
          <p:nvPr/>
        </p:nvSpPr>
        <p:spPr>
          <a:xfrm>
            <a:off x="365760" y="960120"/>
            <a:ext cx="8412480" cy="2194560"/>
          </a:xfrm>
          <a:prstGeom prst="rect">
            <a:avLst/>
          </a:prstGeom>
          <a:solidFill>
            <a:srgbClr val="7A2830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100584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聆聽 Listen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02920" y="1280160"/>
            <a:ext cx="81381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Musica enchiriadis — parallel organum (NAWM 14)  youtu.be/kGnCQKRwMfc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Aquitanian: Jubilemus, exultemus (NAWM 15)  youtu.be/22srNVUmF3Q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Léonin — Viderunt omnes, duplum (NAWM 17)  youtu.be/_p9WQlyVPrA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Pérotin — Viderunt omnes, quadruplum (NAWM 19)  youtu.be/fPZrMpFnygw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Factum est salutare / Dominus (NAWM 20)  youtu.be/iLKKwuirSoo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— De ma dame vient (NAWM 21)  youtu.be/zGV5APEq7bc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Sumer is icumen in (NAWM 23)  youtu.be/sMCA9nYnLWo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3246120"/>
            <a:ext cx="8412480" cy="1097280"/>
          </a:xfrm>
          <a:prstGeom prst="rect">
            <a:avLst/>
          </a:prstGeom>
          <a:solidFill>
            <a:srgbClr val="A84030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3282696"/>
            <a:ext cx="8138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閱讀 Read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02920" y="3557016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Hoppin — Medieval Music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Roesner — Who 'Made' the Magnus Liber?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Wright — Notre Dame of Paris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617720" y="3557016"/>
            <a:ext cx="40233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Fuller — Early Polyphony (NOHM)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Wikipedia: Organum · Motet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Grout HWM Online · Ch 5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4434840"/>
            <a:ext cx="8412480" cy="548640"/>
          </a:xfrm>
          <a:prstGeom prst="rect">
            <a:avLst/>
          </a:prstGeom>
          <a:solidFill>
            <a:srgbClr val="5C3A2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4462272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C8A02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■ Key Terms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011680" y="4462272"/>
            <a:ext cx="6629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BF5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Organum · Polyphony · Musica enchiriadis · Magnus liber organi · Léonin / Pérotin · Clausula · Conductus · Motet · Rhythmic modes · Sumer is icumen in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Chapter 5: Polyphony through the Thirteenth Century</dc:title>
  <dc:subject>PptxGenJS Presentation</dc:subject>
  <dc:creator>A History of Western Music, 10th ed.</dc:creator>
  <cp:lastModifiedBy>A History of Western Music, 10th ed.</cp:lastModifiedBy>
  <cp:revision>1</cp:revision>
  <dcterms:created xsi:type="dcterms:W3CDTF">2026-04-17T22:23:35Z</dcterms:created>
  <dcterms:modified xsi:type="dcterms:W3CDTF">2026-04-17T22:23:35Z</dcterms:modified>
</cp:coreProperties>
</file>