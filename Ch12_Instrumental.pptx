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12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46304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RISE OF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INSTRUMENTAL MUSIC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2286000" y="342900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5661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Susato · Narvaez · Byrd · Merulo · Andrea &amp; Giovanni Gabrieli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254-277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73152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96012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器樂的興起：1480年後器樂逐漸獲得獨立地位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Rise: Instrumental music gains status after 1480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1627632"/>
            <a:ext cx="73152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627632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樂器與合奏：家族樂器、consort、高音/低音之分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Instruments &amp; Ensembles: families, consorts, haut/bas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2295144"/>
            <a:ext cx="73152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295144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舞曲音樂：pavane-galliard 配對、Susato Danserye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Dance Music: paired dances, Susato's Danserye (1551)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2962656"/>
            <a:ext cx="73152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962656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聲樂改編與變奏：intabulation、Narvaez、Byrd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Arrangements &amp; Variations: intabulation, Narvaez, Byrd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65760" y="3630168"/>
            <a:ext cx="73152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630168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抽象器樂：ricercar、fantasia、canzona、toccata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Works: ricercar, fantasia, canzona, toccata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65760" y="4297680"/>
            <a:ext cx="73152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429768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威尼斯與聖馬可：Gabrieli 家族的輝煌音樂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Venice &amp; St. Mark's: the splendor of the Gabrielis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器樂為何興起？ Why Did Instrumental Music Rise?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1480年後教會、宮廷、城市、業餘愛好者日益培養器樂</a:t>
            </a:r>
            <a:endParaRPr lang="en-US" sz="19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1480, churches, courts, cities &amp; amateurs cultivated instruments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器樂被記譜保存 — 顯示其地位提升，值得書寫傳播</a:t>
            </a:r>
            <a:endParaRPr lang="en-US" sz="19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music written down — shows it was deemed worthy of preservation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演奏者識譜能力提高，樂器教學書籍大量出版</a:t>
            </a:r>
            <a:endParaRPr lang="en-US" sz="19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Performers more literate; instruction books published in growing numbers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新體裁不再依賴舞蹈或歌唱：variations、ricercar、toccata 等</a:t>
            </a:r>
            <a:endParaRPr lang="en-US" sz="19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genres independent of dance/song: variations, ricercar, toccata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樂器與合奏 Instruments &amp; Ensembles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樂器教學書：Virdung《Musica getutscht》(1511)、Praetorius《Syntagma musicum》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books: Virdung (1511), Praetorius Syntagma musicum (1618-20)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家族樂器 (instrumental families)：同音色從高到低音，統一的音色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Instrumental families: uniform timbre from soprano to bass range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Consort（同族合奏）= 3-7件同族樂器；晚15世紀起流行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 = 3-7 instruments of same family; popular from late 15th c.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高音/低音之分：haut (alta) = 管樂舞會；bas = 室內弦樂/鍵盤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 vs. bas: loud winds for dances; soft strings/keyboards for chambers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主要樂器類別 Major Instrument Categories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管樂 Winds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74320" y="155448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直笛 recorder、橫笛 transverse flute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蕭姆管 shawm、小號 cornett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Sackbut（長號前身）、Crumhorn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74320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弦樂 Strings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200400" y="155448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魯特琴 lute（最流行家用樂器）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Vihuela（西班牙吉他形魯特琴）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 / viola da gamba（腿上弓弦）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小提琴 violin（16世紀初出現）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126480" y="1005840"/>
            <a:ext cx="274320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005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鍵盤 Keyboards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126480" y="155448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管風琴 organ（教堂/正面風琴）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Clavichord（擊弦、可漸強）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Harpsichord（撥弦，較響亮）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virginal / clavecin / clavicembalo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裝飾法與教學書 Embellishment &amp; Treatises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16世紀演奏者被期待即興裝飾旋律（diminutions/divisions）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Performers expected to embellish melodies with diminutions/divisions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Ganassi《Opera intitulata Fontegara》(1535)：直笛裝飾法經典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Ganassi's Fontegara (1535): classic recorder ornamentation manual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Ortiz《Tratado de glosas》(1553)：古提琴裝飾的重要論著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Ortiz's Tratado de glosas (1553): key treatise on viol diminutions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裝飾保留原始旋律輪廓，避免平行五/八度等禁止進行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Ornaments preserve melodic outline; avoid parallel 5ths/octaves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文藝復興器樂的五大類別 Five Categories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502920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9601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舞曲音樂 Dance Music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05840" y="125272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pavane、galliard、allemande、basse danse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1737360"/>
            <a:ext cx="502920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05840" y="1737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聲樂多聲部改編 Arrangements of Vocal Music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05840" y="202996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合奏或獨奏器樂版的經文歌/尚頌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65760" y="2514600"/>
            <a:ext cx="502920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005840" y="25146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既有旋律的設定 Settings of Existing Melodies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005840" y="280720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聖歌管風琴曲、In Nomine 傳統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3291840"/>
            <a:ext cx="502920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291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0584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變奏曲 Variations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05840" y="358444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在主題上的一系列裝飾變化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65760" y="4069080"/>
            <a:ext cx="502920" cy="50292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069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005840" y="4069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抽象器樂 Abstract Instrumental Works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005840" y="43616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ricercar、fantasia、canzona、toccata、sonata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舞曲音樂 Dance Music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文藝復興社交舞極為重要 — 展現優雅、社交能力、健康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dance was vital — displayed grace, social skill, fitness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舞曲常成對出現：慢二拍 + 快三拍（同旋律的變奏）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Dances often paired: slow duple + fast triple (varied from same tune)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Basse danse（低舞）= 15-16世紀初最受歡迎的宮廷舞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Basse danse = most popular courtly dance, 15th-early 16th c.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Pavane（莊嚴二拍）+ Galliard（活潑三拍，含跳躍踢腿）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Pavane (stately duple) + Galliard (lively triple with hops &amp; kicks)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四種文藝復興舞曲 Four Renaissance Dances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8778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828800"/>
                <a:gridCol w="34747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舞曲 Dance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拍子 Meter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曲式 Form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特徵 Character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Basse danse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二/三拍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反覆樂句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莊嚴優雅 Stately, graceful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Pavane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二拍 Duple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AABBCC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滑步莊嚴 Stately, gliding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Galliard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三拍 Triple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AABBCC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活潑跳躍 Lively, hops &amp; kicks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Allemande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二拍 Duple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2-3段反覆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中庸簡潔 Moderate, upbeat start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1005840"/>
            <a:ext cx="8778240" cy="502920"/>
          </a:xfrm>
          <a:prstGeom prst="rect">
            <a:avLst/>
          </a:prstGeom>
          <a:solidFill>
            <a:srgbClr val="C8A020"/>
          </a:solidFill>
          <a:ln/>
        </p:spPr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8778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828800"/>
                <a:gridCol w="34747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舞曲 Dance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拍子 Meter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曲式 Form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b="1" dirty="0">
                          <a:solidFill>
                            <a:srgbClr val="1E2D1E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特徵 Character</a:t>
                      </a:r>
                      <a:endParaRPr lang="en-US" sz="19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Basse danse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二/三拍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反覆樂句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莊嚴優雅 Stately, graceful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Pavane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二拍 Duple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AABBCC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滑步莊嚴 Stately, gliding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Galliard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三拍 Triple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AABBCC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活潑跳躍 Lively, hops &amp; kicks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Allemande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二拍 Duple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2-3段反覆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5F0E0"/>
                          </a:solidFill>
                        </a:rPr>
                        <a:t>中庸簡潔 Moderate, upbeat start</a:t>
                      </a:r>
                      <a:endParaRPr lang="en-US" sz="18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A7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67 · Susato《Danserye》(1551)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Tielman Susato 約1551年在安特衛普出版《Danserye》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Tielman Susato published Danserye in Antwerp, 1551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收錄多對 pavane-galliard 舞曲，含 La dona 等配對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Contains pavane-galliard pairs including La dona (NAWM 66a-b)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 合奏的理想曲目：可用 viols、recorders 等演奏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 consort music: playable on viols, recorders, or other instruments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旋律在最高聲部，織體主要為和聲式（主調音樂）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Melody in top voice; texture mostly homophonic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https://www.youtube.com/watch?v=fMPVMFpONRU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移植改編 Intabulation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Intabulation = 將聲樂作品改編為魯特琴/鍵盤的 tablature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Intabulation = arranging vocal pieces into lute/keyboard tablature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最早的 tablature 記錄：Robertsbridge Codex（約1360年）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Earliest surviving tablature: Robertsbridge Codex (ca. 1360)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由於撥弦樂器無法持續音，改編者需用裝飾音填補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Plucked instruments can't sustain; arrangers fill with ornamental runs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16世紀大量 intabulation 出版，顯示其極高人氣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numbers published in 16th c., testifying to their popularity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68 · Narvaez: Cancion Mille regretz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Luys de Narvaez (fl. 1526-49)：西班牙 vihuela 大師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Luys de Narvaez (fl. 1526-49): Spanish vihuela master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1538年出版《Los seys libros del Delphin》：含最早的變奏曲集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Los seys libros del Delphin (1538): first published variation sets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改編 Josquin 的四聲部《Mille regretz》為 vihuela 版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Intabulation of Josquin's 4-voice Mille regretz for vihuela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保留原作織體，加入 runs、turns、diminutions 增添趣味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Preserves original texture; adds runs, turns &amp; diminutions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https://www.youtube.com/watch?v=8E7zcsal98U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變奏曲 Variations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變奏曲 = 16世紀的發明：在主題上呈現一系列裝飾變化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form = 16th-c. invention: series of embellished variants on a theme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主題可為既有旋律、低音線、和聲進行或新創曲調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can be an existing tune, bass line, harmonic plan, or new melody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最早的書面變奏：Dalza 的 pavane 變奏 (1508, 魯特琴)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Earliest written variations: Dalza's pavane variations (1508, lute tablature)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固定低音 (ostinato) 變奏：passamezzo antico/moderno、romanesca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Ostinato variations: passamezzo antico/moderno, romanesca, Ruggiero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英國維乃琴樂派 English Virginalists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Virginal = 英國小型撥弦鍵盤樂器（harpsichord 家族）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Virginal = small English harpsichord-family keyboard instrument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三大作曲家：William Byrd、John Bull、Orlando Gibbons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masters: William Byrd, John Bull, Orlando Gibbons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《Parthenia》(1613)：最早出版的 virginal 作品集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Parthenia (1613): first published collection of virginal music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英國人偏好旋律變奏（vs. 西班牙/義大利的低音變奏）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preferred melodic variation (vs. Spanish/Italian bass patterns)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69 · Byrd: John come kiss me now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以流行歌曲為主題的 virginal 變奏曲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Virginal variations on a popular song of the time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旋律貫穿每一變奏，多在高音部或中音部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melody present in every variation, mostly in treble or middle voice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每段變奏引入新的動機或節奏型態，漸次加速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variation introduces a new motivic/rhythmic figure, gradually quickening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從四分音符→八分音符→十六分音符，形成節奏高潮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 accelerates: quarter → eighth → sixteenth notes, building rhythmic climax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https://www.youtube.com/watch?v=5C1gfQ3I_8E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前奏曲·幻想曲·利乃爾卡 Prelude, Fantasia, Ricercar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Prelude / Fantasia / Ricercar：不依賴既有旋律的自由即興風格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Prelude / Fantasia / Ricercar: free improvisatory style, no borrowed tune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最早的 ricercar 為魯特琴即興小品；轉入鍵盤後加入模仿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Earliest ricercari: brief lute improvisations; gained imitation on keyboard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1540年後 ricercar 發展為連續模仿主題的「無詞經文歌」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1540, ricercar = successive imitative themes — a textless motet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Milan《El Maestro》(1536)：vihuela fantasia 的代表作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Luis Milan's El Maestro (1536): exemplary vihuela fantasias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70 · A. Gabrieli: Ricercar del 12 tuono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Gabrieli (ca. 1532-1585)：威尼斯聖馬可教堂管風琴師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Gabrieli (ca. 1532-1585): organist at St. Mark's, Venice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此 ricercar 為連續模仿作品，結構如同無詞經文歌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ricercar unfolds as successive imitation — a textless motet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多個主題依次發展，各段以終止式劃分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subjects developed in turn, sections defined by cadences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展現鍵盤上對位法的精湛技巧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mastery of contrapuntal writing for keyboard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https://www.youtube.com/watch?v=Ud0WKFMiZfg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坎佐那與觸技曲 Canzona &amp; Toccata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05840"/>
            <a:ext cx="39319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Canzona 坎佐那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1600200"/>
            <a:ext cx="3931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源自法國 chanson 的器樂改編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Originated from French chanson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輕快、節奏鮮明、對位織體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rhythmic, contrapuntal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典型開頭：長-短-短節奏型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opening: long-short-short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多段對比樂段依次展開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contrasting sections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846320" y="1005840"/>
            <a:ext cx="3931920" cy="457200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0058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Toccata 觸技曲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846320" y="1600200"/>
            <a:ext cx="3931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名稱源自 toccare（「觸摸」）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from Italian toccare ("to touch")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即興風格的鍵盤獨奏曲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Improvisatory-style keyboard solo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展現演奏者的技巧與想像力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Showcases performer's skill &amp; imagination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自由段落與模仿段落交替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passages alternate with imitative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71 · Merulo: Toccata IV (6th Mode)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Merulo (1533-1604)：威尼斯聖馬可教堂管風琴師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Merulo (1533-1604): organist at St. Mark's, Venice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 IV 收錄於1604年第二冊觸技曲集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Toccata IV from his second book of toccatas (1604)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結構：自由和弦開頭 → 模仿中段 → 華麗自由尾聲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Structure: free chordal opening → imitative middle → brilliant free closing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利用管風琴持續音的能力：延留音、不協和音、音階跑動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Exploits organ's sustaining power: suspensions, dissonances, scale runs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search "Merulo Toccata quarta"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威尼斯與聖馬可教堂 Venice &amp; St. Mark's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威尼斯 = 僅次於羅馬的義大利第二大城，貿易帝國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Venice = second most important Italian city after Rome; trading empire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政府大量投資公共音樂活動作為文化宣傳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invested lavishly in public music as cultural propaganda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聖馬可大教堂：拜占庭風格，義大利最令人嚮往的音樂職位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Mark's: Byzantine-style basilica, most coveted musical post in Italy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1568年起建立常設器樂團：cornett、sackbut、violin、dulcian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instrumental ensemble from 1568: cornetts, sackbuts, violins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Gabrieli 家族 The Gabrielis at St. Mark's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05840"/>
            <a:ext cx="3931920" cy="59436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0584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Andrea Gabrieli</a:t>
            </a:r>
            <a:endParaRPr lang="en-US" sz="18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(ca. 1532–1585)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1737360"/>
            <a:ext cx="393192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聖馬可教堂管風琴師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Organist at St. Mark's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大量多合唱團作品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Numerous polychoral works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Ricercar、canzona、toccata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organ genres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D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G. Gabrieli (1555–1612)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46320" y="1783080"/>
            <a:ext cx="3931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的姪子，接任管風琴師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Andrea's nephew; succeeded him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 經文歌、37 合奏坎佐那、7 奏鳴曲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~100 motets, 37 canzonas, 7 sonatas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首創指定樂器、標示力度記號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 specify instruments &amp; dynamics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多合唱團音樂 Polychoral Music (Cori spezzati)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Cori spezzati = 分離合唱團：2-5組合唱團分置教堂不同位置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Cori spezzati = divided choirs: 2-5 groups placed in different locations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Willaert 1550年出版雙合唱團詩篇集，引領風潮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Willaert published double-choir psalms in 1550, sparking the fashion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Gabrieli 將其發展為大型慶典的常規形式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Gabrieli developed it as standard for grand ceremonies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Gabrieli 混合高低聲部與不同音色的樂器群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mixed high/low voices with diverse instrumental timbres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72 · G. Gabrieli: Sonata pian' e forte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收錄於《Sacrae symphoniae》(1597)：音樂史上的里程碑</a:t>
            </a:r>
            <a:endParaRPr lang="en-US" sz="1800" dirty="0"/>
          </a:p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Sacrae symphoniae (1597): a landmark in music history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最早指定樂器的合奏曲之一：第一組 cornett + 3 sackbut，第二組 violin + 3 sackbut</a:t>
            </a:r>
            <a:endParaRPr lang="en-US" sz="1800" dirty="0"/>
          </a:p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first to specify instruments: Choir 1 cornett + 3 sackbuts; Choir 2 violin + 3 sackbuts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最早標示力度 pian (弱) 與 forte (強) 的作品之一</a:t>
            </a:r>
            <a:endParaRPr lang="en-US" sz="1800" dirty="0"/>
          </a:p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first to mark dynamics: pian (soft) &amp; forte (loud)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兩組對話、對比、合奏 — 純器樂作品的深度與多樣性</a:t>
            </a:r>
            <a:endParaRPr lang="en-US" sz="1800" dirty="0"/>
          </a:p>
          <a:p>
            <a:pPr marL="342900" indent="-342900">
              <a:lnSpc>
                <a:spcPts val="2200"/>
              </a:lnSpc>
              <a:buSzPct val="100000"/>
              <a:buChar char="◆"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groups dialogue, contrast &amp; join — depth &amp; variety in pure instrumental music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https://www.youtube.com/watch?v=U_FMsBmtI7g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73 · G. Gabrieli: In ecclesiis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壯麗的多合唱團經文歌（聲樂 + 器樂 + 管風琴）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polychoral motet: voices + instruments + organ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獨唱、合唱、器樂群交替與合奏，展現威尼斯音響的極致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Soloists, choir &amp; instruments alternate and combine — Venetian splendor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Alleluia 副歌貫穿全曲，形成統一結構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Alleluia refrain runs throughout, creating structural unity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代表文藝復興晚期到巴洛克早期的過渡風格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Represents the transitional style from late Renaissance to early Baroque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https://www.youtube.com/watch?v=Xsuz4p3PdkM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年表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601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ca.1480s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920240" y="960120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Martini《La Martinella》— 最早廣泛流傳的器樂作品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1316736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920240" y="1316736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出版《Odhecaton》— 首部活字印刷音樂集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760" y="1673352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1507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920240" y="1673352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Petrucci 首部魯特琴 tablature 出版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2029968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1511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920240" y="2029968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Virdung《Musica getutscht》— 首部樂器教學書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5760" y="2386584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1535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920240" y="2386584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Ganassi《Fontegara》— 直笛裝飾法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5760" y="274320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1538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920240" y="2743200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Narvaez《Los seys libros del Delphin》— 含首部變奏曲集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3099816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1551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920240" y="3099816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Susato《Danserye》— 安特衛普舞曲集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65760" y="3456432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1585-1612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920240" y="3456432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Gabrieli 任職聖馬可教堂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65760" y="3813048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1597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920240" y="3813048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Gabrieli《Sacrae symphoniae》含 Sonata pian' e forte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65760" y="4169664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920240" y="4169664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Merulo 觸技曲第二冊出版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65760" y="452628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1613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920240" y="4526280"/>
            <a:ext cx="6858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《Parthenia》— 首部維乃琴作品集出版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A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重要術語 Key Terms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14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Consort 同族合奏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566160" y="9144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同一樂器家族的合奏組合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130759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Diminutions 裝飾音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566160" y="130759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將長音符分割為短裝飾音群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760" y="1700784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Intabulation 移植改編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66160" y="170078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聲樂作品改編為樂器 tablature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" y="2093976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Variations 變奏曲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566160" y="2093976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在主題上的一系列裝飾變化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5760" y="248716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Ricercar 利乃爾卡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566160" y="248716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連續模仿主題的器樂曲（無詞經文歌）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5760" y="28803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Canzona 坎佐那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66160" y="28803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源自 chanson 的對位器樂曲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Toccata 觸技曲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566160" y="327355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即興風格的鍵盤獨奏炫技曲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65760" y="3666744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Sonata 奏鳴曲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566160" y="3666744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「被奏出的」— canzona 的近親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65760" y="4059936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Cori spezzati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566160" y="4059936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分離合唱團（威尼斯多合唱團風格）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65760" y="445312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A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Ostinato 固定低音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566160" y="445312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不斷反覆的低音型態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D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聆聽指南 NAWM Listening Guide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D4A02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11887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67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91640" y="9601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Susato: Pavane &amp; Galliard (Danserye)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91640" y="1197864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youtube.com/watch?v=fMPVMFpONRU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1508760"/>
            <a:ext cx="11887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5087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68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91640" y="150876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Narvaez: Cancion Mille regretz (vihuela)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91640" y="1746504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youtube.com/watch?v=8E7zcsal98U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65760" y="2057400"/>
            <a:ext cx="11887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05740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69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91640" y="205740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Byrd: John come kiss me now (virginal)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91640" y="2295144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youtube.com/watch?v=5C1gfQ3I_8E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2606040"/>
            <a:ext cx="11887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60604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70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91640" y="26060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Gabrieli: Ricercar del 12 tuono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1640" y="2843784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youtube.com/watch?v=Ud0WKFMiZfg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65760" y="3154680"/>
            <a:ext cx="11887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1546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691640" y="315468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Merulo: Toccata IV (6th Mode)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691640" y="3392424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Merulo Toccata quarta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365760" y="3703320"/>
            <a:ext cx="11887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370332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72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691640" y="370332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Gabrieli: Sonata pian' e forte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691640" y="3941064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youtube.com/watch?v=U_FMsBmtI7g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365760" y="4251960"/>
            <a:ext cx="1188720" cy="4572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42519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73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691640" y="425196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Gabrieli: In ecclesiis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691640" y="4489704"/>
            <a:ext cx="7040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youtube.com/watch?v=Xsuz4p3PdkM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2A5A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5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器樂的獨立 Instrumental Music Gains Independence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365760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16世紀器樂逐漸脫離舞蹈與聲樂，成為獨立藝術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Instrumental music gradually freed from dance/voice, becoming an art in itself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作曲家開始指定樂器與力度 — 書寫音樂的精確度提升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Composers began specifying instruments &amp; dynamics — precision in written music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Gabrieli 的作品證明純器樂可與聲樂媲美深度與表現力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Gabrieli proved purely instrumental works could rival vocal music in depth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為巴洛克時期奏鳴曲、協奏曲、交響曲奠定基礎</a:t>
            </a:r>
            <a:endParaRPr lang="en-US" sz="18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800" dirty="0">
                <a:solidFill>
                  <a:srgbClr val="1E2D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Laid foundations for Baroque sonatas, concertos &amp; symphonies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12: The Rise of Instrumental Music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2026-04-17T16:02:59Z</dcterms:created>
  <dcterms:modified xsi:type="dcterms:W3CDTF">2026-04-17T16:02:59Z</dcterms:modified>
</cp:coreProperties>
</file>