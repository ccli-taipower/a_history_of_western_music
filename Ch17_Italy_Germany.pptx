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O_XLw6WOgP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VpFPt2lXCU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RCMYgWcwX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5DW5GnCFCF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M62Dr5Lmm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 · 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17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ITALY AND GERMANY IN THE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 SEVENTEENTH CENTURY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十七世紀晚期的義大利與德國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Scarlatti · Corelli · Torelli · Buxtehude · Stradivari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378–401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義大利歌劇：情感論、詠嘆調發展、Da Capo Aria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Opera: affections, aria development, da capo form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066544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聲樂室內樂：清唱劇 Cantata — Scarlatti, Strozzi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96896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器樂：奏鳴曲 Sonata (chiesa vs. camera) — Corelli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3127248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協奏曲：concerto grosso · solo concerto — Torelli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052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德國音樂生活：宮廷、教會、Collegium musicum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4187952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德國聖樂與管風琴音樂：Buxtehude · Toccata · Fugue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義大利歌劇：情感論與詠嘆調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 Opera: The Affections &amp; Aria Development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1660s 受 Descartes 影響 — 情感 (passions) 是穩定、客觀的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情緒狀態，可透過音樂激發聽者的特定情感反應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詠嘆調取代宣敘調成為歌劇的情感核心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觀眾愛聽優美獨唱旋律，明星歌手吸引觀眾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詠嘆調數量從 1640 年約 24 首增至 1670s 約 60 首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常見形式：分節歌、固定低音、ABB'/ABA/ABACA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到世紀末 Da Capo Aria (ABA) 成為主導形式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段對比調性，A 段重複時歌手加入裝飾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Sartorio《乘著凱撒》NAWM 93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Antonio Sartorio: Giulio Cesare in Egitto (1676)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 Teatro San Salvatore 上演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以歌劇作為情感衝擊的劇場手段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首位在詠嘆調中使用小號的作曲家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首詠嘆調中含 4 首小號詠嘆調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宣敘調：功能性的，和弦反覆、頻繁離調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93a — 推動劇情的「乾宣敘調」風格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多首 Da Capo Aria (NAWM 93b) 及分節形式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ABA 與 strophic，展現形式靈活性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https://www.youtube.com/watch?v=O_XLw6WOgPo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Capo Aria 返始詠嘆調結構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Forms at a Glance (p. 376)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15568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80160"/>
            <a:ext cx="3931920" cy="25603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Section 段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82880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(器樂前奏) → I 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聲樂陳述 → 離調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→ 新調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聲樂陳述 → 回歸主調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→ I 調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846320" y="1280160"/>
            <a:ext cx="3931920" cy="11887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Section 段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對比調性 · 第二節詩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通常無 Ritornello · 較短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846320" y="2651760"/>
            <a:ext cx="3931920" cy="118872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Repeats 返始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029200" y="3200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 A 段 · 歌手加入裝飾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展現聲樂技巧與即興能力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整體形式：A — B — A（Da Capo = 從頭再來）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義大利清唱劇 Italian Cantata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Vocal Chamber Music — 聲樂室內樂的精緻藝術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室內清唱劇：為小型知識菁英聚會而作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無舞台、無佈景 — 講究精緻、機智與暗語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1690s 標準格式：2-3 對宣敘調+詠嘆調交替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 + 通奏低音，8-15 分鐘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文本：田園愛情詩 — 牧羊人的苦戀與甜蜜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代表作曲家：Barbara Strozzi (NAWM 77)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Scarlatti — 超過 600 首清唱劇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Scarlatti 的清唱劇與歌劇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94 Clori vezzosa · NAWM 95 La Griselda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25880"/>
            <a:ext cx="4114800" cy="274320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94 · Clori vezzosa, e bella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獨唱清唱劇 ca. 1690-1710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牧羊人向仙女表白熱戀之情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宣敘調：寬廣音域、半音進行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減七和弦表達「痛苦的折磨」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詠嘆調 Si, si ben mio：Da Capo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吉格舞曲節奏的 Ritornello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114800" cy="274320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95 · La Griselda (1720-21)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37760" y="1874520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Scarlatti 最後一部歌劇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 voler ciò che tu brami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段展現 Griselda 的尊嚴與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溫柔 — 兩段聲樂陳述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 段：堅定的愛——永不停止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更豐富的調性對比與管弦色彩</a:t>
            </a:r>
            <a:endParaRPr lang="en-US" sz="19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95: https://www.youtube.com/watch?v=BVpFPt2lXCU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義大利教會音樂與神劇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Music &amp; Oratorio in the Late 17th Century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延續 Palestrina 式對位法，同時加入通奏低音新風格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Cazzati 在 Bologna San Petronio 教堂 (1657-71)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同一作品可混合舊式對位與新式協奏風格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 a cappella (1670) vs. 華麗的 Magnificat a 4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Petronio 也是器樂重鎮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Cazzati 出版含小號的奏鳴曲集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神劇：四旬期替代歌劇 · 義大利文 · 分兩部分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在王公貴族宮殿與學院上演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奏鳴曲類型 Sonata Types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chiesa vs. Sonata da camera (ca. 1660)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25880"/>
            <a:ext cx="41148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chiesa 教堂奏鳴曲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抽象樂章 · 無舞曲標題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常含舞曲節奏或二段式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可在教堂禮儀中使用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(替代 Mass Proper 或晚禱)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也可在私人音樂會演出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1148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417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da camera 室內奏鳴曲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92024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一系列風格化舞曲樂章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通常以前奏曲開始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舞曲標題：allemande,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courante, sarabande, gigue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娛樂用途，私人場合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" y="4480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73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1670 後最常見編制：兩把高音樂器 + 通奏低音 = Trio Sonata 三重奏鳴曲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Arcangelo Corelli (1653-1713)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柯瑞里 — 巴洛克器樂之父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 Fusignano · Bologna 學琴 · 1675 定居羅馬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小提琴家、教師、樂團指揮，深受貴族贊助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不寫聲樂——幾乎全是器樂：三重奏鳴曲、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獨奏奏鳴曲、大協奏曲 · 6 部作品集 (Op.1-6)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影響深遠：Handel · Bach · Telemann · Couperin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被稱為「首位聲譽完全建立在器樂上的大作曲家」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確立了形式、風格與和聲語言的標準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奠定 18 世紀初器樂音樂的國際語言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三重奏鳴曲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Trio Sonatas: Op. 1-4 · 48 Works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教堂奏鳴曲 (Op.1, 3)：四樂章 慢-快-慢-快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抒情對話勝過炫技 · 兩把小提琴常交叉與交換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bass 行進低音 · 掛留音鏈 · 自由模仿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兩把小提琴如對話般向上攀升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室內奏鳴曲 (Op.2, 4)：前奏曲 + 舞曲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首兩樂章常似教堂奏鳴曲 · 舞曲為二段式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每個樂章基於一個主題展開，環環相扣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各樂章以同一動機的變體開始 (Op.3 No.2)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96 Corelli Trio Sonata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Op. 3, No. 2 in D Major — 教堂奏鳴曲分析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Grave：對位織體 · 莊嚴肅穆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掛留音鏈 · 行進低音 · 小提琴自由模仿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Allegro：快板 · 模仿主題 · 低音全程參與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canzona 元素 · 教堂奏鳴曲的重心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慢板：如歌式 · 三拍子 · 關係小調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弗里吉亞終止 · 適合即興裝飾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Allegro 終曲：模仿式吉格 · 二段式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主題反轉 · 對位手法如第二樂章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https://www.youtube.com/watch?v=iRCMYgWcwXM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獨奏奏鳴曲 Solo Sonatas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Op. 5 (1700) — 12 Violin Sonatas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1700 年後獨奏奏鳴曲人氣超越三重奏鳴曲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允許更多炫技：雙音、三和弦、快速跑句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快樂章中模擬三重奏鳴曲的三聲部織體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賦格手法、永動式樂句、華彩段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慢樂章記譜簡潔，實際演奏大量裝飾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1710 年 Roger 出版裝飾版本 (Fig. 17.6)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義大利式裝飾風格 — 不同於法式 agrements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根源在 16 世紀義大利即興傳統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的調性語言與影響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Tonal Organization &amp; Legacy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Rameau 以 Corelli 的音樂作為描述調性系統的基礎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五度圈進行 · 掛留音鏈推動和聲向前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幾乎全為自然音階 · 偶用減七或拿坡里六和弦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轉調至屬調或關係調 — 邏輯而清晰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每個樂章統一於單一調性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或同調、或大調奏鳴曲第二慢板用關係小調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Vivaldi · Handel · Bach · Telemann 延續其技法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Frescobaldi 並列首批純器樂經典的創造者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協奏曲的誕生 The Concerto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Types by ca. 1700 · 三種協奏曲類型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Orchestral Concerto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管弦協奏曲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強調第一小提琴與低音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的對比 · 區別於奏鳴曲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的對位織體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Concerto Grosso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大協奏曲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47472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Concertino (小組獨奏)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Ripieno (大樂團)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如擴充版三重奏鳴曲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26480" y="1371600"/>
            <a:ext cx="2743200" cy="2926080"/>
          </a:xfrm>
          <a:prstGeom prst="rect">
            <a:avLst/>
          </a:prstGeom>
          <a:solidFill>
            <a:srgbClr val="2A1E14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4630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 Concerto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獨奏協奏曲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0" y="2331720"/>
            <a:ext cx="2194560" cy="27432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24688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一位獨奏者 vs. 弦樂團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最常見、最重要的類型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/ Ripieno = 全奏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Corelli 大協奏曲 Op. 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Concerti Grossi — 1680s 作曲，1714 出版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羅馬樂團以 concertino (小組) vs. ripieno (大組) 為基礎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Corelli 經常指揮 40 人以上的「臨時」大樂團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本質上是三重奏鳴曲的擴充版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大組呼應小組 · 強化終止 · 加厚音響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 Muffat 描述如何將奏鳴曲改為協奏曲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人演奏 → 4-5 人 → 加 ripieno 成完整協奏曲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Corelli 的手法被 Italy · England · Germany 廣泛模仿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Torelli 與 Ritornello 形式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Giuseppe Torelli (1658-1709) · NAWM 97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Bologna 學派領袖 · 作三種類型協奏曲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Op. 5 (1692) 首批出版協奏曲 · Op. 8 (1709)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三樂章格式：快-慢-快（源自義大利歌劇序曲）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Albinoni Op. 2 (1700) 確立此標準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快樂章常用 Ritornello Form 反覆段形式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結構類似 Da Capo Aria 的 A 段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(全奏) 框住兩段獨奏段落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獨奏展現全新材料 · 轉調至近關係調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回歸帶來穩定感與終止感</a:t>
            </a:r>
            <a:endParaRPr lang="en-US" sz="19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https://www.youtube.com/watch?v=5DW5GnCFCFo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A2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義大利風格總結 The Italian Style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世紀後三分之一 · 共同特徵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音樂悅耳、情感豐富、展現演奏者魅力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從抒情歌唱到炫技華彩的多樣旋律風格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獨奏者的突出地位 — 從世紀初延續至今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詠嘆調、獨奏奏鳴曲、協奏曲皆強調個人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調性 (tonality) 成為強大的組織力量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建立主調→離調→回歸主調的基本模式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 (再現) 原則 — 回歸開頭材料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成為此後兩個世紀的基本形式原則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德國與奧地利的音樂生活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&amp; Austria: Courts, Cities, Churches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1648 三十年戰爭結束 — 德國分裂為約 300 個政治單位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小邦林立 · 城市較小 · 但音樂卻蓬勃發展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宮廷：仿效 Louis XIV 以藝術彰顯權威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聘請歌手、器樂家、作曲家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城市：Stadtpfeifer (市鎮吹奏手) 負責公共音樂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教會音樂家由市議會任命 · 路德教會贊助音樂會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業餘音樂：Collegium musicum 中產階級音樂社團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學校與大學也組織 · 18 世紀發展為公開音樂會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德國歌劇與歌曲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 Opera, Song &amp; Cantata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義大利歌劇主導宮廷 — Pallavicino (Dresden)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Steffani (Munich, Hanover) 等義大利人活躍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 Hamburg 首家德語公共歌劇院開幕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商業運營 · 面向中產 · 早期取材聖經題材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德語歌劇折衷混合：Da Capo Aria + 法式風格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下層角色用分節歌 · Reinhard Keiser 寫 60 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Krieger (1634-1666)：最重要歌曲作曲家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分節式旋律配管弦 ritornello · 清唱劇亦然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德國教會音樂 Sacred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Catholic South · Lutheran North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天主教南部 (Munich · Salzburg · Vienna)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皇帝支持 · 複合唱 · 管弦前奏 · Biber Missa (1682)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路德教會：正統派 vs. 敬虔派的衝突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正統派擁護豐富禮儀音樂 · 敬虔派偏好簡樸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路德宗三大元素：協奏聲樂(聖經) + 獨唱詠嘆調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(義大利風格) + 聖詠 Chorale (德國傳統)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 的 Wachet auf：聖詠變奏曲範例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每段旋律重新改編 · 各段風格各異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Dieterich Buxtehude (ca. 1637-1707)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布克斯特胡德 — 北德管風琴大師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Lubeck St. Mary's Church 管風琴師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以管風琴曲與聖樂著稱 — 約 120 首聖樂作品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Abendmusiken 晚間音樂會：聖誕前五個週日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免費公開 · 吸引全德音樂家 · 巴赫步行百哩聆聽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管風琴作品：約 40 首聖詠編曲 · 22 首前奏/觸技曲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首大鍵琴組曲 · 20 首室內奏鳴曲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對年輕 J.S. Bach (1705) 產生深遠影響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1705 年巴赫從 Arnstadt 步行至 Lubeck 聆聽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路德教會管風琴音樂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Toccata, Fugue &amp; Chorale Settings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1650-1750 管風琴音樂的黃金時代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北方：Buxtehude · Bohm · 中部：J.C. Bach · Pachelbel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觸技曲：自由段落 vs. 賦格段落交替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 Praeludium in E 含 5 個自由段 + 4 個賦格段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Fugue 賦格：獨立作品或觸技曲的一部分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 (subject) → 答題 (answer) → 插句 (episode)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管風琴建造藝術：Schnitger · Silbermann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Hauptwerk · Ruckpositiv · Brustwerk · 腳鍵盤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聖詠編曲 Chorale Settings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 Chorales · Chorale Preludes · Chorale Variations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Chorale：以和聲與對位豐富聖詠旋律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Variations (partita) / Chorale Fantasia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Prelude 聖詠前奏曲：完整旋律出現一次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四種手法：各段模仿 / 長音定旋律 / 裝飾旋律 / 動機伴奏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Buxtehude: Nun komm, der Heiden Heiland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旋律加裝飾音 · 短顫音 · 鄰音 · 義大利式華彩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德國作曲家融合法/義/德三國風格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 18 世紀 Bach 的輝煌管風琴音樂奠基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德國其他器樂 Other Instrumental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Violin Sonatas · Keyboard Sonatas · Suites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小提琴奏鳴曲：Biber Mystery Sonatas (ca.1675)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特殊定弦 (scordatura) · Walther Scherzi (1676)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鍵盤奏鳴曲：Kuhnau Frische Clavier Fruchte (1696)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首批鍵盤奏鳴曲 · Biblical Sonatas (1700) 標題音樂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大鍵琴組曲：Froberger 傳入法式風格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Allemande-Courante-Sarabande-Gigue 成標準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管弦組曲 (Orchestral Suite)：1690-1740 德國時尚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Muffat Florilegium (1695, 1698) 引入 Lully 風格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A2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Stradivari 與製琴藝術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Context: The Stradivarius Violin Workshop (p.378)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170432"/>
            <a:ext cx="6400800" cy="32004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Cremona 製琴家族：Amati · Stradivari · Guarneri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17-18 世紀義大利小提琴製作達到巔峰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Antonio Stradivari (ca.1644-1737)：超過 1100 件樂器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含豎琴、吉他、中提琴、大提琴 · 約半數存世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1810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選材精良 · 弧度精準 · F孔優雅 · 橙棕色亮漆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漆的秘密至今未解 — 科學家無法測出特殊成分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1421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現代小提琴已改裝：指板加長、琴橋升高、琴弦改鋼</a:t>
            </a:r>
            <a:endParaRPr lang="en-US" sz="19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極少數 Strad 保留原始 17 世紀形態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大事年表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749808"/>
            <a:ext cx="6400800" cy="32004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1647  Cruger, Praxis pietatis melica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4447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1648  三十年戰爭結束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" y="197510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1668  Buxtehude 任職 Lubeck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" y="25054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1675  Biber, Mystery Sonatas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303580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1676  Sartorio, Giulio Cesare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4320" y="35661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  Hamburg 歌劇院開幕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" y="4096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1681  Corelli Op.1 出版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1682  Biber, Missa salisburgensis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14447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1689  Corelli Op.3 出版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54880" y="197510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1692  Torelli 首批協奏曲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54880" y="250545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1696  Kuhnau 鍵盤奏鳴曲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303580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1700  Corelli Op.5 (12 Violin Sonatas)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5661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1705  Bach 聆聽 Buxtehude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4096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1720  Scarlatti, La Griselda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關鍵術語與聆聽指南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052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Listening Guide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8412480" cy="32004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80160"/>
            <a:ext cx="4114800" cy="329184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關鍵術語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Capo Aria 返始詠嘆調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da chiesa / da camera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Trio Sonata 三重奏鳴曲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 Grosso 大協奏曲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Form 反覆段形式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Collegium musicum 音樂社團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 / Fugue 賦格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Chorale Prelude 聖詠前奏曲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Bass 行進低音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4114800" cy="329184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Listening 聆聽作業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8288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93 Sartorio, Giulio Cesare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2860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94 Scarlatti, Clori vezzosa</a:t>
            </a:r>
            <a:endParaRPr lang="en-US" sz="18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4937760" y="27432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95 Scarlatti, La Griselda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3200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96 Corelli, Trio Sonata Op.3/2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36576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1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97 Torelli, Concerto Op.8/8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17: Italy and Germany in the Late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