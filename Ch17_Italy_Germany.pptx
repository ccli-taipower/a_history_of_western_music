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15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C8A03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01768"/>
            <a:ext cx="9144000" cy="141732"/>
          </a:xfrm>
          <a:prstGeom prst="rect">
            <a:avLst/>
          </a:prstGeom>
          <a:solidFill>
            <a:srgbClr val="C8A03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114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spc="300" kern="0" dirty="0">
                <a:solidFill>
                  <a:srgbClr val="E8D8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HISTORY OF WESTERN MUSIC · TENTH EDITION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8229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spc="600" kern="0" dirty="0">
                <a:solidFill>
                  <a:srgbClr val="C8A0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CHAPTER 17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274320" y="1371600"/>
            <a:ext cx="85953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5F0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ITALY AND GERMANY IN</a:t>
            </a:r>
            <a:endParaRPr lang="en-US" sz="3000" dirty="0"/>
          </a:p>
          <a:p>
            <a:pPr algn="ctr" indent="0" marL="0">
              <a:buNone/>
            </a:pPr>
            <a:r>
              <a:rPr lang="en-US" sz="3000" b="1" dirty="0">
                <a:solidFill>
                  <a:srgbClr val="F5F0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LATE SEVENTEENTH CENTURY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2286000" y="3337560"/>
            <a:ext cx="4572000" cy="36576"/>
          </a:xfrm>
          <a:prstGeom prst="rect">
            <a:avLst/>
          </a:prstGeom>
          <a:solidFill>
            <a:srgbClr val="C8A030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347472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8D8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 Capo Aria · Scarlatti · Corelli · Concerto · Buxtehude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4389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8A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Textbook pp. 371–399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0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6A3A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6A3A1A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8288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6A3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本章概覽 Chapter Overview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749808"/>
            <a:ext cx="8412480" cy="27432"/>
          </a:xfrm>
          <a:prstGeom prst="rect">
            <a:avLst/>
          </a:prstGeom>
          <a:solidFill>
            <a:srgbClr val="E8D8A8"/>
          </a:solidFill>
          <a:ln/>
        </p:spPr>
      </p:sp>
      <p:sp>
        <p:nvSpPr>
          <p:cNvPr id="6" name="Shape 4"/>
          <p:cNvSpPr/>
          <p:nvPr/>
        </p:nvSpPr>
        <p:spPr>
          <a:xfrm>
            <a:off x="411480" y="914400"/>
            <a:ext cx="8321040" cy="566928"/>
          </a:xfrm>
          <a:prstGeom prst="rect">
            <a:avLst/>
          </a:prstGeom>
          <a:solidFill>
            <a:srgbClr val="E8E0D0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914400"/>
            <a:ext cx="457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🎭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005840" y="914400"/>
            <a:ext cx="2377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A3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Italian Opera 義大利歌劇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474720" y="914400"/>
            <a:ext cx="5166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15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capo aria · Sartorio · Giulio Cesare in Egitto (NAWM 93)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11480" y="1572768"/>
            <a:ext cx="8321040" cy="566928"/>
          </a:xfrm>
          <a:prstGeom prst="rect">
            <a:avLst/>
          </a:prstGeom>
          <a:solidFill>
            <a:srgbClr val="DED6C6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1572768"/>
            <a:ext cx="457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🎤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005840" y="1572768"/>
            <a:ext cx="2377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A3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Vocal Chamber Music 聲樂室內樂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474720" y="1572768"/>
            <a:ext cx="5166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15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Cantata · Scarlatti · Clori vezzosa (NAWM 94) · serenata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11480" y="2231136"/>
            <a:ext cx="8321040" cy="566928"/>
          </a:xfrm>
          <a:prstGeom prst="rect">
            <a:avLst/>
          </a:prstGeom>
          <a:solidFill>
            <a:srgbClr val="E8E0D0"/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" y="2231136"/>
            <a:ext cx="457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🎻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005840" y="2231136"/>
            <a:ext cx="2377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A3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Sonata 奏鳴曲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474720" y="2231136"/>
            <a:ext cx="5166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15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Trio sonata · solo sonata · Corelli Op. 3 (NAWM 96) · 調性建立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11480" y="2889504"/>
            <a:ext cx="8321040" cy="566928"/>
          </a:xfrm>
          <a:prstGeom prst="rect">
            <a:avLst/>
          </a:prstGeom>
          <a:solidFill>
            <a:srgbClr val="DED6C6"/>
          </a:solidFill>
          <a:ln/>
        </p:spPr>
      </p:sp>
      <p:sp>
        <p:nvSpPr>
          <p:cNvPr id="19" name="Text 17"/>
          <p:cNvSpPr/>
          <p:nvPr/>
        </p:nvSpPr>
        <p:spPr>
          <a:xfrm>
            <a:off x="502920" y="2889504"/>
            <a:ext cx="457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🎺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005840" y="2889504"/>
            <a:ext cx="2377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A3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Concerto 協奏曲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474720" y="2889504"/>
            <a:ext cx="5166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15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Concerto grosso · orchestral concerto · Torelli · ritornello form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11480" y="3547872"/>
            <a:ext cx="8321040" cy="566928"/>
          </a:xfrm>
          <a:prstGeom prst="rect">
            <a:avLst/>
          </a:prstGeom>
          <a:solidFill>
            <a:srgbClr val="E8E0D0"/>
          </a:solidFill>
          <a:ln/>
        </p:spPr>
      </p:sp>
      <p:sp>
        <p:nvSpPr>
          <p:cNvPr id="23" name="Text 21"/>
          <p:cNvSpPr/>
          <p:nvPr/>
        </p:nvSpPr>
        <p:spPr>
          <a:xfrm>
            <a:off x="502920" y="3547872"/>
            <a:ext cx="457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⛪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1005840" y="3547872"/>
            <a:ext cx="2377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A3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Germany: Sacred Music 德國宗教音樂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0" y="3547872"/>
            <a:ext cx="5166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15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Buxtehude · chorale concerto · 正統 vs 敬虔主義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11480" y="4206240"/>
            <a:ext cx="8321040" cy="566928"/>
          </a:xfrm>
          <a:prstGeom prst="rect">
            <a:avLst/>
          </a:prstGeom>
          <a:solidFill>
            <a:srgbClr val="DED6C6"/>
          </a:solidFill>
          <a:ln/>
        </p:spPr>
      </p:sp>
      <p:sp>
        <p:nvSpPr>
          <p:cNvPr id="27" name="Text 25"/>
          <p:cNvSpPr/>
          <p:nvPr/>
        </p:nvSpPr>
        <p:spPr>
          <a:xfrm>
            <a:off x="502920" y="4206240"/>
            <a:ext cx="457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🎹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1005840" y="4206240"/>
            <a:ext cx="2377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A3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Germany: Organ &amp; Keyboard 德國管風琴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3474720" y="4206240"/>
            <a:ext cx="5166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15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Toccata · fugue · chorale prelude · Pachelbel · Biber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15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C8A03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C8A030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8288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8A0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🎭 義大利歌劇與返始詠嘆調 Italian Opera &amp; Da Capo Aria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65760" y="713232"/>
            <a:ext cx="8412480" cy="22860"/>
          </a:xfrm>
          <a:prstGeom prst="rect">
            <a:avLst/>
          </a:prstGeom>
          <a:solidFill>
            <a:srgbClr val="B87333"/>
          </a:solidFill>
          <a:ln/>
        </p:spPr>
      </p:sp>
      <p:sp>
        <p:nvSpPr>
          <p:cNvPr id="6" name="Shape 4"/>
          <p:cNvSpPr/>
          <p:nvPr/>
        </p:nvSpPr>
        <p:spPr>
          <a:xfrm>
            <a:off x="274320" y="914400"/>
            <a:ext cx="4160520" cy="3931920"/>
          </a:xfrm>
          <a:prstGeom prst="rect">
            <a:avLst/>
          </a:prstGeom>
          <a:solidFill>
            <a:srgbClr val="2A2018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987552"/>
            <a:ext cx="3977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8A0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Opera in the Late 1600s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1325880"/>
            <a:ext cx="393192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情感觀的轉變 New View of the Affections：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Descartes 影響：情感 = 客觀、穩定的心理狀態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非個人化 → 可被音樂精確捕捉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宣敘調 / 詠嘆調分工更清晰：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宣敘調推動劇情（多為功能性 secco）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詠嘆調表達情感（抒情高潮）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Aria 的發展：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1640 ca. 24首 → 1670s ca. 60首 / 歌劇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常見形式：strophic · ground bass · ABA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ABB' · ABACA · rondo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Da Capo Aria 返始詠嘆調成為主流：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ABA 形式：B 段末標 "Da capo"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返回 A 段時加入新裝飾 → 展現歌藝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18世紀歌劇與清唱劇的標準形式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Capo 的結構特徵：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A: Rit → A1 (I→V) → Rit → A2 (V→I) → Rit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B: 對比調性 / 情感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A: 重複（加裝飾）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4663440" y="914400"/>
            <a:ext cx="4206240" cy="3931920"/>
          </a:xfrm>
          <a:prstGeom prst="rect">
            <a:avLst/>
          </a:prstGeom>
          <a:solidFill>
            <a:srgbClr val="2A2018"/>
          </a:solidFill>
          <a:ln/>
        </p:spPr>
      </p:sp>
      <p:sp>
        <p:nvSpPr>
          <p:cNvPr id="10" name="Text 8"/>
          <p:cNvSpPr/>
          <p:nvPr/>
        </p:nvSpPr>
        <p:spPr>
          <a:xfrm>
            <a:off x="4754880" y="987552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A0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Sartorio: Giulio Cesare (1676 · NAWM 93)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800600" y="1325880"/>
            <a:ext cx="393192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Antonio Sartorio (1630–1680)：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威尼斯 Teatro San Salvatore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歌劇 = 情感震撼的戲劇娛樂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首位在詠嘆調中使用小號的作曲家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Giulio Cesare in Egitto Act II, Sc. 3–4：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Cleopatra 偽裝為 Lidia 向 Cesare 求愛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(93a) Recitative — 功能性：和弦式、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主要用重複音與常見和弦推動劇情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(93b) Se qualcuna mi bramasse — Nireno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Da capo aria (ABB'A)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(93c) Son prigioniero — Cesare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ABA 形式 + 詩節內 ABA 嵌套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(93d) Alla carcere d'un crine — Cleopatra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台下歌唱 → Cesare 被音樂迷惑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三段式：每段前後都有宣敘調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營造「偷聽」的戲劇效果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(93e) Alla carcere — Cesare 回應版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15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C8A03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C8A030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8288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8A0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🎤 A. Scarlatti 與清唱劇 Scarlatti &amp; the Cantata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713232"/>
            <a:ext cx="8412480" cy="22860"/>
          </a:xfrm>
          <a:prstGeom prst="rect">
            <a:avLst/>
          </a:prstGeom>
          <a:solidFill>
            <a:srgbClr val="B87333"/>
          </a:solidFill>
          <a:ln/>
        </p:spPr>
      </p:sp>
      <p:sp>
        <p:nvSpPr>
          <p:cNvPr id="6" name="Shape 4"/>
          <p:cNvSpPr/>
          <p:nvPr/>
        </p:nvSpPr>
        <p:spPr>
          <a:xfrm>
            <a:off x="274320" y="914400"/>
            <a:ext cx="4160520" cy="3931920"/>
          </a:xfrm>
          <a:prstGeom prst="rect">
            <a:avLst/>
          </a:prstGeom>
          <a:solidFill>
            <a:srgbClr val="2A2018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987552"/>
            <a:ext cx="3977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8A0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Cantata 清唱劇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1325880"/>
            <a:ext cx="393192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羅馬 = 清唱劇中心：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貴族/外交官的 academy 聚會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為小型知識分子觀眾而寫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追求精緻、機智、微妙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Cantata 約 1690s 標準形式：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2–3 組 recitative + aria 交替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獨唱 + 通奏低音（偶用小型樂團）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8–15 分鐘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田園愛情詩 → bittersweet 風格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Alessandro Scarlatti (1660–1725)：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600+ 清唱劇 — 這一體裁的巔峰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活躍於羅馬與那不勒斯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Clori vezzosa, e bella (ca. 1690–1710)：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牧歌風：牧羊人傾訴愛慕之苦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(NAWM 94a) 第二段宣敘調：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半音進行、七和弦、遠關係轉調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"affanni miei" → F 小調三和弦（哀苦）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減七和弦 on "il martire" → 一語雙關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4663440" y="914400"/>
            <a:ext cx="4206240" cy="3931920"/>
          </a:xfrm>
          <a:prstGeom prst="rect">
            <a:avLst/>
          </a:prstGeom>
          <a:solidFill>
            <a:srgbClr val="2A2018"/>
          </a:solidFill>
          <a:ln/>
        </p:spPr>
      </p:sp>
      <p:sp>
        <p:nvSpPr>
          <p:cNvPr id="10" name="Text 8"/>
          <p:cNvSpPr/>
          <p:nvPr/>
        </p:nvSpPr>
        <p:spPr>
          <a:xfrm>
            <a:off x="4754880" y="987552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8A0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 Capo Aria &amp; La Griselda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800600" y="1325880"/>
            <a:ext cx="393192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(NAWM 94b) Sì, sì ben mio — Da Capo Aria：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吉格節奏的 ritornello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 段諷刺式："更多折磨給我的心"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 段轉大調 → 更樂觀的情感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缺少 A 段末 ritornello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Scarlatti 晚期 da capo aria 特徵：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 段兩次歌唱陳述 (A1, A2)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A1: I → V (轉調)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A2: V → I (回歸)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每次陳述前後有器樂 ritornello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 段：1–2 次歌唱，通常無 ritornello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整體更宏大、對比更豐富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(NAWM 95) La Griselda: "In voler ciò che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brami" (1720–21)：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Scarlatti 最後一部歌劇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A/B 段用不同素材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唱 ≠ ritornello 旋律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順從妻子的尊嚴 vs 不屈的愛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Serenata 小夜曲：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介於清唱劇與歌劇之間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Stradella (1639–1682) 先驅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15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C8A03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C8A030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8288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8A0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🎻 柯瑞里與奏鳴曲 Corelli &amp; the Sonata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713232"/>
            <a:ext cx="8412480" cy="22860"/>
          </a:xfrm>
          <a:prstGeom prst="rect">
            <a:avLst/>
          </a:prstGeom>
          <a:solidFill>
            <a:srgbClr val="B87333"/>
          </a:solidFill>
          <a:ln/>
        </p:spPr>
      </p:sp>
      <p:sp>
        <p:nvSpPr>
          <p:cNvPr id="6" name="Shape 4"/>
          <p:cNvSpPr/>
          <p:nvPr/>
        </p:nvSpPr>
        <p:spPr>
          <a:xfrm>
            <a:off x="274320" y="914400"/>
            <a:ext cx="4160520" cy="3931920"/>
          </a:xfrm>
          <a:prstGeom prst="rect">
            <a:avLst/>
          </a:prstGeom>
          <a:solidFill>
            <a:srgbClr val="2A2018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987552"/>
            <a:ext cx="3977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8A0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Sonata Types 奏鳴曲分類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1325880"/>
            <a:ext cx="393192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約 1660 年確立兩大類型：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Sonata da chiesa 教堂奏鳴曲：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多為抽象樂章（無舞曲標題）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常含一首以上使用舞曲節奏的樂章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可用於教堂禮拜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Sonata da camera 室內奏鳴曲：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序列舞曲樂章，常有前奏曲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供私人娛樂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Trio Sonata 三重奏鳴曲：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三聲部織體：2 高音旋律 + 通奏低音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實際需要 4 人：2 小提琴 + 大提琴 + 鍵盤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Sonata 獨奏奏鳴曲：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獨奏樂器 + 通奏低音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1700 年後漸增；技巧要求更高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Cremona 製琴黃金時代：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Amati (1596–1684)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Stradivari (1644–1737) → 1,100+ 樂器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Guarneri (1698–1744)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小提琴成為器樂之王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4663440" y="914400"/>
            <a:ext cx="4206240" cy="3931920"/>
          </a:xfrm>
          <a:prstGeom prst="rect">
            <a:avLst/>
          </a:prstGeom>
          <a:solidFill>
            <a:srgbClr val="2A2018"/>
          </a:solidFill>
          <a:ln/>
        </p:spPr>
      </p:sp>
      <p:sp>
        <p:nvSpPr>
          <p:cNvPr id="10" name="Text 8"/>
          <p:cNvSpPr/>
          <p:nvPr/>
        </p:nvSpPr>
        <p:spPr>
          <a:xfrm>
            <a:off x="4754880" y="987552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8A0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Arcangelo Corelli (1653–1713)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800600" y="1325880"/>
            <a:ext cx="393192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Bologna 學琴 → Rome 定居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小提琴家 / 教師 / 指揮 / 作曲家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第一位幾乎純以器樂立名的大作曲家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6 套出版作品 (Opp. 1–6)：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Op.1 (1681): 12 trio da chiesa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Op.2 (1685): 12 trio da camera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Op.3 (1689): 12 trio da chiesa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Op.4 (1695): 12 trio da camera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Op.5 (1700): 12 solo violin sonatas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Op.6 (1714): 12 concerti grossi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Trio Sonata Op. 3, No. 2 in D (NAWM 96)：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教堂奏鳴曲典型四樂章 Slow–Fast–Slow–Fast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(96a) Grave — 對位織體，walking bass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掛留音鏈 → 強力前進動力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(96b) Allegro — 模仿式，如 canzona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(96c) Adagio — 歌唱性，關係小調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(96d) Allegro — 二段式 gigue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調性特徵：功能和聲、五度圈進行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Rameau 以 Corelli 為調性理論基礎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15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C8A03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C8A030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8288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8A0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🎺 協奏曲的誕生 The Birth of the Concerto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713232"/>
            <a:ext cx="8412480" cy="22860"/>
          </a:xfrm>
          <a:prstGeom prst="rect">
            <a:avLst/>
          </a:prstGeom>
          <a:solidFill>
            <a:srgbClr val="B87333"/>
          </a:solidFill>
          <a:ln/>
        </p:spPr>
      </p:sp>
      <p:sp>
        <p:nvSpPr>
          <p:cNvPr id="6" name="Shape 4"/>
          <p:cNvSpPr/>
          <p:nvPr/>
        </p:nvSpPr>
        <p:spPr>
          <a:xfrm>
            <a:off x="274320" y="914400"/>
            <a:ext cx="4160520" cy="3931920"/>
          </a:xfrm>
          <a:prstGeom prst="rect">
            <a:avLst/>
          </a:prstGeom>
          <a:solidFill>
            <a:srgbClr val="2A2018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987552"/>
            <a:ext cx="3977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A0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Types of Concerto 三種協奏曲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1480" y="1325880"/>
            <a:ext cx="393192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1680–90s 義大利作曲家創造管弦樂新類型：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Orchestral Concerto 管弦樂協奏曲：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強調第一小提琴 + 低音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區別於奏鳴曲的對位織體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Concerto Grosso 大協奏曲：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Concertino（獨奏群，通常 = trio sonata）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vs. Ripieno / Tutti（全體樂團）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本質上 = 合奏奏鳴曲 + 段落加倍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Corelli Op. 6 (1714)：12 首經典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Solo Concerto 獨奏協奏曲：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1+ 獨奏樂器 vs. 弦樂團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最常見、影響最深遠的類型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前身：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Lully 歌劇中 solo vs. tutti 對比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Stradella 清唱劇中 concertino 段落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Bologna 教會奏鳴曲加入小號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自然小號 → triads + 音階 + 重複音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4663440" y="914400"/>
            <a:ext cx="4206240" cy="3931920"/>
          </a:xfrm>
          <a:prstGeom prst="rect">
            <a:avLst/>
          </a:prstGeom>
          <a:solidFill>
            <a:srgbClr val="2A2018"/>
          </a:solidFill>
          <a:ln/>
        </p:spPr>
      </p:sp>
      <p:sp>
        <p:nvSpPr>
          <p:cNvPr id="10" name="Text 8"/>
          <p:cNvSpPr/>
          <p:nvPr/>
        </p:nvSpPr>
        <p:spPr>
          <a:xfrm>
            <a:off x="4754880" y="987552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8A0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Torelli &amp; Ritornello Form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800600" y="1325880"/>
            <a:ext cx="393192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75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Georg Muffat (1653–1704)：</a:t>
            </a:r>
            <a:endParaRPr lang="en-US" sz="7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75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德奧作曲家，早期到 Rome 聽 Corelli</a:t>
            </a:r>
            <a:endParaRPr lang="en-US" sz="7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75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在 Salzburg 出版 Florilegium (1695, 1698)</a:t>
            </a:r>
            <a:endParaRPr lang="en-US" sz="7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75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法國管弦樂 suite 引入德國</a:t>
            </a:r>
            <a:endParaRPr lang="en-US" sz="7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75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1701 出版 concerti grossi 並附序言</a:t>
            </a:r>
            <a:endParaRPr lang="en-US" sz="7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75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解說如何將奏鳴曲改編為協奏曲</a:t>
            </a:r>
            <a:endParaRPr lang="en-US" sz="7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75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重要的第一手文獻 (Source Reading)</a:t>
            </a:r>
            <a:endParaRPr lang="en-US" sz="750" dirty="0"/>
          </a:p>
          <a:p>
            <a:pPr indent="0" marL="0">
              <a:spcAft>
                <a:spcPts val="200"/>
              </a:spcAft>
              <a:buNone/>
            </a:pPr>
            <a:endParaRPr lang="en-US" sz="7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75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Giuseppe Torelli (1658–1709)：</a:t>
            </a:r>
            <a:endParaRPr lang="en-US" sz="7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75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Bologna San Petronio</a:t>
            </a:r>
            <a:endParaRPr lang="en-US" sz="7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75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出版最早的協奏曲集 (Op. 5, 1692)</a:t>
            </a:r>
            <a:endParaRPr lang="en-US" sz="7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75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Op. 6 (1698)：可能最早的小提琴獨奏協奏曲</a:t>
            </a:r>
            <a:endParaRPr lang="en-US" sz="7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75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Op. 8 (1709)：6 concerti grossi + 6 violin concertos</a:t>
            </a:r>
            <a:endParaRPr lang="en-US" sz="750" dirty="0"/>
          </a:p>
          <a:p>
            <a:pPr indent="0" marL="0">
              <a:spcAft>
                <a:spcPts val="200"/>
              </a:spcAft>
              <a:buNone/>
            </a:pPr>
            <a:endParaRPr lang="en-US" sz="7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75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Ritornello Form 利托內洛形式：</a:t>
            </a:r>
            <a:endParaRPr lang="en-US" sz="7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75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仿 da capo aria A 段結構</a:t>
            </a:r>
            <a:endParaRPr lang="en-US" sz="7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75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Ritornello (tutti)：主題，首尾在主調</a:t>
            </a:r>
            <a:endParaRPr lang="en-US" sz="7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75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中間在不同調出現（簡化版）</a:t>
            </a:r>
            <a:endParaRPr lang="en-US" sz="7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75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Solo episodes：新素材，展現技巧</a:t>
            </a:r>
            <a:endParaRPr lang="en-US" sz="7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75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轉調，製造對比</a:t>
            </a:r>
            <a:endParaRPr lang="en-US" sz="7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75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Torelli → Vivaldi 發展成熟</a:t>
            </a:r>
            <a:endParaRPr lang="en-US" sz="7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75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（見 Ch. 18）</a:t>
            </a:r>
            <a:endParaRPr lang="en-US" sz="750" dirty="0"/>
          </a:p>
          <a:p>
            <a:pPr indent="0" marL="0">
              <a:spcAft>
                <a:spcPts val="200"/>
              </a:spcAft>
              <a:buNone/>
            </a:pPr>
            <a:endParaRPr lang="en-US" sz="7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75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Tomaso Albinoni (1671–1750)：</a:t>
            </a:r>
            <a:endParaRPr lang="en-US" sz="7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75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Op. 2 (1700)：確立 Fast–Slow–Fast 三樂章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15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C8A03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C8A030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8288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8A0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🇩🇪 德奧：歌劇、歌曲與教會音樂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713232"/>
            <a:ext cx="8412480" cy="22860"/>
          </a:xfrm>
          <a:prstGeom prst="rect">
            <a:avLst/>
          </a:prstGeom>
          <a:solidFill>
            <a:srgbClr val="B87333"/>
          </a:solidFill>
          <a:ln/>
        </p:spPr>
      </p:sp>
      <p:sp>
        <p:nvSpPr>
          <p:cNvPr id="6" name="Shape 4"/>
          <p:cNvSpPr/>
          <p:nvPr/>
        </p:nvSpPr>
        <p:spPr>
          <a:xfrm>
            <a:off x="274320" y="914400"/>
            <a:ext cx="4160520" cy="3931920"/>
          </a:xfrm>
          <a:prstGeom prst="rect">
            <a:avLst/>
          </a:prstGeom>
          <a:solidFill>
            <a:srgbClr val="2A2018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987552"/>
            <a:ext cx="3977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8A0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German Musical Life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1325880"/>
            <a:ext cx="393192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三十年戰爭後 (1648)：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神聖羅馬帝國 = ~300 獨立政治單元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宮廷、城市、教會各自雇用音樂家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三類音樂家：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Court musicians 宮廷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Stadtpfeifer 城鎮樂手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專屬權利 + 師徒制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Bach 家族由此傳統培育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Church musicians 教會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Lutheran 教會直接雇用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Collegium musicum 音樂社團：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中產階級 + 大學生業餘合奏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18世紀轉型為公共音樂會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 in German 德語歌劇：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Hamburg (1678) 首家德語歌劇院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商業取向，吸引中產階級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Reinhard Keiser (1674–1739)：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~60部歌劇 → 最多產的早期德語歌劇家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折衷風格：da capo + French airs + 德國民歌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Song: Adam Krieger (1634–1666)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簡潔旋律 + 短管弦序奏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4663440" y="914400"/>
            <a:ext cx="4206240" cy="3931920"/>
          </a:xfrm>
          <a:prstGeom prst="rect">
            <a:avLst/>
          </a:prstGeom>
          <a:solidFill>
            <a:srgbClr val="2A2018"/>
          </a:solidFill>
          <a:ln/>
        </p:spPr>
      </p:sp>
      <p:sp>
        <p:nvSpPr>
          <p:cNvPr id="10" name="Text 8"/>
          <p:cNvSpPr/>
          <p:nvPr/>
        </p:nvSpPr>
        <p:spPr>
          <a:xfrm>
            <a:off x="4754880" y="987552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8A0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Sacred Music 宗教音樂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800600" y="1325880"/>
            <a:ext cx="393192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100"/>
              </a:spcAft>
              <a:buNone/>
            </a:pPr>
            <a:r>
              <a:rPr lang="en-US" sz="75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Catholic South 天主教南方：</a:t>
            </a:r>
            <a:endParaRPr lang="en-US" sz="7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75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Munich · Salzburg · Vienna</a:t>
            </a:r>
            <a:endParaRPr lang="en-US" sz="7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75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四位皇帝 (1637–1740) 支持且創作音樂</a:t>
            </a:r>
            <a:endParaRPr lang="en-US" sz="7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75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融合 stile antico + 新 concertato</a:t>
            </a:r>
            <a:endParaRPr lang="en-US" sz="7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75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管弦樂前奏 + ritornello + 獨唱 + 合唱</a:t>
            </a:r>
            <a:endParaRPr lang="en-US" sz="7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75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Biber, Missa salisburgensis (1682)</a:t>
            </a:r>
            <a:endParaRPr lang="en-US" sz="7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75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53聲部！16 歌手 + 37 器樂手</a:t>
            </a:r>
            <a:endParaRPr lang="en-US" sz="7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75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Salzburg 大教堂四個合唱閣樓</a:t>
            </a:r>
            <a:endParaRPr lang="en-US" sz="750" dirty="0"/>
          </a:p>
          <a:p>
            <a:pPr indent="0" marL="0">
              <a:spcAft>
                <a:spcPts val="100"/>
              </a:spcAft>
              <a:buNone/>
            </a:pPr>
            <a:endParaRPr lang="en-US" sz="7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75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Lutheran North 路德宗北方：</a:t>
            </a:r>
            <a:endParaRPr lang="en-US" sz="750" dirty="0"/>
          </a:p>
          <a:p>
            <a:pPr indent="0" marL="0">
              <a:spcAft>
                <a:spcPts val="100"/>
              </a:spcAft>
              <a:buNone/>
            </a:pPr>
            <a:endParaRPr lang="en-US" sz="7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75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正統 vs 敬虔主義的衝突：</a:t>
            </a:r>
            <a:endParaRPr lang="en-US" sz="7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75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Orthodox 正統派：</a:t>
            </a:r>
            <a:endParaRPr lang="en-US" sz="7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75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堅持公共崇拜 + 合唱/器樂音樂</a:t>
            </a:r>
            <a:endParaRPr lang="en-US" sz="7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75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Pietists 敬虔派：</a:t>
            </a:r>
            <a:endParaRPr lang="en-US" sz="7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75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重私人靈修 → 偏好簡單歌曲</a:t>
            </a:r>
            <a:endParaRPr lang="en-US" sz="750" dirty="0"/>
          </a:p>
          <a:p>
            <a:pPr indent="0" marL="0">
              <a:spcAft>
                <a:spcPts val="100"/>
              </a:spcAft>
              <a:buNone/>
            </a:pPr>
            <a:endParaRPr lang="en-US" sz="7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75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Chorale 聖詠傳統延續：</a:t>
            </a:r>
            <a:endParaRPr lang="en-US" sz="7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75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Crüger, Praxis pietatis melica (1647)</a:t>
            </a:r>
            <a:endParaRPr lang="en-US" sz="7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75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最具影響力的聖詩集</a:t>
            </a:r>
            <a:endParaRPr lang="en-US" sz="7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75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40+ 版次</a:t>
            </a:r>
            <a:endParaRPr lang="en-US" sz="750" dirty="0"/>
          </a:p>
          <a:p>
            <a:pPr indent="0" marL="0">
              <a:spcAft>
                <a:spcPts val="100"/>
              </a:spcAft>
              <a:buNone/>
            </a:pPr>
            <a:endParaRPr lang="en-US" sz="7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75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Dieterich Buxtehude (ca. 1637–1707)：</a:t>
            </a:r>
            <a:endParaRPr lang="en-US" sz="7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75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Wachet auf 聖詠變奏 — 管弦 + 合唱</a:t>
            </a:r>
            <a:endParaRPr lang="en-US" sz="7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75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Abendmusiken 晚間音樂會（免費公開）</a:t>
            </a:r>
            <a:endParaRPr lang="en-US" sz="7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75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Bach 1705 年步行 200 英里去聆聽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15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C8A03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C8A030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8288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8A0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🎹 德國管風琴音樂 German Organ Music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713232"/>
            <a:ext cx="8412480" cy="22860"/>
          </a:xfrm>
          <a:prstGeom prst="rect">
            <a:avLst/>
          </a:prstGeom>
          <a:solidFill>
            <a:srgbClr val="B87333"/>
          </a:solidFill>
          <a:ln/>
        </p:spPr>
      </p:sp>
      <p:sp>
        <p:nvSpPr>
          <p:cNvPr id="6" name="Shape 4"/>
          <p:cNvSpPr/>
          <p:nvPr/>
        </p:nvSpPr>
        <p:spPr>
          <a:xfrm>
            <a:off x="274320" y="914400"/>
            <a:ext cx="4160520" cy="3931920"/>
          </a:xfrm>
          <a:prstGeom prst="rect">
            <a:avLst/>
          </a:prstGeom>
          <a:solidFill>
            <a:srgbClr val="2A2018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987552"/>
            <a:ext cx="3977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8A0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Toccata, Prelude &amp; Fugue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1325880"/>
            <a:ext cx="393192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Lutheran Organ Music 路德宗管風琴：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1650–1750 黃金時代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功能：聖詠/經文的前奏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Buxtehude 的 Toccata/Praeludium：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自由段落 vs 嚴格賦格段 交替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承 Frescobaldi + Froberger 傳統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自由段：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不規則節奏、16分音符驅動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突然變化方向/力度/調性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華麗的踏板獨奏 (pedaliter)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賦格段：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每段使用不同主題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主題間存在 "family resemblance"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Praeludium in E Major BuxWV 141 (NAWM 97)：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五個自由段落 + 四個賦格段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四個賦格主題互為變體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17世紀：toccata/prelude/praeludium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≈ 同義詞（含賦格段落）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18世紀：賦格段獨立 → Prelude + Fugue 分開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4663440" y="914400"/>
            <a:ext cx="4206240" cy="3931920"/>
          </a:xfrm>
          <a:prstGeom prst="rect">
            <a:avLst/>
          </a:prstGeom>
          <a:solidFill>
            <a:srgbClr val="2A2018"/>
          </a:solidFill>
          <a:ln/>
        </p:spPr>
      </p:sp>
      <p:sp>
        <p:nvSpPr>
          <p:cNvPr id="10" name="Text 8"/>
          <p:cNvSpPr/>
          <p:nvPr/>
        </p:nvSpPr>
        <p:spPr>
          <a:xfrm>
            <a:off x="4754880" y="987552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A0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Chorale Settings &amp; Other Genres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800600" y="1325880"/>
            <a:ext cx="393192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100"/>
              </a:spcAft>
              <a:buNone/>
            </a:pPr>
            <a:r>
              <a:rPr lang="en-US" sz="75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Fugue 賦格：</a:t>
            </a:r>
            <a:endParaRPr lang="en-US" sz="7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75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17世紀末取代 ricercar / fantasia / capriccio</a:t>
            </a:r>
            <a:endParaRPr lang="en-US" sz="7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75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主題 (subject) 更個性化、節奏鮮明</a:t>
            </a:r>
            <a:endParaRPr lang="en-US" sz="7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75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Exposition 呈示部：</a:t>
            </a:r>
            <a:endParaRPr lang="en-US" sz="7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75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主題 (tonic) → 答句 answer (dominant)</a:t>
            </a:r>
            <a:endParaRPr lang="en-US" sz="7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75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各聲部輪流加入</a:t>
            </a:r>
            <a:endParaRPr lang="en-US" sz="7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75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Episodes 插段：自由對位</a:t>
            </a:r>
            <a:endParaRPr lang="en-US" sz="750" dirty="0"/>
          </a:p>
          <a:p>
            <a:pPr indent="0" marL="0">
              <a:spcAft>
                <a:spcPts val="100"/>
              </a:spcAft>
              <a:buNone/>
            </a:pPr>
            <a:endParaRPr lang="en-US" sz="7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75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Chorale Settings 聖詠設定：</a:t>
            </a:r>
            <a:endParaRPr lang="en-US" sz="7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75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Organ chorale 管風琴聖詠</a:t>
            </a:r>
            <a:endParaRPr lang="en-US" sz="7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75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Chorale variations / chorale partita</a:t>
            </a:r>
            <a:endParaRPr lang="en-US" sz="7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75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一系列變奏</a:t>
            </a:r>
            <a:endParaRPr lang="en-US" sz="7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75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Chorale prelude 聖詠前奏曲：</a:t>
            </a:r>
            <a:endParaRPr lang="en-US" sz="7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75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四種類型：</a:t>
            </a:r>
            <a:endParaRPr lang="en-US" sz="7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75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① 每句為模仿點 (point of imitation)</a:t>
            </a:r>
            <a:endParaRPr lang="en-US" sz="7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75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② 高聲部長音旋律 + 低聲部前仿</a:t>
            </a:r>
            <a:endParaRPr lang="en-US" sz="7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75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③ 高聲部裝飾旋律 + 自由伴奏</a:t>
            </a:r>
            <a:endParaRPr lang="en-US" sz="7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75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④ 旋律 + 無關動機伴奏</a:t>
            </a:r>
            <a:endParaRPr lang="en-US" sz="750" dirty="0"/>
          </a:p>
          <a:p>
            <a:pPr indent="0" marL="0">
              <a:spcAft>
                <a:spcPts val="100"/>
              </a:spcAft>
              <a:buNone/>
            </a:pPr>
            <a:endParaRPr lang="en-US" sz="7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75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Instrumental Music：</a:t>
            </a:r>
            <a:endParaRPr lang="en-US" sz="7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75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Harpsichord suites (Froberger → A-C-S-G)</a:t>
            </a:r>
            <a:endParaRPr lang="en-US" sz="7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75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Orchestral suites (仿 Lully 風格)</a:t>
            </a:r>
            <a:endParaRPr lang="en-US" sz="7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75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Muffat Florilegium (1695, 1698)</a:t>
            </a:r>
            <a:endParaRPr lang="en-US" sz="7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75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Violin sonatas：Biber Mystery Sonatas</a:t>
            </a:r>
            <a:endParaRPr lang="en-US" sz="7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75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15首 + Passacaglia · scordatura</a:t>
            </a:r>
            <a:endParaRPr lang="en-US" sz="7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75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Keyboard sonatas：Kuhnau (1696)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15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C8A03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C8A030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8288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8A0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📝 關鍵詞彙 · 延伸閱讀 · 聆聽 Key Terms &amp; Listening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65760" y="713232"/>
            <a:ext cx="8412480" cy="22860"/>
          </a:xfrm>
          <a:prstGeom prst="rect">
            <a:avLst/>
          </a:prstGeom>
          <a:solidFill>
            <a:srgbClr val="B87333"/>
          </a:solidFill>
          <a:ln/>
        </p:spPr>
      </p:sp>
      <p:sp>
        <p:nvSpPr>
          <p:cNvPr id="6" name="Shape 4"/>
          <p:cNvSpPr/>
          <p:nvPr/>
        </p:nvSpPr>
        <p:spPr>
          <a:xfrm>
            <a:off x="274320" y="914400"/>
            <a:ext cx="4160520" cy="3931920"/>
          </a:xfrm>
          <a:prstGeom prst="rect">
            <a:avLst/>
          </a:prstGeom>
          <a:solidFill>
            <a:srgbClr val="2A2018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987552"/>
            <a:ext cx="3977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A0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Terms 關鍵詞彙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1298448"/>
            <a:ext cx="397764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da capo aria · ABA form · ritornello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sonata da chiesa · sonata da camera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trio sonata · solo sonata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walking bass · circle of fifths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concerto · concerto grosso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concertino · ripieno · tutti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orchestral concerto · solo concerto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ritornello form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cantata · serenata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toccata · praeludium · prelude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fugue · exposition · subject · answer · episode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chorale prelude · chorale variations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chorale partita · organ chorale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Stadtpfeifer · collegium musicum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Orthodox vs Pietist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Abendmusiken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scordatura · Mystery Sonatas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Frische Clavier Früchte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Stradivarius · Cremona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4663440" y="914400"/>
            <a:ext cx="4206240" cy="3931920"/>
          </a:xfrm>
          <a:prstGeom prst="rect">
            <a:avLst/>
          </a:prstGeom>
          <a:solidFill>
            <a:srgbClr val="2A2018"/>
          </a:solidFill>
          <a:ln/>
        </p:spPr>
      </p:sp>
      <p:sp>
        <p:nvSpPr>
          <p:cNvPr id="10" name="Text 8"/>
          <p:cNvSpPr/>
          <p:nvPr/>
        </p:nvSpPr>
        <p:spPr>
          <a:xfrm>
            <a:off x="4800600" y="987552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A0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📚 Further Reading &amp; 🎧 Listening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846320" y="1298448"/>
            <a:ext cx="397764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Grout &amp; Williams. A Short History of Opera (2003)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Allsop. The Italian Trio Sonata (1992)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Talbot. The Vivaldi Compendium (2011)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Snyder. Dieterich Buxtehude (2007)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🎧 NAWM 精選聆聽 (YouTube)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93 · Sartorio · Giulio Cesare in Egitto  youtu.be/mvCMFqgN8JU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94 · A. Scarlatti · Clori vezzosa, e bella  youtu.be/8EVdPg5TeKE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95 · A. Scarlatti · La Griselda  youtu.be/h0oSd1uNQII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96 · Corelli · Trio Sonata Op. 3 No. 2  youtu.be/ozEfJugPMe4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97 · Buxtehude · Praeludium in E BuxWV 141  youtu.be/yg7_GPKCTWI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17: Italy and Germany in the Late Seventeenth Century</dc:title>
  <dc:subject>PptxGenJS Presentation</dc:subject>
  <dc:creator>A History of Western Music, 10th ed.</dc:creator>
  <cp:lastModifiedBy>A History of Western Music, 10th ed.</cp:lastModifiedBy>
  <cp:revision>1</cp:revision>
  <dcterms:created xsi:type="dcterms:W3CDTF">2026-04-13T00:22:04Z</dcterms:created>
  <dcterms:modified xsi:type="dcterms:W3CDTF">2026-04-13T00:22:04Z</dcterms:modified>
</cp:coreProperties>
</file>