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FRANCO-FLEMISH COMPOSERS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1450–1520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· Busnoys · Obrecht · Isaac · Josquin Desprez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180–204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Political Change 政治變局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統一 1479 · Hapsburg 聯姻 · Charles V · 義大利戰爭 1494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奧克岡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1420–1497 · 法國王室禮拜堂 · Missa prolationum · 卡農大師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Busnoys 布斯瓦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1430–1492 · Je ne puis vivre · 勃艮第宮廷 · V–I 終止式先驅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1480–1520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· Isaac · 模仿對位普及 · 國際化樂風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1450–1521 · 文藝復興最偉大 · text expression · 18+ 彌撒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Masses on Borrowed Material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4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· Paraphrase · Imitation · 四種借材彌撒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政治變局：歐洲版圖重劃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Political Change &amp; the Rise of National Monarchies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新興王國 Emerging Kingdoms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百年戰爭結束——法國收復大部分領土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君士坦丁堡陷落——東羅馬帝國滅亡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勃艮第 Charles the Bold 戰死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勃艮第公國分裂、大部分歸入 Hapsburg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1479 卡斯提爾 Isabella + 亞拉岡 Ferdinand 統一 Spain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Spain 征服 Granada——收復失地運動完成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Columbus 抵達美洲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Hapsburg &amp; 義大利戰爭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Hapsburg 的婚姻帝國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1478 Maximilian I 娶 Mary of Burgundy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其孫 Charles V 同時統治 Spain、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尼德蘭、奧地利、美洲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1494 義大利戰爭 Italian Wars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法王 Charles VIII 入侵義大利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法、西、帝國長期爭奪半島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城邦文化外溢——音樂家往返南北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刺激印刷、出版業興盛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文化效應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北方作曲家南下義大利任職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音樂家成為國際商品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Ockeghem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1420–1497 · 法國王室禮拜堂首席作曲家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Career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生於今比利時法蘭德斯區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1443 在 Antwerp 大教堂擔任歌手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1446–48 服侍 Bourbon 公爵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1451 起進入法國王室禮拜堂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服侍 Charles VII、Louis XI、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Charles VIII 三位國王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升任禮拜堂首席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1459 獲授 Tours 司庫——顯赫俸祿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Josquin 寫 motet 悼念其逝世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作品總覽 Works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 首完整彌撒曲——Du Fay 之後最多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首 Requiem——現存最早的複音安魂曲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 首經文歌 · 20 餘首世俗香頌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風格特徵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聲部線條綿長、呼吸錯落——避免齊句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喜好低音域——四部常延伸到男低音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各聲部節奏獨立、對位高度流動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神秘沉思的氣質——與北方神秘主義共鳴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著名彌撒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prolationum（mensuration canon 傑作）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cuiusvis toni（可按任一調式演唱）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Missa De plus en plus（Binchois 香頌為 c.f.）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Ockeghem 的對位藝術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Canon, Mensuration &amp; Modal Ingenuity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prolationum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「節拍比例彌撒」——最精巧的技術之作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四聲部僅以兩行記譜——每行以兩種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mensuration 讀出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每樂章為 double mensuration canon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兩個卡農同時——兩對聲部以不同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速度與時值展開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卡農音程逐樂章擴大：unison → 八度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展現對 ars perfecta 的終極掌握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保持流暢對位與虔誠宗教感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以技巧表達神學完美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cuiusvis toni &amp; 其他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Missa cuiusvis toni「可用任何調式之彌撒」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同一份樂譜可用 Dorian / Phrygian /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Lydian / Mixolydian 任意演唱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只需更換 clef——旋律關係隨調式改變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Requiem（Missa pro defunctis）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現存最早的複音安魂曲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保留大量 chant——以 paraphrase 華麗化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風格總評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後世視 Ockeghem 為「對位魔法師」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Tinctoris 列入最具才華的現代作曲家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 Josquin、Obrecht、de la Rue 一整代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Antoine Busnoys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1430–1492 · 勃艮第末代香頌大師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生於法蘭德斯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1461 起服侍 Burgundian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服侍 Philip the Good、Charles the Bold 兩位公爵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1477 Charles the Bold 戰死後轉投 Hapsburg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卒於 Bruges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創作總覽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部完整彌撒（含 Missa O crux lignum）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首經文歌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60+ 首世俗香頌——大多數為 rondeau 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風格介於 Ockeghem 流動對位 與 更現代的清晰旋律之間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Je ne puis vivre (NAWM 38)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「若非如此我不能活」——三聲部 virelai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結構：bergerette（單節 virelai）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上聲部主導旋律——下兩聲部伴奏性質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規律節奏、清晰樂句——與 Ockeghem 迥異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歷史意義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低音終止式跳進四／五度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產生近代 V–I 終止感——authentic cadence 遠祖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從中世紀終止式走向調性終止的關鍵一步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文本可能 Busnoys 自撰——字首藏詩暗示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Jacqueline d'Hacqueville，作曲家戀慕對象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1480–1520 世代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Generation of 1480–1520 · Imitation Becomes the Norm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 Obrecht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130759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1457/8–1505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58191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義大利 (Ferrara)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180136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彌撒 · Missa Fortuna desperata · 數學式架構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07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Isaac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130759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1450–1517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158191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Florence → Maximilian 宮廷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180136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Choralis Constantinus · Innsbruck ich muss dich lassen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42316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496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249631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1450–1521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1480" y="277063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法蘭德斯 → 米蘭 / 羅馬 / Ferrara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299008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 彌撒 · Ave Maria · 文字表達革命者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2496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Pierre de la Rue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249631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1452–1518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77063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Hapsburg-Burgundian Chapel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00600" y="299008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低音偏好 · 30+ 彌撒 · 卡農技巧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61188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3685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Alexander Agricola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08960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1446–1506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11480" y="395935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· Florence · Spanish Court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11480" y="417880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綿長旋律線 · 接近 Ockeghem 晚期風格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663440" y="3611880"/>
            <a:ext cx="4206240" cy="109728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3685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Loyset Compère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98080" y="368503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1445–1518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00600" y="3959352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0A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→ 法國王室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00600" y="417880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新式 motet · motetti missales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 Obrecht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1457/8–1505 · 結構宏大的彌撒建築師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Ghent（根特）——父親為城市吹奏手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Utrecht、Cambrai、Bruges、Antwerp 主教座堂任職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1487 及 1504 兩度應邀至 Ferrara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1505 於 Ferrara 因瘟疫過世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作品總覽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30 部彌撒——僅次於 Palestrina 的文藝復興產量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30+ 經文歌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30+ 世俗歌曲（法文、荷蘭文、義大利文）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Gregorian chant、俗歌、器樂曲均曾取材作 cantus firmus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Missa Fortuna desperata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取自 Busnoys 同名義大利文香頌為 cantus firmus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技術特徵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四聲部——tenor 持 cantus firmus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每樂章重排 c.f. 的節奏與時值（拆解重組）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在其他三聲部中啟動「點狀模仿」(points of imitation)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短動機於各聲部依次陳述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段落分明、架構如建築般對稱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Obrecht 的貢獻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把模仿對位從偶然裝飾提升為整體結構原則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 cantus-firmus 技術推向數學極限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Josquin 的 imitation mass 鋪路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Isaac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1450–1517 · 國際化的北方作曲家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Career Across Europe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生於法蘭德斯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1485–1496 Florence Medici 宮廷——與 Lorenzo il Magnifico 同時代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為卡內瓦爾歌曲、儀式樂配樂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1497 進入 Maximilian I 神聖羅馬宮廷——任 Hofkomponist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晚年 1514 退居 Florence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作品跨越拉丁、德文、義大利文、法文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國際名聲：Paul Hofhaimer 作詩云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「Harmoniae chorales cantorum principi」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（合唱和聲歌手之君）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代表作品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Choralis Constantinus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三冊巨型 Proper 合唱集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原為 Constance 主教座堂委託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涵蓋教會年全部專用經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死後出版——德語地區影響深遠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 natus est (NAWM 40)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聖誕日 Introit · paraphrase chant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Innsbruck, ich muss dich lassen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(NAWM 41) · 德語 Tenorlied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後成 chorale《O Welt, ich muss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dich lassen》· Bach 引用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Desprez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1450–1521 · 文藝復興最偉大的作曲家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3749040"/>
          </a:xfrm>
          <a:prstGeom prst="rect">
            <a:avLst/>
          </a:prstGeom>
          <a:solidFill>
            <a:srgbClr val="F3E0E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61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生平與職涯 Career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1627632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生於 Condé-sur-l'Escaut 一帶（今法國北境）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916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1475–1478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1627632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服侍 René d'Anjou 於普羅旺斯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1484–1489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2386584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Sforza 宮廷——與 Ascanio Sforza 樞機主教合作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1489–1495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52160" y="2386584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羅馬教宗禮拜堂 Sistine Chapel 歌手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1455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1501–1503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3145536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可能服務法國王室 Louis XII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9160" y="31455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1503–1504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52160" y="3145536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Ferrara Ercole d'Este 宮廷——薪酬最高的作曲家之一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9044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1504–1521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3904488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退居故鄉 Condé，任 Collegiate Church 議事司鐸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9160" y="39044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1521.8.27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52160" y="3904488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逝世於 Condé——生前已是整個歐洲的音樂偶像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的經文歌與文字表達革命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Motets · Text Declamation · Text Depiction · Text Expression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Ave Maria...virgo serena (NAWM 44)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四聲部 motet——16 世紀初最著名的聖母頌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開頭：四聲部依次以 point of imitation 進入——S→A→T→B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每段經文對應不同織度：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同節奏 homorhythm 表示莊嚴祈求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成對二重唱 (duet pairs) 交替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卡農式走音展現謙卑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結尾轉為同節奏 O Mater Dei, memento mei——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以最簡單的和聲結束最複雜的經文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 Petrucci 置於 1502 年 Motetti A 首篇——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印刷時代的第一件經文歌作品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三種文字處理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1■⃣ Text Declamation 文字宣告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節奏對應自然言語重音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每個音節清晰可辨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2■⃣ Text Depiction 文字描繪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音樂形象呼應字詞具象意義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「上升」用上行音階；「下降」用下行音階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「嘆息」用短促休止；「哭泣」用半音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3■⃣ Text Expression 文字表達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音樂整體情緒對應文本情感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不是模仿字面——而是捕捉心境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Josquin 首次系統性運用——被 Glareanus 稱為「音樂中的 Virgil」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其他名作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Faulte d'argent (NAWM 42) · 五聲部卡農香頌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Mille regretz (NAWM 43) · 查理五世之愛歌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Josquin 的彌撒曲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0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18+ Masses · Four Great Examples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Pange lingua (NAWM 45)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1848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Paraphrase Mass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87452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Pange lingua 聖體讚美詩為素材——旋律分解進入各聲部——成為 paraphrase mass 的典範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3075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L'homme armé super voces musicales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1848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Cantus-firmus Mass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187452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 L'homme armé 曲調依序置於六個六音音階位置（ut–la）——技巧高超的系統性建構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9067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Hercules dux Ferrariae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40156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Soggetto cavato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36576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Ercole d'Este 大公名字的母音抽出「re-ut-re-ut-re-fa-mi-re」八音動機作主題——為 Ferrara 獻禮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206240" cy="1691640"/>
          </a:xfrm>
          <a:prstGeom prst="rect">
            <a:avLst/>
          </a:prstGeom>
          <a:solidFill>
            <a:srgbClr val="EADF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9067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Missa Fortuna desperata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3401568"/>
            <a:ext cx="3977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Imitation / Parody 前身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6576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取用 Busnoys 同名香頌全部聲部——預示了日後的 imitation mass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以借材為基礎的四種彌撒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Types of Masses on Borrowed Material (Figure 9.5)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" y="960120"/>
            <a:ext cx="192024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" y="960120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類型 Type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960120"/>
            <a:ext cx="237744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960120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借材 Borrowing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960120"/>
            <a:ext cx="256032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960120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 Technique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960120"/>
            <a:ext cx="2103120" cy="749808"/>
          </a:xfrm>
          <a:prstGeom prst="rect">
            <a:avLst/>
          </a:prstGeom>
          <a:solidFill>
            <a:srgbClr val="4A2C5A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960120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代表 Example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" y="1709928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" y="1709928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011680" y="1709928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84832" y="1709928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或俗歌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的單一聲部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1709928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2272" y="1709928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置於 tenor，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常以長音值出現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49440" y="1709928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22592" y="1709928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Fay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Missa Se la face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" y="2459736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4592" y="2459736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011680" y="2459736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84832" y="2459736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單一聲部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模仿擴散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89120" y="2459736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2459736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tenor 持 c.f.，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動機貫穿各部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949440" y="2459736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22592" y="2459736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Fortuna desperata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" y="3209544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64592" y="3209544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011680" y="3209544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084832" y="3209544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 旋律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（單聲部）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389120" y="3209544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62272" y="3209544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旋律華麗化，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散布於所有聲部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949440" y="3209544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22592" y="3209544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Pange lingua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1440" y="3959352"/>
            <a:ext cx="19202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4592" y="3959352"/>
            <a:ext cx="17739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Imitation /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Parody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011680" y="3959352"/>
            <a:ext cx="237744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84832" y="3959352"/>
            <a:ext cx="22311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整首複音作品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（全部聲部）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89120" y="3959352"/>
            <a:ext cx="25603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62272" y="3959352"/>
            <a:ext cx="24140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重用原作織度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與動機全體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949440" y="3959352"/>
            <a:ext cx="2103120" cy="749808"/>
          </a:xfrm>
          <a:prstGeom prst="rect">
            <a:avLst/>
          </a:prstGeom>
          <a:solidFill>
            <a:srgbClr val="2E2740"/>
          </a:solidFill>
          <a:ln w="6350">
            <a:solidFill>
              <a:srgbClr val="C8A02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22592" y="3959352"/>
            <a:ext cx="195681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Févin Missa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 Maria（首例）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2C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 &amp; Legacy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926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91440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君士坦丁堡陷落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6926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23560" y="91440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the Bold 戰死 · 勃艮第瓦解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49047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54533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1479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149047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Ferdinand &amp; Isabella 統一 Spain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49047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54533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23560" y="149047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Ockeghem 任法國王室禮拜堂歌手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066544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1214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2066544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抵達 Florence Medici 宮廷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2066544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1214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23560" y="2066544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進入 Sistine Chapel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642616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6974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2642616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義大利戰爭爆發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642616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69748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23560" y="2642616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Ockeghem 逝世 · Josquin 作輓歌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218688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27355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3218688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Odhecaton——第一部印刷複音集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218688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3273552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623560" y="3218688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Motetti A 以 Ave Maria 開卷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79476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84962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34440" y="379476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Obrecht 於 Ferrara 瘟疫身亡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3794760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849624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23560" y="3794760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Isaac 逝世 · Luther 發表九十五條論綱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4370832"/>
            <a:ext cx="868680" cy="475488"/>
          </a:xfrm>
          <a:prstGeom prst="rect">
            <a:avLst/>
          </a:prstGeom>
          <a:solidFill>
            <a:srgbClr val="4A2C5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4425696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34440" y="4370832"/>
            <a:ext cx="3337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逝世——文藝復興一代宗師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206240" cy="393192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61872"/>
            <a:ext cx="3977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mensuration canon · 節拍比例卡農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soggetto cavato · 母音抽字主題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paraphrase mass · 華飾彌撒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imitation mass (parody) · 模仿彌撒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cantus-firmus–imitation mass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points of imitation · 模仿點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declamation / depiction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Requiem (Missa pro defunctis)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bergerette · 單節 virelai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authentic cadence · 正格終止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Proper cycle · 專用經套曲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Tenorlied · 德文 tenor 歌曲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206240" cy="3931920"/>
          </a:xfrm>
          <a:prstGeom prst="rect">
            <a:avLst/>
          </a:prstGeom>
          <a:solidFill>
            <a:srgbClr val="2E2740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NAWM 精選聆聽 YouTube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261872"/>
            <a:ext cx="397764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· Busnoys · Je ne puis vivre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youtu.be/-hcvz1qvJwc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· Ockeghem · Missa prolationum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youtu.be/ZWLsLAujZzI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· Isaac · Puer natus 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youtu.be/Y2k88BgrFBY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· Isaac · Innsbruck ich muss...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youtu.be/Dk84ddXJ8tY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· Josquin · Faulte d'argent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youtu.be/WLkbxj85bKU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· Josquin · Mille regretz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youtu.be/1fSZ7sTYNTM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· Josquin · Ave Maria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youtu.be/scQ5YBRpwNg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· Josquin · Pange lingua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youtu.be/_zxnFVWZVcE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9: Franco-Flemish Composers, 1450-1520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