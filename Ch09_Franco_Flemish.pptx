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FRANCO-FLEMISH COMPOSERS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1450–1520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Ockeghem · Busnoys · Obrecht · Isaac · Josquin Desprez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180–204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30352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Change 政治變局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統一 1479 · Hapsburg 聯姻 · Charles V · 義大利戰爭 1494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" cy="530352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Ockeghem 奧克岡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1420–1497 · 法國王室禮拜堂 · Missa prolationum · 卡農大師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" cy="530352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Busnoys 布斯瓦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1430–1492 · Je ne puis vivre · 勃艮第宮廷 · V–I 終止式先驅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48640" cy="530352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 1480–1520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Obrecht · Isaac · 模仿對位普及 · 國際化樂風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0" cy="530352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Josquin Desprez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1450–1521 · 文藝復興最偉大 · text expression · 18+ 彌撒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548640" cy="530352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⛪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Masses on Borrowed Material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99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Cantus-firmus · Paraphrase · Imitation · 四種借材彌撒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政治變局：歐洲版圖重劃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Change &amp; the Rise of National Monarchies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🏰 新興王國 Emerging Kingdoms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1453 百年戰爭結束——法國收復大部分領土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1453 君士坦丁堡陷落——東羅馬帝國滅亡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1477 勃艮第 Charles the Bold 戰死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勃艮第公國分裂、大部分歸入 Hapsburg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1479 卡斯提爾 Isabella + 亞拉岡 Ferdinand 統一 Spain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1492 Spain 征服 Granada——收復失地運動完成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1492 Columbus 抵達美洲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⚜ Hapsburg &amp; 義大利戰爭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Hapsburg 的婚姻帝國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1478 Maximilian I 娶 Mary of Burgundy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其孫 Charles V (1519–1556 神聖羅馬皇帝)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同時統治 Spain、尼德蘭、奧地利、美洲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1494 義大利戰爭 Italian Wars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法王 Charles VIII 入侵義大利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法、西、神聖羅馬帝國長期爭奪義大利半島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義大利城邦文化外溢——隨軍音樂家往返南北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刺激印刷、出版業興盛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文化效應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北方（法蘭德斯）作曲家南下——義大利禮拜堂任職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音樂家成為國際商品——跨國職涯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Johannes Ockeghem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0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1420–1497 · 法國王室禮拜堂首席作曲家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EADFE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生平 Career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生於今比利時法蘭德斯區（可能在 Saint-Ghislain）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1443 在 Antwerp 大教堂擔任歌手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1446–1448 服侍 Bourbon 公爵 Charles 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1451 起進入法國王室禮拜堂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服侍 Charles VII、Louis XI、Charles VIII 三位國王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1453 升任禮拜堂首席（premier chapelain）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1459 獲授 Saint-Martin of Tours 司庫——顯赫俸祿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名聲遠播——Josquin 寫 motet《Nymphes des bois》悼念其逝世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EADFEC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🎼 作品總覽 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 首完整彌撒曲——是 Du Fay 之後最多者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首 Requiem——現存最早的複音安魂曲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首經文歌（motets）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餘首世俗香頌（chansons）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風格特徵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聲部線條綿長、呼吸錯落——避免齊句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喜好低音域——四部常延伸到男低音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各聲部節奏獨立、對位高度流動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神秘、沉思的氣質——與當時北方神秘主義共鳴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著名彌撒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Missa prolationum（mensuration canon 傑作）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Missa cuiusvis toni（可按任一調式演唱）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Missa De plus en plus（以 Binchois 香頌為 cantus firmus）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Ockeghem 的對位藝術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Canon, Mensuration &amp; Modal Ingenuity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Missa prolationum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「節拍比例彌撒」——中世紀以來最精巧的技術之作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四個聲部僅以兩行記譜——每行同時以兩種 mensuration 讀出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每樂章為一組 double mensuration canon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兩個卡農同時進行——兩對聲部以不同速度與時值展開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卡農音程逐樂章擴大：從 unison → 二度 → 三度…… → 八度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意義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展現作曲家對 ars perfecta 的終極掌握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同時保持流暢的對位與虔誠的宗教感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以技巧表達神學完美——聲音神學 theologia sonans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🎼 Missa cuiusvis toni &amp; 其他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Missa cuiusvis toni「可用任何調式之彌撒」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同一份樂譜可用 Dorian / Phrygian / Lydian / Mixolydian 任意演唱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只需更換 clef——旋律關係隨調式改變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同一作品產生四種不同的聲響世界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Requiem（Missa pro defunctis）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現存最早的複音安魂曲（可能早於 Du Fay 失傳版）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保留大量葛利果 chant——以 paraphrase 華麗化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風格總評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後世視 Ockeghem 為「對位魔法師」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Tinctoris 列入最具才華的現代作曲家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影響 Josquin、Obrecht、Pierre de la Rue 一整代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Antoine Busnoys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0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1430–1492 · 勃艮第末代香頌大師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F3E0E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生平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生於法蘭德斯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1461 起服侍 Burgundian 宮廷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服侍 Philip the Good、Charles the Bold 兩位公爵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1477 Charles the Bold 戰死後轉投 Hapsburg 宮廷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卒於 Bruges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創作總覽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部完整彌撒（含 Missa O crux lignum）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首經文歌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60+ 首世俗香頌——大多數為 rondeau 形式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風格介於 Ockeghem 流動對位 與 更現代的清晰旋律之間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F3E0E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Je ne puis vivre (NAWM 38)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「若非如此我不能活」——三聲部 virelai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結構：bergerette（單節 virelai）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上聲部主導旋律——下兩聲部伴奏性質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規律節奏、清晰樂句——與 Ockeghem 迥異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歷史意義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低音在終止式使用跳進四／五度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產生近代意義上的 V–I 終止感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成為後世 authentic cadence 的遠祖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可視為從中世紀終止式走向調性終止的關鍵一步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文本可能為 Busnoys 自撰——字首藏詩暗示 Jacqueline d'Hacqueville，一位宮廷女性——作曲家的戀慕對象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1480–1520 世代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Generation of 1480–1520 · Imitation Becomes the Norm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34440"/>
            <a:ext cx="4206240" cy="10972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07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Jacob Obrecht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307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1457/8–1505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58191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法蘭德斯 → 義大利 (Ferrara)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80136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彌撒 · Missa Fortuna desperata · 數學式架構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206240" cy="10972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075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Heinrich Isaac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0" y="1307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1450–1517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58191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法蘭德斯 → Florence → Maximilian 宮廷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80136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Choralis Constantinus · Innsbruck ich muss dich lassen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4206240" cy="10972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496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Josquin Desprez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24963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1450–1521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77063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法蘭德斯 → 米蘭 / 羅馬 / Ferrara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299008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彌撒 · Ave Maria · 文字表達革命者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4206240" cy="10972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496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Pierre de la Rue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0" y="24963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1452–1518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77063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Hapsburg-Burgundian Chapel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299008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低音偏好 · 30+ 彌撒 · 卡農技巧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611880"/>
            <a:ext cx="4206240" cy="10972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685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Alexander Agricola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08960" y="3685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1446–1506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39593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· Florence · Spanish Court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17880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綿長旋律線 · 接近 Ockeghem 晚期風格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611880"/>
            <a:ext cx="4206240" cy="10972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685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Loyset Compère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98080" y="3685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1445–1518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39593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→ 法國王室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4178808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新式 motet · motetti missales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Jacob Obrecht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0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1457/8–1505 · 結構宏大的彌撒建築師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EADFE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生平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生於 Ghent（根特）——父親為城市吹奏手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Utrecht、Cambrai、Bruges、Antwerp 主教座堂任職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1487 及 1504 兩度應邀至 Ferrara 宮廷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1505 於 Ferrara 因瘟疫過世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作品總覽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約 30 部彌撒——僅次於 Palestrina 的文藝復興產量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30+ 經文歌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30+ 世俗歌曲（法文、荷蘭文、義大利文）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 Gregorian chant、俗歌、器樂曲均曾取材作 cantus firmus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EADFEC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🎼 Missa Fortuna desperata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取自 Busnoys 同名義大利文香頌為 cantus firmus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技術特徵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四聲部——tenor 持 cantus firmus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每樂章重排 c.f. 的節奏與時值（拆解重組）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在其他三聲部中啟動「點狀模仿」(points of imitation)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短動機於各聲部依次陳述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段落分明、架構如建築般對稱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Obrecht 的貢獻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把模仿對位從偶然裝飾提升為整體結構原則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將 cantus-firmus 技術推向數學極限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 Josquin 的 imitation mass 鋪路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Heinrich Isaac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1450–1517 · 國際化的北方作曲家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Career Across Europe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生於法蘭德斯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1485–1496 Florence Medici 宮廷——與 Lorenzo il Magnifico 同時代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為卡內瓦爾歌曲、儀式樂配樂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1497 進入 Maximilian I 神聖羅馬宮廷——任 Hofkomponist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晚年 1514 退居 Florence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作品跨越拉丁、德文、義大利文、法文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國際名聲：Paul Hofhaimer 作詩云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「Harmoniae chorales cantorum principi」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（合唱和聲歌手之君）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🎼 代表作品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Choralis Constantinus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三冊巨型 Proper（專用經）合唱集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原為 Constance 主教座堂委託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涵蓋教會年的 Introit、Alleluia、Sequence、Communion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死後出版——對後世德語地區影響深遠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 natus est (NAWM 40)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聖誕日 Introit——四聲部 · paraphrase chant in tenor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Innsbruck, ich muss dich lassen (NAWM 41)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德語 Tenorlied · 四聲部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流行旋律——後成 Lutheran chorale 《O Welt, ich muss dich lassen》底本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被 Bach 引用於 St Matthew Passion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Josquin Desprez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0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1450–1521 · 文藝復興最偉大的作曲家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3611880"/>
          </a:xfrm>
          <a:prstGeom prst="rect">
            <a:avLst/>
          </a:prstGeom>
          <a:solidFill>
            <a:srgbClr val="F3E0E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生平與職涯 Career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1450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6276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生於 Condé-sur-l'Escaut 一帶（今法國北境）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6276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1475–1478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16276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服侍 René d'Anjou 於普羅旺斯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3865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1484–1489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386584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Sforza 宮廷——與 Ascanio Sforza 樞機主教合作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3865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1489–1495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2386584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羅馬教宗禮拜堂 Sistine Chapel 歌手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1501–1503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145536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可能服務法國王室 Louis XII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31455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1503–1504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3145536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Ferrara Ercole d'Este 宮廷——薪酬最高的作曲家之一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90448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1504–1521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4480" y="39044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退居故鄉 Condé，任 Collegiate Church 議事司鐸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390448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1521.8.27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39044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逝世於 Condé——生前已是整個歐洲的音樂偶像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Josquin 的經文歌與文字表達革命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Motets · Text Declamation · Text Depiction · Text Expression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🌹 Ave Maria...virgo serena (NAWM 44)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四聲部 motet——16 世紀初最著名的聖母頌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開頭：四聲部依次以 point of imitation 進入——S→A→T→B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每段經文對應不同織度：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同節奏 homorhythm 表示莊嚴祈求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成對二重唱 (duet pairs) 交替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卡農式走音展現謙卑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結尾轉為同節奏 O Mater Dei, memento mei——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以最簡單的和聲結束最複雜的經文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意義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被 Petrucci 置於 1502 年 Motetti A 首篇——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印刷時代的第一件經文歌作品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三種文字處理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Text Declamation 文字宣告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節奏對應自然言語重音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每個音節清晰可辨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Text Depiction 文字描繪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音樂形象呼應字詞具象意義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「上升」用上行音階；「下降」用下行音階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「嘆息」用短促休止；「哭泣」用半音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Text Expression 文字表達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音樂整體情緒對應文本情感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不是模仿字面——而是捕捉心境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Josquin 首次系統性運用——被 Glareanus 稱為「音樂中的 Virgil」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其他名作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Faulte d'argent (NAWM 42) · 五聲部卡農香頌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Mille regretz (NAWM 43) · 查理五世之愛歌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Josquin 的彌撒曲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0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18+ Masses · Four Great 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34440"/>
            <a:ext cx="4206240" cy="1691640"/>
          </a:xfrm>
          <a:prstGeom prst="rect">
            <a:avLst/>
          </a:prstGeom>
          <a:solidFill>
            <a:srgbClr val="EADFE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075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Missa Pange lingua (NAWM 45)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Paraphrase Mass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Pange lingua 聖體讚美詩為素材——旋律分解進入各聲部——成為 paraphrase mass 的典範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206240" cy="1691640"/>
          </a:xfrm>
          <a:prstGeom prst="rect">
            <a:avLst/>
          </a:prstGeom>
          <a:solidFill>
            <a:srgbClr val="EADFEC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3075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Missa L'homme armé super voces musicales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184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Cantus-firmus Mass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187452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L'homme armé 曲調依序置於六個六音音階位置（ut–la）——技巧高超的系統性建構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06240" cy="1691640"/>
          </a:xfrm>
          <a:prstGeom prst="rect">
            <a:avLst/>
          </a:prstGeom>
          <a:solidFill>
            <a:srgbClr val="EADFEC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906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Missa Hercules dux Ferrariae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40156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Soggetto cavato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65760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Ercole d'Este 大公名字的母音抽出「re-ut-re-ut-re-fa-mi-re」八音動機作主題——為 Ferrara 獻禮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206240" cy="1691640"/>
          </a:xfrm>
          <a:prstGeom prst="rect">
            <a:avLst/>
          </a:prstGeom>
          <a:solidFill>
            <a:srgbClr val="EADFEC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906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Missa Fortuna desperata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40156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Imitation / Parody 前身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365760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取用 Busnoys 同名香頌全部聲部——預示了日後的 imitation mass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以借材為基礎的四種彌撒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Types of Masses on Borrowed Material (Figure 9.5)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1828800" cy="713232"/>
          </a:xfrm>
          <a:prstGeom prst="rect">
            <a:avLst/>
          </a:prstGeom>
          <a:solidFill>
            <a:srgbClr val="4A2C5A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類型 Type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188720"/>
            <a:ext cx="2560320" cy="713232"/>
          </a:xfrm>
          <a:prstGeom prst="rect">
            <a:avLst/>
          </a:prstGeom>
          <a:solidFill>
            <a:srgbClr val="4A2C5A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18872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借材 Borrowing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2560320" cy="713232"/>
          </a:xfrm>
          <a:prstGeom prst="rect">
            <a:avLst/>
          </a:prstGeom>
          <a:solidFill>
            <a:srgbClr val="4A2C5A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 Technique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1188720"/>
            <a:ext cx="2011680" cy="713232"/>
          </a:xfrm>
          <a:prstGeom prst="rect">
            <a:avLst/>
          </a:prstGeom>
          <a:solidFill>
            <a:srgbClr val="4A2C5A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1887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代表 Example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901952"/>
            <a:ext cx="182880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01952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Cantus-firmus mass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1901952"/>
            <a:ext cx="256032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190195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 或俗歌的單一聲部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901952"/>
            <a:ext cx="256032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0195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置於 tenor，常以長音值出現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1901952"/>
            <a:ext cx="201168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90195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Fay Missa Se la face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615184"/>
            <a:ext cx="182880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15184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Cantus-firmus / imitation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03120" y="2615184"/>
            <a:ext cx="256032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261518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單一聲部 + 模仿擴散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615184"/>
            <a:ext cx="256032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61518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tenor 持 c.f.，同時動機貫穿各部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2615184"/>
            <a:ext cx="201168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61518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Obrecht Missa Fortuna desperata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328416"/>
            <a:ext cx="182880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328416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mass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03120" y="3328416"/>
            <a:ext cx="256032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332841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 旋律（單聲部）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328416"/>
            <a:ext cx="256032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32841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旋律華麗化、散布於所有聲部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23760" y="3328416"/>
            <a:ext cx="201168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33284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Josquin Missa Pange lingua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041648"/>
            <a:ext cx="182880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41648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Imitation / Parody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03120" y="4041648"/>
            <a:ext cx="256032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94560" y="404164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整首複音作品（全部聲部）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4041648"/>
            <a:ext cx="256032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04164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重用原作織度與動機全體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23760" y="4041648"/>
            <a:ext cx="2011680" cy="713232"/>
          </a:xfrm>
          <a:prstGeom prst="rect">
            <a:avLst/>
          </a:prstGeom>
          <a:solidFill>
            <a:srgbClr val="2E2740"/>
          </a:solidFill>
          <a:ln w="6350">
            <a:solidFill>
              <a:srgbClr val="C8A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404164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Févin Missa Ave Maria（首例）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2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時間軸 · Timeline &amp; Legacy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749808"/>
            <a:ext cx="4572000" cy="36576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926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9144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百年戰爭結束 · 君士坦丁堡陷落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6926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91440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the Bold 戰死 · 勃艮第瓦解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490472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5453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1490472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Ferdinand &amp; Isabella 統一 Spain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490472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5453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1450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1490472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Ockeghem 任法國王室禮拜堂歌手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066544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12140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2066544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抵達 Florence Medici 宮廷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066544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12140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2066544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Josquin 進入 Sistine Chapel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642616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6974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2642616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義大利戰爭爆發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642616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6974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2642616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Ockeghem 逝世 · Josquin 作輓歌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218688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2735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321868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Petrucci 出版 Odhecaton——第一部印刷複音集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218688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2735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23560" y="321868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Petrucci Motetti A 以 Ave Maria 開卷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794760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84962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34440" y="379476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Obrecht 於 Ferrara 瘟疫身亡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794760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384962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1517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23560" y="379476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逝世 · Luther 發表九十五條論綱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370832"/>
            <a:ext cx="868680" cy="475488"/>
          </a:xfrm>
          <a:prstGeom prst="rect">
            <a:avLst/>
          </a:prstGeom>
          <a:solidFill>
            <a:srgbClr val="4A2C5A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44256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34440" y="4370832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Josquin 逝世——文藝復興一代宗師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關鍵詞彙 · 延伸閱讀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&amp; Further Reading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Key Terms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mensuration canon · 節拍比例卡農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soggetto cavato dalle vocali · 母音抽字主題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paraphrase mass · 華飾彌撒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imitation mass (parody mass) · 模仿／戲擬彌撒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cantus-firmus–imitation mass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points of imitation · 模仿點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declamation / depiction / expression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Requiem (Missa pro defunctis)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bergerette · 單節 virelai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 cadence · 正格終止（前身）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 cycle · 專用經套曲 (Choralis Constantinus)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Tenorlied · 德文 tenor 歌曲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2E27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Further Reading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Fallows, David. Josquin (2009)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Sherr, ed. The Josquin Companion (2000)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Wegman. Born for the Muses: Obrecht (1994)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Picker. Henricus Isaac: A Guide (1991)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Planchart. Guillaume Du Fay (2018)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NAWM 精選聆聽 (YouTube)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38 · Busnoys · Je ne puis vivre  youtu.be/-hcvz1qvJwc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39 · Ockeghem · Missa prolationum Kyrie  youtu.be/ZWLsLAujZzI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 · Isaac · Puer natus est  youtu.be/Y2k88BgrFBY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 · Isaac · Innsbruck ich muss...  youtu.be/Dk84ddXJ8tY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 · Josquin · Faulte d'argent  youtu.be/WLkbxj85bKU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43 · Josquin · Mille regretz  youtu.be/1fSZ7sTYNTM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44 · Josquin · Ave Maria  youtu.be/scQ5YBRpwNg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45 · Josquin · Pange lingua Kyrie  youtu.be/_zxnFVWZVcE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Franco-Flemish Composers, 1450-1520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2026-04-11T14:24:38Z</dcterms:created>
  <dcterms:modified xsi:type="dcterms:W3CDTF">2026-04-11T14:24:38Z</dcterms:modified>
</cp:coreProperties>
</file>