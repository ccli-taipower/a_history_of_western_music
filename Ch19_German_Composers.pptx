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D4A03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300" kern="0" dirty="0">
                <a:solidFill>
                  <a:srgbClr val="E8D8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HISTORY OF WESTERN MUSIC · TENTH EDITION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600" kern="0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19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8595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GERMAN COMPOSERS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THE LATE BAROQUE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286000" y="3200400"/>
            <a:ext cx="4572000" cy="36576"/>
          </a:xfrm>
          <a:prstGeom prst="rect">
            <a:avLst/>
          </a:prstGeom>
          <a:solidFill>
            <a:srgbClr val="D4A03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383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D8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Telemann · J. S. Bach · Handel · Mixed Taste · Synthesis of Styles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pp. 424–453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本章概覽 Chapter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E8D8B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60120"/>
            <a:ext cx="502920" cy="50292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960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音樂背景 Contexts for Music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216152"/>
            <a:ext cx="7680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日耳曼諸邦、路德教會傳統、Collegium musicum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627632"/>
            <a:ext cx="502920" cy="50292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627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■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162763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泰雷曼 Georg Philipp Telemann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1883664"/>
            <a:ext cx="7680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最多產的巴洛克作曲家，融合多國風格的「混合品味」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295144"/>
            <a:ext cx="502920" cy="50292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2951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■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05840" y="229514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巴赫：生平與管風琴 J. S. Bach: Life &amp; Organ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551176"/>
            <a:ext cx="7680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威瑪、科騰、萊比錫三大時期；聖詠前奏曲、托卡塔與賦格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2962656"/>
            <a:ext cx="502920" cy="50292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9626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■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05840" y="296265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巴赫：鍵盤與聲樂 Bach: Keyboard &amp; Vocal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218688"/>
            <a:ext cx="7680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平均律、清唱劇、受難曲、B小調彌撒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3630168"/>
            <a:ext cx="502920" cy="50292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630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■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05840" y="363016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韓德爾：歌劇與神劇 Handel: Opera &amp; Oratorio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3886200"/>
            <a:ext cx="7680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義大利歌劇在倫敦、英語神劇《彌賽亞》《掃羅》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4297680"/>
            <a:ext cx="502920" cy="50292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■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05840" y="4297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持久遺產 An Enduring Legacy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5840" y="4553712"/>
            <a:ext cx="7680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巴赫與韓德爾的歷史地位與後世影響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4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音樂背景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Contexts for Music in German-Speaking Lands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685800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諸邦 States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468880" y="100584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德語區分為數百政治實體：奧地利、薩克森、布蘭登堡-普魯士及小邦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68880" y="1353312"/>
            <a:ext cx="621792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entities: Austria, Saxony, Brandenburg-Prussia, principalities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783080"/>
            <a:ext cx="8595360" cy="685800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830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教會 Church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68880" y="178308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路德教會城鎮由市議會聘音樂總監；教會是音樂演出核心場域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68880" y="2130552"/>
            <a:ext cx="621792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Lutheran councils hired music directors; church was the central venue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560320"/>
            <a:ext cx="8595360" cy="685800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5603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貴族 Patrons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68880" y="256032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腓特烈大帝（長笛家）、貴族業餘音樂家眾多，效仿路易十四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68880" y="2907792"/>
            <a:ext cx="621792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Frederick the Great (flutist); aristocrats emulated Louis XIV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3337560"/>
            <a:ext cx="8595360" cy="685800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337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英國 England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468880" y="333756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宮廷薪酬低，音樂家需兼職；倫敦公共音樂會蓬勃發展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468880" y="3685032"/>
            <a:ext cx="621792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court salaries; London public concerts flourished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" y="4114800"/>
            <a:ext cx="8595360" cy="685800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1148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出版 Publishing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468880" y="411480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作曲家靠出版補充收入，但版稅概念尚未形成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468880" y="4462272"/>
            <a:ext cx="621792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income from publishing, but no royalty system existed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泰雷曼 Georg Philipp Telemann (1681–1767)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0" y="713232"/>
            <a:ext cx="4572000" cy="27432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6868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同代人推崇的最佳作曲家之一，作品超過三千首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融合波蘭、法國、義大利風格，確立「混合品味」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 部歌劇、46 部受難曲、千首清唱劇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在漢堡自行出版，創辦首份音樂期刊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生前比巴赫更受歡迎，偏好相對簡潔的風格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120640" y="868680"/>
            <a:ext cx="3749040" cy="384048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0" y="914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Paris Quartets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0" y="1280160"/>
            <a:ext cx="33832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 首四重奏（1730 &amp; 1738）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長笛、小提琴、古中提琴 + 數字低音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中提琴獨立於數字低音，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與獨奏平等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第一集混合義大利協奏曲、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德國奏鳴曲、法國組曲各二首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各體裁內亦融合跨國元素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4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101 泰雷曼《巴黎四重奏》第一號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Telemann: Paris Quartet No. 1 — Concerto primo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06240" cy="3931920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樂曲結構 Structure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Presto 急板：利都奈羅形式，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義大利協奏曲風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三件旋律樂器平等交替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慢樂章：短小，連接急板與快板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Allegro 快板：吉格舞曲節奏，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法式迴旋曲形式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可逆對位法處理三條旋律線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Presto = ritornello form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Allegro = French rondeau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義、德、法三國風格融於一曲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206240" cy="3931920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風格特色 Style Features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28016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對比織體：利都奈羅段 vs. 獨奏段交替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五度循環進行、清晰調性結構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小提琴風格的音型，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展現韋瓦第影響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德國對位法為骨幹，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融入法義裝飾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巴赫生平 Johann Sebastian Bach (1685–1750)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0" y="713232"/>
            <a:ext cx="4572000" cy="27432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68680"/>
            <a:ext cx="2057400" cy="393192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144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早年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1685–1708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1874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出生於艾森納赫音樂世家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呂訥堡求學，接觸法國風格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880" y="868680"/>
            <a:ext cx="2057400" cy="3931920"/>
          </a:xfrm>
          <a:prstGeom prst="rect">
            <a:avLst/>
          </a:prstGeom>
          <a:solidFill>
            <a:srgbClr val="3A4A6A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9144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威瑪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1708–1717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0" y="1645920"/>
            <a:ext cx="1874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宮廷管風琴師→樂長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改編韋瓦第協奏曲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868680"/>
            <a:ext cx="2057400" cy="393192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9144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科騰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1717–1723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1645920"/>
            <a:ext cx="1874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宮廷樂長，專注器樂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布蘭登堡、無伴奏、平均律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0" y="868680"/>
            <a:ext cx="2057400" cy="3931920"/>
          </a:xfrm>
          <a:prstGeom prst="rect">
            <a:avLst/>
          </a:prstGeom>
          <a:solidFill>
            <a:srgbClr val="3A4A6A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9144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萊比錫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1723–1750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49440" y="1645920"/>
            <a:ext cx="1874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聖湯瑪斯領唱，管四座教堂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清唱劇、受難曲、B小調彌撒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4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巴赫：管風琴作品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Preludes, Fugues &amp; Chorale Settings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06240" cy="3931920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前奏曲與賦格 Preludes &amp; Fugues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布克斯特胡德開創自由幻想曲 + 賦格交替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巴赫確立「前奏曲＋賦格」標準組合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A小調 BWV 543（NAWM 102）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前奏曲：托卡塔段與小提琴風格音型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賦格：類協奏曲快板，利都奈羅式結構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韋瓦第影響：簡潔主題、和聲進行、五度圈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206240" cy="3931920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聖詠前奏曲 Chorale Settings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28016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200+ 聖詠前奏曲，各種類型變化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《管風琴小品集》Orgelbüchlein（威瑪）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45 首短聖詠前奏曲，兼具教學目的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Durch Adams Fall BWV 637（NAWM 103）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上聲部：聖詠旋律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低音：大跳＝亞當墮落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中音部：半音線＝蛇的誘惑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次中音：下滑＝罪惡哀傷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Word-painting in every voice!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晚期作品更宏大，概括表達取代細節描繪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巴赫：鍵盤音樂 Bach: Keyboard Works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0" y="713232"/>
            <a:ext cx="4572000" cy="27432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組曲與變奏 Suites &amp; Variations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英國組曲、法國組曲及 Partitas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名稱非指國籍，皆融合法義德風格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標準四舞曲：阿勒曼德、庫朗特、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薩拉班德、吉格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Goldberg Variations (1741)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30 段變奏，每三段含一首卡農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晚期：《音樂獻禮》(1747)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＆《賦格的藝術》(1740s)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868680"/>
            <a:ext cx="3931920" cy="393192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914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平均律鍵盤曲集 WTC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1280160"/>
            <a:ext cx="35661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兩冊（1722 &amp; ca.1740），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各含 24 首前奏曲與賦格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涵蓋所有大小調（C 到 B）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展示近平均律調音系統的可能性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前奏曲：各含一項技巧或風格練習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賦格：2–5 聲部，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從古老 ricercare 到韋瓦第風格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NAWM 105：升 D 小調賦格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展示倒影、增值、密接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4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巴赫：聲樂作品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Cantatas, Passions &amp; Mass in B Minor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06240" cy="3931920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清唱劇與受難曲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約 200 首教會 + 20 首世俗清唱劇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1723–1729 完成至少三個完整年度循環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（各 ~60 首）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結合聖詠、宣敘調/詠嘆調、合唱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受難曲 Passions：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《約翰受難曲》(1724)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與《馬太受難曲》(1727)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男高音演唱福音書敘事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聖詠穿插反映會眾情感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206240" cy="3931920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小調彌撒 ＋ 藝術綜合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28016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唯一完整天主教彌撒常規曲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1747–49 編纂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大量改編自先前清唱劇樂章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1733 先呈 Kyrie &amp; Gloria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給薩克森選侯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新作混用 stile antico 與現代風格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生前從未完整演出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巴赫的藝術綜合：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融合和聲與對位的衝突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將所有時代風格吸收、發展至極致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選曲分析 Bach Works Analysis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0" y="713232"/>
            <a:ext cx="4572000" cy="27432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868680"/>
            <a:ext cx="1188720" cy="713232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68680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102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91640" y="868680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前奏曲與賦格 A 小調 BWV 543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86868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前奏曲：托卡塔段與協奏曲獨奏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賦格主題如小提琴，利都奈羅結構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673352"/>
            <a:ext cx="1188720" cy="713232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673352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103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1673352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聖詠前奏曲《因亞當墮落》BWV 637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673352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四聲部各以音型象徵歌詞意象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低音大跳＝墮落，半音線＝蛇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478024"/>
            <a:ext cx="1188720" cy="713232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478024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104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91640" y="2478024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清唱劇 BWV 62 第一樂章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2478024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聖詠定旋律 + 協奏曲利都奈羅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混合古老 cantus firmus 與現代風格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282696"/>
            <a:ext cx="1188720" cy="713232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282696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105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91640" y="3282696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平均律 I：升 D 小調賦格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3282696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展示倒影、增值、密接等賦格技法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4087368"/>
            <a:ext cx="1188720" cy="713232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4087368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106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91640" y="4087368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布蘭登堡協奏曲第五號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4087368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大鍵琴華彩段開創鍵盤協奏曲先河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4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巴赫：管弦樂與室內樂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Brandenburg Concertos &amp; Chamber Music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06240" cy="3931920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布蘭登堡協奏曲 Brandenburg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1721 年獻給布蘭登堡侯爵，共六首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採義大利三樂章形式：快—慢—快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第 3、6 號：多聲部弦樂 + 數字低音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其餘以不同獨奏樂器組合對抗樂隊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第 5 號：大鍵琴驚人的長華彩段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首開鍵盤協奏曲之先河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利都奈羅素材擴展至樂章各段落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206240" cy="3931920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室內樂與管弦樂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28016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首獨奏小提琴奏鳴曲與組曲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6 首大提琴無伴奏組曲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無伴奏作品以和聲與對位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在單一樂器上製造幻象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 首大鍵琴奏鳴曲（小提琴/長笛）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多為教堂奏鳴曲四樂章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首管弦組曲：法式序曲 + 義大利風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Collegium musicum（1729 起）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指揮大學生樂團演出協奏曲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韓德爾生平 George Frideric Handel (1685–1759)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0" y="713232"/>
            <a:ext cx="4572000" cy="27432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68680"/>
            <a:ext cx="2697480" cy="393192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144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德國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1685–1706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2514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哈勒出生，隨扎霍學習管風琴與作曲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1705：首部歌劇《阿爾米拉》漢堡首演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54680" y="868680"/>
            <a:ext cx="2697480" cy="3931920"/>
          </a:xfrm>
          <a:prstGeom prst="rect">
            <a:avLst/>
          </a:prstGeom>
          <a:solidFill>
            <a:srgbClr val="3A4A6A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9144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義大利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1706–1710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46120" y="1645920"/>
            <a:ext cx="2514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結識梅迪奇王子、魯斯波利侯爵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義大利清唱劇、歌劇、教會音樂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868680"/>
            <a:ext cx="2697480" cy="393192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9144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GB 英國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1710–1759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1645920"/>
            <a:ext cx="2514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1711《里納爾多》轟動倫敦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皇室資助：安妮女王→喬治一世→二世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1727 入英國籍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4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韓德爾：歌劇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Handel: Italian Opera in London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06240" cy="3931920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皇家音樂學院 Royal Academy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1718–19：60 位富紳合資成立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義大利歌劇團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韓德爾任音樂總監，赴德國招募歌手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閹伶塞內西諾為最大牌明星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代表作：Radamisto (1720),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Giulio Cesare (1724), Rodelinda (1725)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題材：羅馬英雄、十字軍、奇幻冒險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1729 學院因財務壓力解散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韓德爾自組新團，但競爭對手出現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206240" cy="3931920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歌劇風格 Operatic Style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28016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國際風格融合：法式序曲 +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義大利詠嘆調 + 德國對位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Secco 乾宣敘調：數字低音伴奏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Accompagnato：管弦樂伴奏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 capo 詠嘆調種類豐富：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花腔、悲歌、田園、進行曲風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場景複合體打破靜態詠嘆調框架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NAWM 107: Giulio Cesare Act II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克麗奧佩脫拉 V'adoro pupille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法國薩拉班德 + 義大利 da capo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韓德爾：神劇與器樂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4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Handel: Oratorio &amp; Instrumental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英語神劇 English Oratorio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1730s 韓德爾轉向英語神劇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首部 Esther (1718/1732)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Saul (1739)：融合歌劇宣敘調、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詠嘆調與合唱（NAWM 108）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Messiah (1741)：最著名作品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非敘事而是沉思默想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合唱為核心創新：參與、敘事、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評論如希臘悲劇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不需舞台布景，吸引中產階級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914400"/>
            <a:ext cx="3931920" cy="384048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960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器樂作品 Instrumental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132588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鍵盤組曲兩集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~20 獨奏奏鳴曲 + ~20 三重奏鳴曲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柯雷利影響，快樂章更華麗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Water Music (1717)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泰晤士河上為國王演奏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Music for Royal Fireworks (1749)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 首大協奏曲 Op. 6 (1739)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採柯雷利教堂奏鳴曲模式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首創管風琴協奏曲（神劇中場）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4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重要術語與 NAWM 聆聽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Terms &amp; NAWM Listening Guide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06240" cy="3931920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重要術語 Key Terms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Mixed taste 混合品味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Collegium musicum 大學音樂社團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Chorale prelude 聖詠前奏曲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Orgelbüchlein 管風琴小品集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Well-Tempered Clavier 平均律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Cantata 清唱劇（教會/世俗）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Passion 受難曲（約翰/馬太）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Fore-imitation 先行模仿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 capo aria 返始詠嘆調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Scene complex 場景複合體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Recitativo secco / accompagnato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Stile antico 古風格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Borrowing 借用（改編與仿作）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206240" cy="3931920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NAWM 聆聽 Listening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28016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Telemann Paris Quartet No.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youtube.com/watch?v=Dh2vPuqXw84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 Bach Prelude &amp; Fugue A min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youtube.com/watch?v=_xhThihIIC4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 Bach Durch Adams Fall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youtube.com/watch?v=Z8Dpe0gjesg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Bach Cantata BWV 62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youtube.com/watch?v=7oj63klgeEg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 Bach Brandenburg No. 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youtube.com/watch?v=LHjbRMIIhuM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 Handel Giulio Cesare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youtube.com/watch?v=xRImsDQbaYY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Handel Saul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youtube.com/watch?v=jQ9lz1fDkug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19: German Composers of the Late Baroque</dc:title>
  <dc:subject>PptxGenJS Presentation</dc:subject>
  <dc:creator>A History of Western Music, 10th ed.</dc:creator>
  <cp:lastModifiedBy>A History of Western Music, 10th ed.</cp:lastModifiedBy>
  <cp:revision>1</cp:revision>
  <dcterms:created xsi:type="dcterms:W3CDTF">2026-04-17T23:26:14Z</dcterms:created>
  <dcterms:modified xsi:type="dcterms:W3CDTF">2026-04-17T23:26:14Z</dcterms:modified>
</cp:coreProperties>
</file>