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bt8KaCIGBE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LUvJmIcp7z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MIadFIEB1c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v_Se1XVkOi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WjrNblgYAh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bt8KaCIGBEk" TargetMode="External"/><Relationship Id="rId2" Type="http://schemas.openxmlformats.org/officeDocument/2006/relationships/hyperlink" Target="https://www.youtube.com/watch?v=LUvJmIcp7z0" TargetMode="External"/><Relationship Id="rId3" Type="http://schemas.openxmlformats.org/officeDocument/2006/relationships/hyperlink" Target="https://www.youtube.com/watch?v=MIadFIEB1cg" TargetMode="External"/><Relationship Id="rId4" Type="http://schemas.openxmlformats.org/officeDocument/2006/relationships/hyperlink" Target="https://www.youtube.com/watch?v=v_Se1XVkOiU" TargetMode="External"/><Relationship Id="rId5" Type="http://schemas.openxmlformats.org/officeDocument/2006/relationships/hyperlink" Target="https://www.youtube.com/watch?v=WjrNblgYAhw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8595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INVENTION OF OPERA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歌劇的誕生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520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 · Caccini · Monteverdi · Cavalli · Cesti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302–325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歌劇前身：Intermedio 與田園劇 Pastoral Drama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Florentine Camerata 與希臘復興理念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Peri《Euridice》— 最早存世的完整歌劇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Monteverdi《L'Orfeo》— 歌劇的突破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威尼斯公共歌劇院 (1637) 與商業化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Aria vs Recitative 的發展與定型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歌劇的前身 Precursors to Opera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Intermedio · Pastoral Drama · Monody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 幕間劇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戲劇幕間的音樂娛樂，含歌唱、舞蹈、奇觀佈景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1589 年佛羅倫斯婚禮盛大 intermedi 最具影響力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 Drama 田園劇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以神話牧歌為題材的舞台劇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含合唱、獨唱段落 → 歌劇的直接先驅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佛羅倫斯同好會 Florentine Camerata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C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復興古希臘音樂的理想 Reviving Greek Music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Giovanni de' Bardi 伯爵府上的知識分子聚會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Vincenzo Galilei《古今音樂對話》(1581) 批判對位法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主張：古希臘人以單聲旋律 (monody) 感動聽者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目標：用歌唱模仿「說話」— 旋律應追隨語言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這個理念直接催生了 recitative 宣敘調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首批歌劇 The First Operas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Jacopo Peri (1561–1633)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《Dafne》(1598) — 最早的歌劇（樂譜已佚）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Rinuccini 作詞、Peri (&amp; Corsi) 作曲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《L'Euridice》(1600) — 最早完整存世的歌劇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為法國國王亨利四世婚禮慶典演出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Caccini 也為同劇本譜曲 → 兩版並存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Peri 版更適合戲劇表達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 的宣敘調風格 Recitative Style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C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"介於歌唱與說話之間" — halfway between speech and song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援引古希臘「diastematic motion」理論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持續低音固定和聲 → 歌聲自由地穿越協和與不協和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重音音節落在協和音上、經過音可不協和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兩種模式：敘事性宣敘調 vs 抒情性宣敘調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融合了牧歌、詠嘆調、田園劇的傳統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77 — Peri《Euridice》選段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&amp; Expressive Recitative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Tirsi 的詠嘆調 (strophic aria)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以 sinfonia 引入 → ritornello 反覆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節奏活潑如 canzonetta 舞曲風格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Dafne 報告死訊 — 敘事性宣敘調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無固定節奏、無旋律型態 → 純語言節奏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Orfeo 哀歌 — 抒情性宣敘調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休止符表達驚愕、不協和表現悲痛</a:t>
            </a:r>
            <a:endParaRPr lang="en-US" sz="19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https://www.youtube.com/watch?v=bt8KaCIGBEk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蒙台威爾第 Claudio Monteverdi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C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1567–1643 · 歌劇藝術的奠基者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生於 Cremona · 少年即出版聲樂作品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1590 入 Mantua 宮廷 → 1601 任宮廷教堂主管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1613 任威尼斯聖馬可教堂樂長（至去世）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出版九冊牧歌集：從文藝復興到巴洛克的轉型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三部存世歌劇：L'Orfeo, Il ritorno d'Ulisse,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L'incoronazione di Poppea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蒙台威爾第《奧菲歐》L'Orfeo (1607)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Mantua · Libretto: Alessandro Striggio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五幕結構 · 每幕以 Orfeo 歌聲為中心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希臘悲劇式合唱團 · 開場與結尾呼應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豐富的器樂編制：木管銅管弦樂管風琴豎琴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Strophic variation 分節變奏手法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比 Peri 更多樣的風格：從歌唱到痛苦的宣敘調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《L'Orfeo》五幕結構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3840480"/>
          </a:xfrm>
          <a:prstGeom prst="rect">
            <a:avLst>
              <a:gd name="adj" fmla="val 2381"/>
            </a:avLst>
          </a:prstGeom>
          <a:solidFill>
            <a:srgbClr val="E8D8A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0"/>
            <a:ext cx="3886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Music 女神以分節變奏詠唱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— 婚禮慶典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靜態拱形結構 · 合唱+牧歌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— 喜轉悲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使者報噩耗 · Tu se' morta 哀歌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3840480"/>
          </a:xfrm>
          <a:prstGeom prst="rect">
            <a:avLst>
              <a:gd name="adj" fmla="val 2381"/>
            </a:avLst>
          </a:prstGeom>
          <a:solidFill>
            <a:srgbClr val="E8D8A8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97280"/>
            <a:ext cx="3886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— 冥界入口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Possente spirto 炫技唱段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— 回望失敗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Orfeo 回頭 · 再失 Euridice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— 升天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Apollo 攜子升天 · 合唱結尾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78a — Possente spirto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L'Orfeo Act III · Orfeo 懇求冥河船夫 Caronte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Strophic variation：每一節旋律不同但和聲相近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前四節寫出華麗裝飾奏 (ornamental version)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展示 Orfeo 超凡歌藝 → 說服冥界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器樂 obbligato 對話：小提琴、短號、豎琴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最後轉為樸素的宣敘調 → 真情流露</a:t>
            </a:r>
            <a:endParaRPr lang="en-US" sz="2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https://www.youtube.com/watch?v=LUvJmIcp7z0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78b — Tu se' morta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C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L'Orfeo Act II · Orfeo 的哀歌 Lament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抒情性宣敘調的巔峰之作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每一句音樂層層遞進 · 情感逐步升高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不協和音對持續和弦：表現 Orfeo 苦澀的感受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 大調→ G 小調：他仍活著而她已死去的諷刺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遠超 Peri 的單聲實驗 → 真正的戲劇抒情</a:t>
            </a:r>
            <a:endParaRPr lang="en-US" sz="2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6C20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https://www.youtube.com/watch?v=MIadFIEB1cg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歌劇的傳播 Florence → Rome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Gagliano · Francesca Caccini · Roman Opera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Gagliano 新版《Dafne》(1608) 廣受好評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Francesca Caccini《La liberazione di Ruggiero》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(1625) — 女性作曲家的重要歌劇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1620s 羅馬：Barberini 家族贊助歌劇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羅馬歌劇發展出 arioso（半詠嘆調）</a:t>
            </a:r>
            <a:endParaRPr lang="en-US" sz="2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女性禁演 → castrati 閹伶登場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威尼斯公共歌劇 Public Opera in Venice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C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Teatro San Cassiano (1637) — 歷史性的轉變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1637 第一座公共歌劇院開幕 · 售票入場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Carnival 嘉年華季節演出 → 吸引各階層觀眾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至 1678 年威尼斯已有九座歌劇院競爭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Impresario 經紀人制度：雇用作曲家與歌手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歌劇從貴族私人娛樂 → 商業化公眾藝術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威尼斯歌劇的慣例 Venetian Conventions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三幕結構（取代早期五幕）+ 序幕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題材：神話、史詩、歷史 — 含戲劇衝突與奇觀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 donna / Primo uomo 明星制度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詠嘆調數量增至 50-60 首 · 合唱大幅減少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Recitative: versi sciolti（自由詩）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Aria: 規律韻律的押韻詩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經紀人與歌劇天后 Impresario &amp; Diva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Impresario 相當於現代製作人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管理劇院、僱用全部人員、承擔盈虧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Diva 現象始於 Anna Renzi (1640s)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歌手比作曲家更有票房號召力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歌手薪酬可達作曲家的 2-6 倍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 donna 影響劇本與角色創作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《波佩雅的加冕》L'incoronazione di Poppea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Monteverdi · Venice 1643 · 常被視為其最高傑作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歷史題材：羅馬暴君 Nero 與情婦 Poppea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為商業劇院而寫 → 編制精簡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（大鍵琴+低音提琴+兩把小提琴）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風格多變：宣敘調、詠嘆調、arioso 交替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人物刻畫與情感深度超越《Orfeo》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79 — Pur ti miro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C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L'incoronazione di Poppea · 終曲二重唱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Nero 與 Poppea 的愛情二重唱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抒情三拍子 · 旋律優美而甜蜜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聲部交織 → 象徵兩人結合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歌劇史上最著名的終曲之一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學者爭議：可能非 Monteverdi 親筆</a:t>
            </a:r>
            <a:endParaRPr lang="en-US" sz="2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https://www.youtube.com/watch?v=v_Se1XVkOiU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卡瓦利 Francesco Cavalli (1602–1676)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威尼斯歌劇的第一人 Leading Venetian Opera Composer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Monteverdi 的學生 · 聖馬可管風琴師→樂長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1639–1673 作近 30 部歌劇 · 最成功的歌劇作曲家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與劇作家 Faustini 合作確立威尼斯歌劇慣例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音樂特色：宣敘調捕捉語言情感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詠嘆調以三拍子優雅旋律見長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切斯提與《Orontea》Cesti &amp; NAWM 80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C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Antonio Cesti (1623–1669) · Innsbruck Opera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Innsbruck Tyrol 宮廷 · 義大利歌劇走向國際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《Orontea》(1656) 是 17 世紀最常上演的歌劇之一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義大利歌劇傳播至維也納、巴黎、英國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NAWM 80: Intorno all'idol mio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優美的搖籃曲式詠嘆調 · 旋律流暢</a:t>
            </a:r>
            <a:endParaRPr lang="en-US" sz="2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https://www.youtube.com/watch?v=WjrNblgYAhw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詠嘆調 vs 宣敘調的演化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 vs Recitative — How they differentiated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71600"/>
            <a:ext cx="4160520" cy="3474720"/>
          </a:xfrm>
          <a:prstGeom prst="rect">
            <a:avLst>
              <a:gd name="adj" fmla="val 2632"/>
            </a:avLst>
          </a:prstGeom>
          <a:solidFill>
            <a:srgbClr val="3A1F3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630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Recitative 宣敘調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推動劇情、對話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自由節奏 · 追隨語言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 sciolti 自由詩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和聲簡單 · 音節式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160520" cy="3474720"/>
          </a:xfrm>
          <a:prstGeom prst="rect">
            <a:avLst>
              <a:gd name="adj" fmla="val 2632"/>
            </a:avLst>
          </a:prstGeom>
          <a:solidFill>
            <a:srgbClr val="3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630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 詠嘆調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抒發情感、反思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規律節拍 · 常為三拍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押韻定型詩行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旋律性強 · 流暢優美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6C20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戰鬥與激情風格 Stile Concitato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C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Combattimento di Tancredi e Clorinda (1624)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Tasso《耶路撒冷的解放》中的戰鬥場面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結合敘事者（男高音）、角色演唱與啞劇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Stile concitato 激情風格：快速反覆同音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弦樂 tremolo 技法的先驅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Monteverdi 最具創新性的戲劇實驗之一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歌劇誕生年表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1097280" cy="365760"/>
          </a:xfrm>
          <a:prstGeom prst="rect">
            <a:avLst>
              <a:gd name="adj" fmla="val 12500"/>
            </a:avLst>
          </a:prstGeom>
          <a:solidFill>
            <a:srgbClr val="7D3C9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1573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960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Florentine Camerata 成立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399032"/>
            <a:ext cx="1097280" cy="365760"/>
          </a:xfrm>
          <a:prstGeom prst="rect">
            <a:avLst>
              <a:gd name="adj" fmla="val 12500"/>
            </a:avLst>
          </a:prstGeom>
          <a:solidFill>
            <a:srgbClr val="7D3C9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990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3990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Peri《Dafne》首演（樂譜已佚）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1837944"/>
            <a:ext cx="1097280" cy="365760"/>
          </a:xfrm>
          <a:prstGeom prst="rect">
            <a:avLst>
              <a:gd name="adj" fmla="val 12500"/>
            </a:avLst>
          </a:prstGeom>
          <a:solidFill>
            <a:srgbClr val="7D3C9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3794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18379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 &amp; Caccini《Euridice》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2276856"/>
            <a:ext cx="1097280" cy="365760"/>
          </a:xfrm>
          <a:prstGeom prst="rect">
            <a:avLst>
              <a:gd name="adj" fmla="val 12500"/>
            </a:avLst>
          </a:prstGeom>
          <a:solidFill>
            <a:srgbClr val="7D3C9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768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27685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Monteverdi《L'Orfeo》· Mantua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2715768"/>
            <a:ext cx="1097280" cy="365760"/>
          </a:xfrm>
          <a:prstGeom prst="rect">
            <a:avLst>
              <a:gd name="adj" fmla="val 12500"/>
            </a:avLst>
          </a:prstGeom>
          <a:solidFill>
            <a:srgbClr val="7D3C9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7157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27157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Monteverdi《Combattimento》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1097280" cy="365760"/>
          </a:xfrm>
          <a:prstGeom prst="rect">
            <a:avLst>
              <a:gd name="adj" fmla="val 12500"/>
            </a:avLst>
          </a:prstGeom>
          <a:solidFill>
            <a:srgbClr val="7D3C9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3154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Caccini《La liberazione di Ruggiero》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3593592"/>
            <a:ext cx="1097280" cy="365760"/>
          </a:xfrm>
          <a:prstGeom prst="rect">
            <a:avLst>
              <a:gd name="adj" fmla="val 12500"/>
            </a:avLst>
          </a:prstGeom>
          <a:solidFill>
            <a:srgbClr val="7D3C9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5935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359359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威尼斯第一座公共歌劇院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5760" y="4032504"/>
            <a:ext cx="1097280" cy="365760"/>
          </a:xfrm>
          <a:prstGeom prst="rect">
            <a:avLst>
              <a:gd name="adj" fmla="val 12500"/>
            </a:avLst>
          </a:prstGeom>
          <a:solidFill>
            <a:srgbClr val="7D3C9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03250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1643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45920" y="40325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Monteverdi《L'incoronazione di Poppea》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5760" y="4471416"/>
            <a:ext cx="1097280" cy="365760"/>
          </a:xfrm>
          <a:prstGeom prst="rect">
            <a:avLst>
              <a:gd name="adj" fmla="val 12500"/>
            </a:avLst>
          </a:prstGeom>
          <a:solidFill>
            <a:srgbClr val="7D3C9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4714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45920" y="447141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Cesti《Orontea》· Innsbruck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B2C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核心術語 Key Terms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Recitative 宣敘調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模仿語言的歌唱風格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詠嘆調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抒情歌唱段落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Arioso 半詠嘆調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介於宣敘調與詠嘆調之間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Strophic variation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分節變奏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Ritornello 反覆奏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器樂反覆的間奏段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Sinfonia 序曲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器樂前奏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Castrato 閹伶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為保高音而閹割的歌手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Impresario 經紀人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歌劇製作人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聆聽指南 NAWM Listening Guide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685800"/>
          </a:xfrm>
          <a:prstGeom prst="rect">
            <a:avLst>
              <a:gd name="adj" fmla="val 10667"/>
            </a:avLst>
          </a:prstGeom>
          <a:solidFill>
            <a:srgbClr val="3A1F3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 · Euridice 選段</a:t>
            </a:r>
            <a:endParaRPr lang="en-US" sz="18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685800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8412480" cy="685800"/>
          </a:xfrm>
          <a:prstGeom prst="rect">
            <a:avLst>
              <a:gd name="adj" fmla="val 10667"/>
            </a:avLst>
          </a:prstGeom>
          <a:solidFill>
            <a:srgbClr val="3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78a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21305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 · Possente spirto</a:t>
            </a:r>
            <a:endParaRPr lang="en-US" sz="18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68580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685800"/>
          </a:xfrm>
          <a:prstGeom prst="rect">
            <a:avLst>
              <a:gd name="adj" fmla="val 10667"/>
            </a:avLst>
          </a:prstGeom>
          <a:solidFill>
            <a:srgbClr val="3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78b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" y="2907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 · Tu se' morta</a:t>
            </a:r>
            <a:endParaRPr lang="en-US" sz="180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685800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8412480" cy="685800"/>
          </a:xfrm>
          <a:prstGeom prst="rect">
            <a:avLst>
              <a:gd name="adj" fmla="val 10667"/>
            </a:avLst>
          </a:prstGeom>
          <a:solidFill>
            <a:srgbClr val="3A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79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3685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 · Pur ti miro</a:t>
            </a:r>
            <a:endParaRPr lang="en-US" sz="1800" dirty="0"/>
          </a:p>
        </p:txBody>
      </p:sp>
      <p:sp>
        <p:nvSpPr>
          <p:cNvPr id="21" name="Text 19">
            <a:hlinkClick r:id="rId4" tooltip=""/>
          </p:cNvPr>
          <p:cNvSpPr/>
          <p:nvPr/>
        </p:nvSpPr>
        <p:spPr>
          <a:xfrm>
            <a:off x="685800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8412480" cy="685800"/>
          </a:xfrm>
          <a:prstGeom prst="rect">
            <a:avLst>
              <a:gd name="adj" fmla="val 10667"/>
            </a:avLst>
          </a:prstGeom>
          <a:solidFill>
            <a:srgbClr val="3A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80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4462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Cesti · Orontea (Intorno all'idol mio)</a:t>
            </a:r>
            <a:endParaRPr lang="en-US" sz="1800" dirty="0"/>
          </a:p>
        </p:txBody>
      </p:sp>
      <p:sp>
        <p:nvSpPr>
          <p:cNvPr id="25" name="Text 23">
            <a:hlinkClick r:id="rId5" tooltip=""/>
          </p:cNvPr>
          <p:cNvSpPr/>
          <p:nvPr/>
        </p:nvSpPr>
        <p:spPr>
          <a:xfrm>
            <a:off x="685800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14: The Invention of Opera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2026-04-17T22:47:17Z</dcterms:created>
  <dcterms:modified xsi:type="dcterms:W3CDTF">2026-04-17T22:47:17Z</dcterms:modified>
</cp:coreProperties>
</file>