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ROMAN LITURGY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CHANT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Mass &amp; Office · Genres of Chant · Tropes · Sequences · Hildegard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42–62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羅馬禮儀 The Roman Liturgy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教會日曆、彌撒（Mass）與聖務日課（Office）的架構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聖詠的特徵 Characteristics of Chant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演唱方式、歌詞設定風格、旋律與唱詞的關係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聖詠的類型 Genres of Chant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吟誦公式、對唱歌、讚美詩、Gradual、Alleluia、Tract、Offertory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新添加的聖詠 Additions to Chant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Trope（增飾）、Sequence（繼抒詠）、禮儀劇（Liturgical Drama）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賓根的希爾德加 Hildegard of Bingen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中世紀女修道院長、作曲家、神秘主義者（1098–1179）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聖詠的延續 The Continuing Presence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從中世紀到當代：影響、改革、流行文化中的再生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羅馬禮儀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Roman Liturgy · Purpose &amp; Church Calendar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17373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07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禮儀的目的 Purpose of the Liturgy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禮儀（liturgy）是教會中誦念或歌唱的文本與所進行的儀式；其雙重目的：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liturgy = texts spoken/sung and rituals performed during services. Dual aim: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對信徒：強化教義並引導走向救恩 · Reinforce doctrine and clarify the path to salvation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對上帝：如天使般不斷獻上頌讚 · Addressing God as the primary audience of unceasing praise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358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教會日曆 Church Calendar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聖誕節 Christmas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 · 紀念耶穌誕生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7880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待降節 Advent：聖誕前四主日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復活節 Easter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春分滿月後主日 · 耶穌復活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大齋期 Lent：復活節前 46 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每年教會以「節日」(feast day) 紀念聖經事件與聖徒；大部分禮儀相同，部分隨季節改變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commemorates events and saints with feast days; most liturgy is fixed, parts change seasonally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彌撒 The Mass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羅馬教會最重要的儀式 · 源自最後晚餐的象徵性重演 · Central ritual: symbolic reenactment of the Last Supper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Proper 變化部分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歌詞隨教會日曆變化；以「功能」命名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Introit 進堂詠（選自詩篇）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 集禱經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Epistle 書信誦讀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Gradual 升階經 ■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Alleluia 或 Tract ■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Sequence 繼抒詠（大節慶）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Gospel 福音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Offertory 奉獻詠 ■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Communion 領主曲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Ordinary 固定部分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歌詞永不變（雖旋律可不同）；以首句命名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Kyrie 求主垂憐（希臘文）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Gloria 榮耀頌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Credo 信經（1014 最後加入）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Sanctus 聖哉經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Agnus Dei 羔羊讚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14 世紀以後大多數「彌撒曲」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專指這五段的音樂設定：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Kyrie · Gloria · Credo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Sanctus · Agnus Dei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= 彌撒中最華麗的音樂高潮（Gradual, Alleluia, Offertory）—— 由獨唱者與唱詩班以應答式演唱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聖務日課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Divine Office · Eight Daily Services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96926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依《聖本篤會規》（ca. 530）編纂 · 在修道院中每日八次按時舉行 · 每週唱完全部 150 首詩篇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in the Rule of St. Benedict (ca. 530); eight services daily in monasteries; all 150 psalms sung weekly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057400" cy="1371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01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Matins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晨禱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532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午夜之後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midnight–dawn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8986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最重要（音樂上）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1783080"/>
            <a:ext cx="2057400" cy="1371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801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600" y="2057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讚美禱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532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黎明時分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8986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最重要（音樂上）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205740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801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2057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初時課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2532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8986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Hours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1783080"/>
            <a:ext cx="205740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8013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03720" y="20574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三時課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532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hour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8986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Hours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264408"/>
            <a:ext cx="205740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2826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" y="35387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六時課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4379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Hours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468880" y="3264408"/>
            <a:ext cx="205740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32826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514600" y="35387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九時課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514600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ninth hour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379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Hours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663440" y="3264408"/>
            <a:ext cx="2057400" cy="1371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2826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09160" y="35387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Vespers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晚禱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日落時分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sunset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09160" y="4379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最重要（音樂上）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0" y="3264408"/>
            <a:ext cx="2057400" cy="13716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32826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03720" y="35387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安息禱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就寢前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bed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43799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結束一日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Matins, Lauds, Vespers = 音樂上最重要的三個時辰 · The three musically most important Hours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聖詠的特徵 Characteristics of Chant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41248"/>
            <a:ext cx="4251960" cy="361188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演唱方式 Manner of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384048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Responsorial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獨唱者與唱詩班/會眾交替應答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Soloist alternates with choir or congregation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Antiphonal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唱詩班分成兩組輪流應答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choir alternate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Direct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675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不分組，連續演唱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alternation; sung straight through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4251960" cy="36118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歌詞設定 Text Setting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261872"/>
            <a:ext cx="384048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Syllabic 音節式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64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幾乎每個音節對應一個音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syllable gets a single note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Neumatic 紐姆式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6700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每個音節 1–6 個音（一個紐姆）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six notes per syllable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Melismatic 花腔式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675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單一音節上的長串旋律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melodic passages on a single syllable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旋律反映拉丁語朗誦：多數樂句呈「弧形」（起於低音，升至高點，下行結束）；重音節常用高音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A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Melodies reflect Latin declamation: phrases arc (low → peak → descend); accented syllables get higher notes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吟誦公式與詩篇調式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Recitation Formulas &amp; Psalm Tones · The Simplest Chants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96926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703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Recitation Formulas 吟誦公式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最簡單的聖詠——用於誦讀祈禱與聖經（Collect、Epistle、Gospel）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chants, for prayers and Bible readings (Collect, Epistle, Gospel)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幾乎完全音節式（syllabic）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在「誦念音」（reciting note, 通常 A 或 C）上唸讀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短動機標示句末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比調式系統更古老——不屬任何調式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由神父或助祭演唱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703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Psalm Tones 詩篇調式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3619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0020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較吟誦公式稍複雜；聖務日課中誦唱詩篇用 · 八種調式各有其專屬詩篇調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complex; for Office psalms. One tone for each of the 8 modes.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詩篇調的五部分：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 of a psalm tone: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Intonation 起唱（只用於第一節）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Recitation 誦念音（誦唱大部分歌詞）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Mediant 中止（詩節中間的半終止）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Recitation（繼續誦念）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Termination 終止（詩節結尾）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日課中的對唱歌與讚美詩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Antiphons &amp; Hymns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18288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Antiphon 對唱歌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在詩篇（或讚歌 canticle）前後演唱的短聖詠；歌詞隨教會日曆變化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chant framing a psalm (before and after); text varies with the calendar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對唱歌的調式決定搭配的詩篇調（mode 1 → mode 1 psalm tone）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每個詩篇調有多種終止式，以流暢銜接不同對唱歌開頭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簡單、以音節式為主（每日要唱 30 多個）· Mostly syllabic; 30+ sung daily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20116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2666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Hymn 讚美詩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最熟悉的宗教歌曲類型；每個聖務日課都要唱一首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familiar type of sacred song, sung in every Office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分節歌式 (strophic)：數段共用同一旋律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每段 4–7 行，有時押韻；多數音節式，旋律常重複若干樂句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 Example：Christe Redemptor omnium (NAWM 4b)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彌撒中的聖詠類型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Chants of the Mass · From Simple to Elaborate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96926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Introit 進堂詠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Antiphonal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Neumatic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1188720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13385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開堂遊行時由唱詩班唱 · 對唱歌 + 一詩節 + 小聖三頌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chant — antiphon + psalm verse + Lesser Doxology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55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Communion 領主曲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17556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Antiphonal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Neumatic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0" y="1801368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74650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領聖體時演唱 · 後來縮短為僅對唱歌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during communion; eventually shortened to antiphon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3682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Gradual 升階經 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2368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Responsorial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Melismatic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2414016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235915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書信誦讀之後 · 以階梯（gradus）得名 · 獨唱者 + 唱詩班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Epistle; named from the stair (gradus); soloist + choir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935224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Alleluia 哈利路亞 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31720" y="2980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Responsorial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Melismatic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0" y="3026664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2971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「alleluia」的最後音節延伸為「jubilus」長花腔——「言語無法表達的喜悅」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jubilus melisma on final syllable: "joy beyond words"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593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 牽引經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solo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florid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0" y="3639312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35844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大齋期中取代 Alleluia · 最長的聖詠，僅限 mode 2 或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Alleluia in Lent; longest chants, only in modes 2 or 8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Offertory 奉獻詠 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331720" y="4206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Responsorial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Melismatic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0" y="4251960"/>
            <a:ext cx="22860" cy="38404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419709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神父預備餅酒時演唱 · 如 Gradual 般華麗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offering of bread and wine; as melismatic as Graduals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增飾 Tropes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0350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對已有聖詠的擴充：新增文字、音樂或兩者 · Expansions of existing chants: new words, music, or both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 的功能：在「授權聖詠」邊緣提供創作出口，類似中世紀學者在聖經邊註評論。文字增飾提供「釋義」（gloss），把聖詠文本與當日場合更緊密連結。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Tropes gave musicians creative outlets in the margins of the authorized repertory. Added words served as glosses, linking chant texts more closely to the occasion.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8595360" cy="9144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92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新文字 + 新音樂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Music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7432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9222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在聖詠之前（introductory trope）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或每個樂句之前（intercalated）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chant or before each phrase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17922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範例：Quem queritis in presepe（聖誕節 Introit 前的對話型 trope，late 10th c.）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9144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僅音樂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2852928"/>
            <a:ext cx="27432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8163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延伸既有 melisma 或新增 melisma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existing melismas or adding new ones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8163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Introit 結尾加入無字花腔 textless melisma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8595360" cy="9144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僅文字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 — prosula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26080" y="3877056"/>
            <a:ext cx="27432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38404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為既有 melisma 填上文字，使之成為音節式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text to existing melismas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新詞的母音常模仿被取代音節的母音——產生迴響效果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興盛於 9-11 世紀修道院；12 世紀後式微；1562-63 特倫多會議全面禁止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繼抒詠 Sequences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Freestanding Chants Sung after the Alleluia · 9th – 13th Centuries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96926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12344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形式 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以音節式設定的詩句，多數成對（couplet）· 一對之內兩句音節數相同、共用同一旋律 · 每對新音樂、新歌詞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結構：A BB CC DD … N（首末單獨詩句 + 中間成對詩句）· 與 Alleluia 之後的 sequentia 長花腔有歷史關聯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8595360" cy="731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054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Notker Balbulus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諾特克·巴爾布魯斯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840–912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2560320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250545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聖加侖修道院的法蘭克修士；最著名的早期繼抒詠詞作者；884 完成《Liber hymnorum》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Frankish monk at St. Gall; most famous early sequence writer; completed Liber hymnorum 884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8595360" cy="731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101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Wipo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維波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995–1050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69080" y="3364992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3101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神聖羅馬皇帝的宮廷牧師；創作 Victimae paschali laudes（復活節繼抒詠）——現存四首仍被保留的古繼抒詠之一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chaplain; composed Victimae paschali laudes (Easter)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059936"/>
            <a:ext cx="8595360" cy="731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114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Thomas of Celano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切拉諾的托馬斯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4151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1190–1260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69080" y="4169664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4114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聖方濟各的傳記作者；創作 Dies irae（末日經）——中世紀最著名詩作之一；形式 AA BB CC / AA BB CC / AA BB C / D 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Biographer of St. Francis; composed Dies irae — one of the most famous poems of the Middle Ages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48097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特倫多會議（1562–63）禁用大多數繼抒詠，僅保留四首（含 Victimae paschali laudes 與 Dies irae）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禮儀劇 Liturgical Drama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從對話型 trope 發展出的宗教戲劇 · Dramatic dialogues added to the liturgy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19659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Quem queritis in sepulchro（10 世紀）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known liturgical drama · 在復活節 Introit 前演唱的對話型 trope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對話內容（取自馬可福音 16:5–7）：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天使（Angel）：「Quem queritis in sepulchro? (你們在墓中尋找誰？)」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三位瑪利亞：「Jesum Nazarenum. (尋找拿撒勒人耶穌)」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天使：「Non est hic, surrexit sicut predixerat... (祂不在這裡，祂已如所預言復活)」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8595360" cy="18288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2186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禮儀劇的特徵 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以應答方式演唱，並伴以戲劇性動作 · Sung responsively with dramatic action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記錄於禮儀書中，在教堂內演出 · Recorded in liturgical books, performed in church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最常見：復活節與聖誕節的對話劇 · Easter and Christmas dialogues most common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世紀後更多劇本：弗勒里 Fleury 10 齣、Beauvais《但以理劇》(ca. 1210s)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大多角色由男性神職人員演唱；極少地方允許修女參與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賓根的希爾德加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Hildegard of Bingen (1098–1179)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703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生平 Biography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德國萊茵地區貴族家庭出身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Born to noble family in the Rhineland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歲被父母獻給教會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Consecrated to church at age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本篤會修道院德西博登貝格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Disibodenberg Benedictine monastery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1136：當選修女院長（magistra）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1150：創立魯柏斯貝格修道院，任院長（abbess）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以預言與異象聞名，與教宗、皇帝、主教通信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Famous prophetess; corresponded with popes, emperors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著作：Scivias（異象錄，1141–51）、Physica（自然學）、Causae et Curae（醫學）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703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音樂作品 Music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36192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是中世紀留下最多聖詠的作曲家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surviving chants than any other medieval composer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詞曲皆自創 · Both words and music by 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主要作品：43 首對唱歌、18 首應答歌、7 首繼抒詠、4 首讚美詩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旋律特色：音域常超過八度四或五度；反覆運用少量旋律動機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Melodies often exceed an octave by a 4th or 5th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Ordo virtutum（德行劇，ca. 1151）：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最早的非禮儀性宗教音樂劇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82 首歌曲 · 82 songs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角色：先知、德行、快樂/悲傷/懺悔的靈魂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魔鬼只能「說」不能「唱」——象徵與神的分離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Devil can only speak, not sing — symbolizing separation from God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歷史時間軸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77440" y="777240"/>
            <a:ext cx="45720" cy="41605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58568" y="81381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7772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4th–7th c. 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70048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Introit 進堂詠加入彌撒 · Introit added to Mass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107442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0378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530 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0048" y="103784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《聖本篤會規》編纂日課禮儀 · Rule of St. Benedict codifies Office liturgy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58568" y="133502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2984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 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2984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Notker Balbulus 完成《讚美詩集》· Notker completes Liber hymnorum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58568" y="159562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" y="15590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9th–11th c.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5590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 創作在修道院中興盛 · Trope composition flourishes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58568" y="185623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" y="18196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10th c.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0048" y="18196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queritis in presepe（聖誕禮儀劇）· Christmas liturgical drama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58568" y="211683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20802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1014 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70048" y="20802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Credo 信經最後加入彌撒 · Credo added to Mass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58568" y="237744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234086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1020–50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70048" y="23408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Wipo: Victimae paschali laudes（復活節繼抒詠）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58568" y="263804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26014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1025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70048" y="26014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聖誕彌撒 trope 抄入里摩日附近修道院手稿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58568" y="289864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2862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1054 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70048" y="2862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東西教會正式分裂 · Final split of Roman and Byzantine churches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58568" y="315925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31226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1066 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70048" y="31226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諾曼征服英格蘭 · Battle of Hastings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58568" y="341985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33832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1095–99 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670048" y="33832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第一次十字軍東征 · First Crusade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258568" y="368046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364388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1098–1179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670048" y="36438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Hildegard of Bingen 生卒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258568" y="394106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" y="39044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1098–1146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670048" y="39044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of St. Victor 活躍於巴黎 · Adam of St. Victor active in Paris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58568" y="420166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" y="41650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1151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670048" y="41650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Hildegard, Ordo virtutum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258568" y="446227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44256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1210–50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670048" y="442569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of Celano, Dies irae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258568" y="472287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" y="468630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1562–63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670048" y="46863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特倫多會議禁用大多數 trope 與 sequence · Council of Trent bans tropes, most sequences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聖詠的延續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Continuing Presence of Chant · From Middle Ages to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84124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52144"/>
            <a:ext cx="685800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中世紀—16 世紀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Ages – 16th 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188720"/>
            <a:ext cx="27432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15214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Léonin、Du Fay、Ockeghem、Josquin、Palestrina 等作曲家主要工作是演唱和指揮聖詠；多聲部音樂以聖詠為基礎發展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composers spent most of their time singing and directing chant; polyphony built on chant foundation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8595360" cy="84124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093976"/>
            <a:ext cx="685800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4884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宗教改革—19 世紀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331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Reformation – 19th c.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2130552"/>
            <a:ext cx="27432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09397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聖詠旋律改編為新教眾讚歌（chorale）與聖公會聖歌；在天主教地區持續使用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 melodies adapted for Protestant chorales and Anglican hymns; still used in Catholic areas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8595360" cy="84124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035808"/>
            <a:ext cx="685800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09067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梵二會議 1962–65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273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Vatican II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3072384"/>
            <a:ext cx="27432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0358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允許以地方語言舉行彌撒；拉丁聖詠不再是必須——從定期禮拜中幾近消失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vernacular Mass; Latin chant no longer required, virtually disappeared from regular services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904488"/>
            <a:ext cx="8595360" cy="84124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977640"/>
            <a:ext cx="685800" cy="694944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03250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*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8872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當代復興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215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revival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34840" y="4014216"/>
            <a:ext cx="27432" cy="62179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97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Silos 修士《Chant》專輯歐洲暢銷冠軍；2008 Heiligenkreuz《Chant》全球熱銷；電玩《Halo》等使用聖詠風格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Chant album bestseller; 2008 Heiligenkreuz platinum; Halo uses chant style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本章重點回顧 Chapter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69494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羅馬禮儀的雙重目的：對上帝獻頌讚，對信徒傳教義；彌撒為中心，日課為日常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liturgy's dual aim: praise to God + instruction for worshippers; Mass central, Office daily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彌撒分為 Proper（隨日變動）與 Ordinary（固定不變）；音樂高潮為 Gradual、Alleluia、Offertory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= Proper (varies) + Ordinary (fixed); musical peaks: Gradual, Alleluia, Offertory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04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2768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聖詠依演唱方式分 responsorial/antiphonal/direct，依歌詞設定分 syllabic/neumatic/melismatic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Chants classified by performance (responsorial/antiphonal/direct) and text setting (syllabic/neumatic/melismatic)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08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809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Trope（增飾）與 Sequence（繼抒詠）是 9–12 世紀創作的出口，在授權聖詠的「邊緣」發揮創意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Tropes and sequences gave 9–12 c. musicians creative outlets in the margins of the authorized repertory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6850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禮儀劇由對話型 trope 發展而來（如 Quem queritis in sepulchro）；由神職人員在教堂內演出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Liturgical drama grew from dialogue tropes (Quem queritis in sepulchro); performed in church by clergy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343400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4165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Hildegard of Bingen 是中世紀留下最多聖詠的作曲家，也是第一位留下完整音樂劇（Ordo virtutum）的女性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Hildegard left more chants than any medieval composer; her Ordo virtutum is the earliest surviving non-liturgical music drama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延伸閱讀與補充教材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 &amp; Supplementary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874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聆聽 YouTube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Introit: Puer natus est (NAWM 3a)  youtu.be/f4iR0qxeiLg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Gradual: Viderunt omnes (NAWM 3d)  youtu.be/uvC0NGmpuFY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Alleluia: Dies sanctificatus (NAWM 3e)  youtu.be/pv8lFyLgjN4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 — Victimae paschali laudes  youtu.be/v9HraDioS_Q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Hildegard — O virga ac diadema (Sequentia)  youtu.be/CO7IqAZ4BtI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irae (Thomas of Celano)  youtu.be/Vj7R9LeiJPE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0972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626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閱讀 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 usualis（Solesmes 修院通用聖詠集）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St. Benedict — CCEL 線上全文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Mass / Hildegard of Bingen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Crocker — The Early Medieval Sequence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Scivias — Oliver Davies 英譯本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3–7（Grout 樂譜集對應樂曲）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513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本章關鍵術語 Key Terms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4074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Liturgy 禮儀 · Mass 彌撒 · Office 聖務日課 · Proper / Ordinary · Introit · Kyrie · Gloria · Gradual · Alleluia · Tract · Offertory · Communion · Credo · Sanctus · Agnus Dei · Antiphon · Psalm tone · Jubilus · Trope · Sequence · Dies irae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Roman Liturgy and Chant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2026-04-17T16:08:09Z</dcterms:created>
  <dcterms:modified xsi:type="dcterms:W3CDTF">2026-04-17T16:08:09Z</dcterms:modified>
</cp:coreProperties>
</file>