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28016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ROMAN LITURGY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CHANT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2286000" y="320040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337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Mass &amp; Office · Genres of Chant · Tropes · Sequences · Hildegard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42–62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羅馬禮儀 The Roman Liturgy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教會日曆、彌撒（Mass）與聖務日課（Office）的架構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聖詠的特徵 Characteristics of Chant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演唱方式、歌詞設定風格、旋律與唱詞的關係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聖詠的類型 Genres of Chant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吟誦公式、對唱歌、讚美詩、Gradual、Alleluia、Tract、Offertory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新添加的聖詠 Additions to Chant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Trope（增飾）、Sequence（繼抒詠）、禮儀劇（Liturgical Drama）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賓根的希爾德加 Hildegard of Bingen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中世紀女修道院長、作曲家、神秘主義者（1098–1179）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聖詠的延續 The Continuing Presence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從中世紀到當代：影響、改革、流行文化中的再生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羅馬禮儀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Roman Liturgy · Purpose &amp; Church Calendar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43000"/>
            <a:ext cx="8595360" cy="17373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0700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禮儀的目的 Purpose of the Liturgy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禮儀（liturgy）是教會中誦念或歌唱的文本與所進行的儀式；其雙重目的：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liturgy = texts spoken/sung and rituals performed during services. Dual aim: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對信徒：強化教義並引導走向救恩 · Reinforce doctrine and clarify the path to salvation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對上帝：如天使般不斷獻上頌讚 · Addressing God as the primary audience of unceasing praise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971800"/>
            <a:ext cx="8595360" cy="13716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303580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教會日曆 Church Calendar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聖誕節 Christmas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34015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12/25 · 紀念耶穌誕生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897880" y="34015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待降節 Advent：聖誕前四主日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復活節 Easter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26080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春分滿月後主日 · 耶穌復活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897880" y="3840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大齋期 Lent：復活節前 46 天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每年教會以「節日」(feast day) 紀念聖經事件與聖徒；大部分禮儀相同，部分隨季節改變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church commemorates events and saints with feast days; most liturgy is fixed, parts change seasonally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彌撒 The Mass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羅馬教會最重要的儀式 · 源自最後晚餐的象徵性重演 · Central ritual: symbolic reenactment of the Last Supper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69264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5661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Proper 變化部分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15544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歌詞隨教會日曆變化；以「功能」命名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1874520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920240"/>
            <a:ext cx="3840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Introit 進堂詠（選自詩篇）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Collect 集禱經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Epistle 書信誦讀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Gradual 升階經 ■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Alleluia 或 Tract ■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Sequence 繼抒詠（大節慶）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Gospel 福音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Offertory 奉獻詠 ■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Communion 領主曲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97280"/>
            <a:ext cx="4206240" cy="356616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170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Ordinary 固定部分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歌詞永不變（雖旋律可不同）；以首句命名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892040" y="1874520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920240"/>
            <a:ext cx="39319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Kyrie 求主垂憐（希臘文）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Gloria 榮耀頌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Credo 信經（1014 最後加入）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Sanctus 聖哉經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Agnus Dei 羔羊讚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14 世紀以後大多數「彌撒曲」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專指這五段的音樂設定：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Kyrie · Gloria · Credo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Sanctus · Agnus Dei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" y="47365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8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= 彌撒中最華麗的音樂高潮（Gradual, Alleluia, Offertory）—— 由獨唱者與唱詩班以應答式演唱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聖務日課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Divine Office · Eight Daily Services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969264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依《聖本篤會規》（ca. 530）編纂 · 在修道院中每日八次按時舉行 · 每週唱完全部 150 首詩篇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Codified in the Rule of St. Benedict (ca. 530); eight services daily in monasteries; all 150 psalms sung weekly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1783080"/>
            <a:ext cx="2057400" cy="1371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801368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20040" y="20574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Matins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晨禱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" y="2532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午夜之後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midnight–dawn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" y="289864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最重要（音樂上）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468880" y="1783080"/>
            <a:ext cx="2057400" cy="1371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1801368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514600" y="20574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Lauds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讚美禱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514600" y="2532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黎明時分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sunrise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514600" y="289864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最重要（音樂上）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1783080"/>
            <a:ext cx="2057400" cy="13716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801368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09160" y="20574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初時課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09160" y="2532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hour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09160" y="289864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Hours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0" y="1783080"/>
            <a:ext cx="2057400" cy="13716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1801368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903720" y="20574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三時課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03720" y="2532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hour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03720" y="289864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Hours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74320" y="3264408"/>
            <a:ext cx="2057400" cy="13716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9" name="Text 27"/>
          <p:cNvSpPr/>
          <p:nvPr/>
        </p:nvSpPr>
        <p:spPr>
          <a:xfrm>
            <a:off x="274320" y="3282696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320040" y="35387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Sext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六時課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040" y="401421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正午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midday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20040" y="4379976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Hours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468880" y="3264408"/>
            <a:ext cx="2057400" cy="13716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34" name="Text 32"/>
          <p:cNvSpPr/>
          <p:nvPr/>
        </p:nvSpPr>
        <p:spPr>
          <a:xfrm>
            <a:off x="2468880" y="3282696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2514600" y="35387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九時課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514600" y="401421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ninth hour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514600" y="4379976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Hours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663440" y="3264408"/>
            <a:ext cx="2057400" cy="1371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9" name="Text 37"/>
          <p:cNvSpPr/>
          <p:nvPr/>
        </p:nvSpPr>
        <p:spPr>
          <a:xfrm>
            <a:off x="4663440" y="3282696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4709160" y="35387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Vespers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晚禱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709160" y="401421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日落時分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sunset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709160" y="4379976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最重要（音樂上）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6858000" y="3264408"/>
            <a:ext cx="2057400" cy="13716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44" name="Text 42"/>
          <p:cNvSpPr/>
          <p:nvPr/>
        </p:nvSpPr>
        <p:spPr>
          <a:xfrm>
            <a:off x="6858000" y="3282696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903720" y="35387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Compline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安息禱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903720" y="401421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就寢前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bed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903720" y="4379976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結束一日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Matins, Lauds, Vespers = 音樂上最重要的三個時辰 · The three musically most important Hours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聖詠的特徵 Characteristics of Chant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41248"/>
            <a:ext cx="4251960" cy="361188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9144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演唱方式 Manner of Performance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61872"/>
            <a:ext cx="384048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Responsorial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獨唱者與唱詩班/會眾交替應答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Soloist alternates with choir or congregation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377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Antiphonal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267004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唱詩班分成兩組輪流應答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halves of choir alternate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383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Direct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367588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不分組，連續演唱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alternation; sung straight through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17720" y="841248"/>
            <a:ext cx="4251960" cy="361188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9144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歌詞設定 Text Setting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46320" y="1261872"/>
            <a:ext cx="384048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Syllabic 音節式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166420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幾乎每個音節對應一個音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 syllable gets a single note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377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Neumatic 紐姆式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267004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每個音節 1–6 個音（一個紐姆）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 six notes per syllable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3383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Melismatic 花腔式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46320" y="367588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單一音節上的長串旋律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melodic passages on a single syllable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A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旋律反映拉丁語朗誦：多數樂句呈「弧形」（起於低音，升至高點，下行結束）；重音節常用高音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7A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Melodies reflect Latin declamation: phrases arc (low → peak → descend); accented syllables get higher notes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吟誦公式與詩篇調式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Recitation Formulas &amp; Psalm Tones · The Simplest Chants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969264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7033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Recitation Formulas 吟誦公式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536192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00200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最簡單的聖詠——用於誦讀祈禱與聖經（Collect、Epistle、Gospel）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chants, for prayers and Bible readings (Collect, Epistle, Gospel)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幾乎完全音節式（syllabic）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在「誦念音」（reciting note, 通常 A 或 C）上唸讀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短動機標示句末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比調式系統更古老——不屬任何調式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由神父或助祭演唱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206240" cy="37033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Psalm Tones 詩篇調式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92040" y="1536192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00200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較吟誦公式稍複雜；聖務日課中誦唱詩篇用 · 八種調式各有其專屬詩篇調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more complex; for Office psalms. One tone for each of the 8 modes.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詩篇調的五部分：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parts of a psalm tone: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Intonation 起唱（只用於第一節）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Recitation 誦念音（誦唱大部分歌詞）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Mediant 中止（詩節中間的半終止）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Recitation（繼續誦念）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Termination 終止（詩節結尾）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日課中的對唱歌與讚美詩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Office Antiphons &amp; Hymns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78992"/>
            <a:ext cx="8595360" cy="18288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33856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Antiphon 對唱歌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8229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在詩篇（或讚歌 canticle）前後演唱的短聖詠；歌詞隨教會日曆變化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chant framing a psalm (before and after); text varies with the calendar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對唱歌的調式決定搭配的詩篇調（mode 1 → mode 1 psalm tone）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每個詩篇調有多種終止式，以流暢銜接不同對唱歌開頭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簡單、以音節式為主（每日要唱 30 多個）· Mostly syllabic; 30+ sung daily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971800"/>
            <a:ext cx="8595360" cy="201168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3026664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Hymn 讚美詩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375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最熟悉的宗教歌曲類型；每個聖務日課都要唱一首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familiar type of sacred song, sung in every Office service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分節歌式 (strophic)：數段共用同一旋律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每段 4–7 行，有時押韻；多數音節式，旋律常重複若干樂句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範例 Example：Christe Redemptor omnium (NAWM 4b)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彌撒中的聖詠類型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Chants of the Mass · From Simple to Elaborate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969264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51560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10642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Introit 進堂詠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110642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Antiphonal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Neumatic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749040" y="1143000"/>
            <a:ext cx="22860" cy="4572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0" y="108813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開堂遊行；對唱歌 + 一詩節 + 小聖三頌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Entrance chant — antiphon + verse + Doxology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691640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74650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Communion 領主曲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331720" y="174650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Antiphonal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Neumatic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1783080"/>
            <a:ext cx="22860" cy="4572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3840480" y="172821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領聖體時演唱；後縮短為僅對唱歌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Sung at communion; later antiphon only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2331720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238658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Gradual 升階經 ■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331720" y="238658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Responsorial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Melismatic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749040" y="2423160"/>
            <a:ext cx="22860" cy="4572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1" name="Text 19"/>
          <p:cNvSpPr/>
          <p:nvPr/>
        </p:nvSpPr>
        <p:spPr>
          <a:xfrm>
            <a:off x="3840480" y="2368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書信之後；以階梯 gradus 得名；獨唱 + 唱詩班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Epistle; named from gradus; soloist + choir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2971800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02666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Alleluia 哈利路亞 ■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331720" y="302666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Responsorial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Melismatic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749040" y="3063240"/>
            <a:ext cx="22860" cy="4572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6" name="Text 24"/>
          <p:cNvSpPr/>
          <p:nvPr/>
        </p:nvSpPr>
        <p:spPr>
          <a:xfrm>
            <a:off x="3840480" y="300837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最後音節延伸為「jubilus」長花腔——言語無法表達的喜悅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Jubilus melisma on final syllable: "joy beyond words"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74320" y="3611880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36667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 牽引經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331720" y="366674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solo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florid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749040" y="3703320"/>
            <a:ext cx="22860" cy="4572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1" name="Text 29"/>
          <p:cNvSpPr/>
          <p:nvPr/>
        </p:nvSpPr>
        <p:spPr>
          <a:xfrm>
            <a:off x="3840480" y="364845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大齋期取代 Alleluia；最長的聖詠，僅限 mode 2 或 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Alleluia in Lent; longest, modes 2 or 8 only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74320" y="4251960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33" name="Text 31"/>
          <p:cNvSpPr/>
          <p:nvPr/>
        </p:nvSpPr>
        <p:spPr>
          <a:xfrm>
            <a:off x="365760" y="430682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Offertory 奉獻詠 ■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331720" y="430682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Responsorial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Melismatic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749040" y="4343400"/>
            <a:ext cx="22860" cy="4572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6" name="Text 34"/>
          <p:cNvSpPr/>
          <p:nvPr/>
        </p:nvSpPr>
        <p:spPr>
          <a:xfrm>
            <a:off x="3840480" y="428853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預備餅酒時演唱；如 Gradual 般華麗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offering of bread and wine; melismatic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增飾 Tropes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03504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對已有聖詠的擴充：新增文字、音樂或兩者 · Expansions of existing chants: new words, music, or both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3268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24128"/>
            <a:ext cx="8412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Trope 在「授權聖詠」邊緣提供創作出口；文字增飾提供「釋義」（gloss），把聖詠文本與當日場合更緊密連結。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Tropes gave creative outlets in the margins of authorized chant; added words served as glosses linking chant to the occasion.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1901952"/>
            <a:ext cx="8595360" cy="85953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965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新文字 + 新音樂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223113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+ Music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926080" y="1993392"/>
            <a:ext cx="27432" cy="67665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2" name="Text 10"/>
          <p:cNvSpPr/>
          <p:nvPr/>
        </p:nvSpPr>
        <p:spPr>
          <a:xfrm>
            <a:off x="3017520" y="1956816"/>
            <a:ext cx="30175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在聖詠之前（introductory trope）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或每個樂句之前（intercalated）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chant or each phrase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80760" y="1956816"/>
            <a:ext cx="2743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範例：Quem queritis in presepe（聖誕節 Introit 前對話型 trope，late 10th c.）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834640"/>
            <a:ext cx="8595360" cy="85953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8986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僅音樂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1480" y="31638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only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926080" y="2926080"/>
            <a:ext cx="27432" cy="67665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8" name="Text 16"/>
          <p:cNvSpPr/>
          <p:nvPr/>
        </p:nvSpPr>
        <p:spPr>
          <a:xfrm>
            <a:off x="3017520" y="2889504"/>
            <a:ext cx="30175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延伸既有 melisma 或新增 melisma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or adding new melismas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80760" y="2889504"/>
            <a:ext cx="2743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Introit 結尾加入無字花腔 textless melisma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74320" y="3767328"/>
            <a:ext cx="8595360" cy="85953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8313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僅文字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1480" y="40965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only — prosula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926080" y="3858768"/>
            <a:ext cx="27432" cy="67665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4" name="Text 22"/>
          <p:cNvSpPr/>
          <p:nvPr/>
        </p:nvSpPr>
        <p:spPr>
          <a:xfrm>
            <a:off x="3017520" y="3822192"/>
            <a:ext cx="30175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為既有 melisma 填上文字，使之成為音節式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text to existing melismas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080760" y="3822192"/>
            <a:ext cx="2743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新詞母音常模仿被取代音節的母音——迴響效果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65760" y="47365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8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興盛於 9-11 世紀修道院；12 世紀後式微；1562-63 特倫多會議全面禁止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繼抒詠 Sequences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Freestanding Chants Sung after the Alleluia · 9th – 13th Centuries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969264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78992"/>
            <a:ext cx="8595360" cy="87782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3385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形式 Form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408176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音節式詩句成對（couplet）；每對音節數相同、共用旋律；結構 A BB CC DD … N。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Strophic couplets of syllabic verse; structure A BB CC DD … N; derived from post-Alleluia sequentia.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048256"/>
            <a:ext cx="8595360" cy="786384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10312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Notker Balbulus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諾特克·巴爾布魯斯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34640" y="213969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840–912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069080" y="2157984"/>
            <a:ext cx="27432" cy="5669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160520" y="210312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聖加侖修士；884《Liber hymnorum》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Gall monk; famous early sequence composer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" y="2907792"/>
            <a:ext cx="8595360" cy="786384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96265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Wipo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維波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34640" y="29992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995–1050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069080" y="3017520"/>
            <a:ext cx="27432" cy="5669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4160520" y="2962656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神聖羅馬皇帝宮廷牧師；Victimae paschali laudes（復活節）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Imperial chaplain; Victimae paschali laudes (Easter)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74320" y="3767328"/>
            <a:ext cx="8595360" cy="786384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82219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Thomas of Celano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切拉諾的托馬斯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834640" y="3858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1190–1260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069080" y="3877056"/>
            <a:ext cx="27432" cy="5669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4" name="Text 22"/>
          <p:cNvSpPr/>
          <p:nvPr/>
        </p:nvSpPr>
        <p:spPr>
          <a:xfrm>
            <a:off x="4160520" y="3822192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聖方濟各傳記作者；Dies irae——中世紀名詩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Biographer of St. Francis; composed Dies irae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5760" y="47365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特倫多會議（1562–63）禁用大多數繼抒詠，僅保留四首（含 Victimae paschali laudes 與 Dies irae）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禮儀劇 Liturgical Drama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從對話型 trope 發展出的宗教戲劇 · Dramatic dialogues added to the liturgy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69264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8595360" cy="19659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52144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Quem queritis in sepulchro（10 世紀）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444752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earliest known liturgical drama · 在復活節 Introit 前演唱的對話型 trope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17373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對話內容（取自馬可福音 16:5–7）：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天使（Angel）：「Quem queritis in sepulchro? (你們在墓中尋找誰？)」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三位瑪利亞：「Jesum Nazarenum. (尋找拿撒勒人耶穌)」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天使：「Non est hic, surrexit sicut predixerat... (祂不在這裡，祂已如所預言復活)」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" y="3154680"/>
            <a:ext cx="8595360" cy="18288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321868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禮儀劇的特徵 Features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520440"/>
            <a:ext cx="8229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以應答方式演唱，並伴以戲劇性動作 · Sung responsively with dramatic action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記錄於禮儀書中，在教堂內演出 · Recorded in liturgical books, performed in church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最常見：復活節與聖誕節的對話劇 · Easter and Christmas dialogues most common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 世紀後更多劇本：弗勒里 Fleury 10 齣、Beauvais《但以理劇》(ca. 1210s)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大多角色由男性神職人員演唱；極少地方允許修女參與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賓根的希爾德加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Hildegard of Bingen (1098–1179)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71600" y="1005840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7033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生平 Biography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536192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德國萊茵地區貴族家庭出身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Born to noble family in the Rhineland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 歲被父母獻給教會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Consecrated to church at age 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本篤會修道院德西博登貝格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Disibodenberg Benedictine monastery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1136：當選修女院長（magistra）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ca. 1150：創立魯柏斯貝格修道院，任院長（abbess）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以預言與異象聞名，與教宗、皇帝、主教通信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Famous prophetess; corresponded with popes, emperors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著作：Scivias（異象錄，1141–51）、Physica（自然學）、Causae et Curae（醫學）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206240" cy="37033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音樂作品 Music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92040" y="1536192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是中世紀留下最多聖詠的作曲家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More surviving chants than any other medieval composer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詞曲皆自創 · Both words and music by her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主要作品：43 首對唱歌、18 首應答歌、7 首繼抒詠、4 首讚美詩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旋律特色：音域常超過八度四或五度；反覆運用少量旋律動機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Melodies often exceed an octave by a 4th or 5th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Ordo virtutum（德行劇，ca. 1151）：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最早的非禮儀性宗教音樂劇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82 首歌曲 · 82 songs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角色：先知、德行、快樂/悲傷/懺悔的靈魂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魔鬼只能「說」不能「唱」——象徵與神的分離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Devil can only speak, not sing — symbolizing separation from God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歷史時間軸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377440" y="749808"/>
            <a:ext cx="45720" cy="406908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258568" y="768096"/>
            <a:ext cx="219456" cy="219456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" y="74980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4th–7th c. 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70048" y="74980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Introit 進堂詠加入彌撒 · Introit added to Mass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58568" y="1019556"/>
            <a:ext cx="219456" cy="219456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" y="100126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530 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70048" y="100126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《聖本篤會規》編纂日課禮儀 · Rule of St. Benedict codifies Office liturgy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258568" y="1271016"/>
            <a:ext cx="219456" cy="219456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" y="125272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884 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70048" y="125272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Notker Balbulus 完成《讚美詩集》· Notker completes Liber hymnorum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258568" y="1522476"/>
            <a:ext cx="219456" cy="219456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" y="150418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9th–11th c.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70048" y="150418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Trope 創作在修道院中興盛 · Trope composition flourishes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258568" y="1773936"/>
            <a:ext cx="219456" cy="219456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" y="175564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10th c.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670048" y="175564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queritis in presepe（聖誕禮儀劇）· Christmas liturgical drama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258568" y="2025396"/>
            <a:ext cx="219456" cy="219456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" y="200710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1014 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670048" y="200710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Credo 信經最後加入彌撒 · Credo added to Mass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258568" y="2276856"/>
            <a:ext cx="219456" cy="219456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" y="225856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1020–50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670048" y="225856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Wipo: Victimae paschali laudes（復活節繼抒詠）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258568" y="2528316"/>
            <a:ext cx="219456" cy="219456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" y="251002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1025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670048" y="251002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聖誕彌撒 trope 抄入里摩日附近修道院手稿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258568" y="2779776"/>
            <a:ext cx="219456" cy="219456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" y="276148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1054 CE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670048" y="276148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東西教會正式分裂 · Final split of Roman and Byzantine churches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258568" y="3031236"/>
            <a:ext cx="219456" cy="219456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" y="301294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1066 CE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670048" y="301294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諾曼征服英格蘭 · Battle of Hastings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258568" y="3282696"/>
            <a:ext cx="219456" cy="219456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" y="326440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1095–99 CE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2670048" y="326440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第一次十字軍東征 · First Crusade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258568" y="3534156"/>
            <a:ext cx="219456" cy="219456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" y="351586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1098–1179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670048" y="351586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Hildegard of Bingen 生卒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258568" y="3785616"/>
            <a:ext cx="219456" cy="219456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" y="376732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1098–1146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2670048" y="376732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of St. Victor 活躍於巴黎 · Adam of St. Victor active in Paris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258568" y="4037076"/>
            <a:ext cx="219456" cy="219456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6" name="Text 44"/>
          <p:cNvSpPr/>
          <p:nvPr/>
        </p:nvSpPr>
        <p:spPr>
          <a:xfrm>
            <a:off x="91440" y="401878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1151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2670048" y="401878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Hildegard, Ordo virtutum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258568" y="4288536"/>
            <a:ext cx="219456" cy="219456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9" name="Text 47"/>
          <p:cNvSpPr/>
          <p:nvPr/>
        </p:nvSpPr>
        <p:spPr>
          <a:xfrm>
            <a:off x="91440" y="427024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1210–50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2670048" y="427024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of Celano, Dies irae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258568" y="4539996"/>
            <a:ext cx="219456" cy="219456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52" name="Text 50"/>
          <p:cNvSpPr/>
          <p:nvPr/>
        </p:nvSpPr>
        <p:spPr>
          <a:xfrm>
            <a:off x="91440" y="452170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1562–63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2670048" y="452170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特倫多會議禁用大多數 trope 與 sequence · Trent bans most tropes/sequences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聖詠的延續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Continuing Presence of Chant · From Middle Ages to Today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51560"/>
            <a:ext cx="8595360" cy="84124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1124712"/>
            <a:ext cx="685800" cy="694944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179576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188720" y="11155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中世紀—16 世紀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36245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Ages – 16th c.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34840" y="1161288"/>
            <a:ext cx="27432" cy="62179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3" name="Text 11"/>
          <p:cNvSpPr/>
          <p:nvPr/>
        </p:nvSpPr>
        <p:spPr>
          <a:xfrm>
            <a:off x="4526280" y="1106424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Léonin、Du Fay、Josquin、Palestrina 等作曲家主要工作是演唱和指揮聖詠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composers spent most of their time singing and directing chant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1984248"/>
            <a:ext cx="8595360" cy="84124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2057400"/>
            <a:ext cx="685800" cy="694944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112264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188720" y="20482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宗教改革—19 世紀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2295144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Reformation – 19th c.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434840" y="2093976"/>
            <a:ext cx="27432" cy="62179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0" name="Text 18"/>
          <p:cNvSpPr/>
          <p:nvPr/>
        </p:nvSpPr>
        <p:spPr>
          <a:xfrm>
            <a:off x="4526280" y="2039112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聖詠旋律改編為新教眾讚歌（chorale）與聖公會聖歌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 melodies adapted for Protestant chorales and Anglican hymns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74320" y="2916936"/>
            <a:ext cx="8595360" cy="84124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2990088"/>
            <a:ext cx="685800" cy="694944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044952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188720" y="29809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梵二會議 1962–65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88720" y="32278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Vatican II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434840" y="3026664"/>
            <a:ext cx="27432" cy="62179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7" name="Text 25"/>
          <p:cNvSpPr/>
          <p:nvPr/>
        </p:nvSpPr>
        <p:spPr>
          <a:xfrm>
            <a:off x="4526280" y="2971800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允許以地方語言舉行彌撒；拉丁聖詠不再是必須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Permitted vernacular Mass; Latin chant no longer required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74320" y="3849624"/>
            <a:ext cx="8595360" cy="84124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9" name="Shape 27"/>
          <p:cNvSpPr/>
          <p:nvPr/>
        </p:nvSpPr>
        <p:spPr>
          <a:xfrm>
            <a:off x="365760" y="3922776"/>
            <a:ext cx="685800" cy="694944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3977640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*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188720" y="39136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當代復興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88720" y="4160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Contemporary revival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434840" y="3959352"/>
            <a:ext cx="27432" cy="62179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4" name="Text 32"/>
          <p:cNvSpPr/>
          <p:nvPr/>
        </p:nvSpPr>
        <p:spPr>
          <a:xfrm>
            <a:off x="4526280" y="3904488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1993 Silos 修士《Chant》歐洲暢銷冠軍；電玩《Halo》使用聖詠風格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1993 Chant album bestseller; Halo uses chant style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本章重點回顧 Chapter Summary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694944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04672"/>
            <a:ext cx="8595360" cy="6400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961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8503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羅馬禮儀雙重目的：頌讚上帝 + 教導信徒；彌撒為中心，日課為日常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 liturgy: praise + instruction; Mass central, Office daily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" y="1490472"/>
            <a:ext cx="8595360" cy="6400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581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60120" y="15361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彌撒分 Proper（隨日變）與 Ordinary（固定）；音樂高潮為 Gradual、Alleluia、Offertory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= Proper (varies) + Ordinary (fixed); peaks: Gradual, Alleluia, Offertory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2176272"/>
            <a:ext cx="8595360" cy="6400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2677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22219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聖詠依演唱分 responsorial/antiphonal/direct；依歌詞分 syllabic/neumatic/melismatic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Chants by performance (resp./antiph./direct) and text setting (syll./neum./melism.)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" y="2862072"/>
            <a:ext cx="8595360" cy="6400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9535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60120" y="29077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Trope 與 Sequence 是 9–12 世紀在授權聖詠「邊緣」的創作出口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Tropes and sequences gave 9–12 c. creative outlets in the chant margins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3547872"/>
            <a:ext cx="8595360" cy="6400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6393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35935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禮儀劇由對話型 trope 發展而來（如 Quem queritis in sepulchro），由神職人員演出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Liturgical drama grew from dialogue tropes; performed in church by clergy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74320" y="4233672"/>
            <a:ext cx="8595360" cy="6400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43251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60120" y="42793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Hildegard of Bingen：留下最多聖詠的中世紀作曲家；Ordo virtutum 為現存最早音樂劇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Hildegard: most medieval chants; Ordo virtutum = earliest music drama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延伸閱讀與補充教材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Further Reading &amp; Supplementary Resources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18745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005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聆聽 YouTube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280160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Introit: Puer natus est (NAWM 3a)  youtu.be/f4iR0qxeiLg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Gradual: Viderunt omnes (NAWM 3d)  youtu.be/uvC0NGmpuFY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Alleluia: Dies sanctificatus (NAWM 3e)  youtu.be/pv8lFyLgjN4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Wipo — Victimae paschali laudes  youtu.be/v9HraDioS_Q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Hildegard — O virga ac diadema (Sequentia)  youtu.be/CO7IqAZ4BtI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 irae (Thomas of Celano)  youtu.be/Vj7R9LeiJPE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2926080"/>
            <a:ext cx="8412480" cy="109728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96265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閱讀 Read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3236976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 usualis（Solesmes 修院通用聖詠集）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St. Benedict — CCEL 線上全文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Wikipedia: Mass / Hildegard of Bingen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17720" y="3236976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Crocker — The Early Medieval Sequence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Scivias — Oliver Davies 英譯本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3–7（Grout 樂譜集對應樂曲）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4114800"/>
            <a:ext cx="8412480" cy="86868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15137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本章關鍵術語 Key Terms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44074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Liturgy 禮儀 · Mass 彌撒 · Office 聖務日課 · Proper / Ordinary · Introit · Kyrie · Gloria · Gradual · Alleluia · Tract · Offertory · Communion · Credo · Sanctus · Agnus Dei · Antiphon · Psalm tone · Jubilus · Trope · Sequence · Dies irae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3: Roman Liturgy and Chant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2026-04-17T16:52:49Z</dcterms:created>
  <dcterms:modified xsi:type="dcterms:W3CDTF">2026-04-17T16:52:49Z</dcterms:modified>
</cp:coreProperties>
</file>