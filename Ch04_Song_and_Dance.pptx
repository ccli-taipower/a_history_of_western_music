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HISTORY OF WESTERN MUSIC · TENTH EDITION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8595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SONG AND DANCE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BF5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 TO 1300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2286000" y="3246120"/>
            <a:ext cx="45720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3383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Troubadours · Trouvères · Minnesinger · Cantigas · Estampie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pp. 63–79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本章概覽 Chapter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548640" cy="530352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914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歐洲社會 800–1300 European Society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1704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查理曼加冕、封建領主、城市興起、大學出現、識字率提升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548640" cy="530352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1600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拉丁與方言歌曲 Latin &amp; Vernacular Song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18562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Versus、Conductus、Goliard 學者歌；方言史詩 Chanson de geste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548640" cy="530352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2286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遊唱詩人 Jongleurs &amp; Minstrels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5420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從被視為賤民到組織行會（巴黎 1321）——音樂職業化的起點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548640" cy="530352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2971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Troubadours &amp; Trouvères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2278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南法 Occitan 與北法古法語的抒情詩人；「fine amour」典範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548640" cy="530352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3657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他地之歌 Songs in Other Lands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9136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Minnesinger（德）、Lauda（義）、Cantigas de Santa María（西）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4343400"/>
            <a:ext cx="548640" cy="530352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389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5156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中世紀樂器與舞曲 Instruments &amp; Dance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45994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Vielle、Psaltery、風笛、管風琴；Carole 圓舞、Estampie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歐洲社會 800–1300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European Society · The Context for Medieval Song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8595360" cy="141732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三個繼承羅馬的帝國 Three Successors to Rome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Byzantine Empire 拜占庭：保存希臘羅馬科學與文化；多數古希臘著作因拜占庭抄寫員而倖存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Arab world 阿拉伯世界：最強盛的一支；延伸希臘哲學與科學；在醫學、化學、數學上貢獻卓著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Western Europe 西歐：最弱最窮；800 年查理曼加冕為羅馬皇帝，宣告與拜占庭獨立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Western Europe was weakest; Charlemagne's coronation in 800 asserted independence from Byzantium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697480"/>
            <a:ext cx="8595360" cy="210312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77063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社會與文化變遷 Social &amp; Cultural Developments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108960"/>
            <a:ext cx="8229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人口 1000–1300 年間增長三倍；農業技術進步、水車與風車普及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Population tripled 1000–1300; agricultural advances, water mills and windmills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三階級社會：神職人員（祈禱）、貴族騎士（征戰）、農民商人（勞動）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Three estates: clergy who prayed · nobility who fought · commoners who worked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城市興起：巴黎約 20 萬人、倫敦 7 萬、威尼斯/米蘭/佛羅倫斯各約 10 萬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行會（guild）保護工匠；學徒制度；音樂家也開始組織行會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大學成立：波隆那、巴黎、牛津（12 世紀起）· 識字率大幅提升</a:t>
            </a:r>
            <a:endParaRPr lang="en-US" sz="14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從修道院到主教座堂學校；教會重心由鄉村移至城市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拉丁與方言歌曲 Latin &amp; Vernacular Song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教會之外、修道院外的中世紀歌唱傳統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950976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97280"/>
            <a:ext cx="4206240" cy="36576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拉丁歌曲 Latin Song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517904"/>
            <a:ext cx="374904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27632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Versus（詩句）: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11–13 世紀亞奎丹地區 · 多半神聖 · 押韻、規律重音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主題：耶穌誕生、聖母、道成肉身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影響了 troubadour 與亞奎丹複音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Conductus（導引歌）: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 世紀北法 · 嚴肅的拉丁歌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神聖或世俗皆可 · 新創旋律不以聖詠為基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Goliard 歌曲: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10–13 世紀 · 流浪學者與教士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主題：愛情、春天、飲酒、諷刺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作者常為受人尊敬的教師與宮廷人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206240" cy="3657600"/>
          </a:xfrm>
          <a:prstGeom prst="rect">
            <a:avLst/>
          </a:prstGeom>
          <a:solidFill>
            <a:srgbClr val="5C3A2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方言歌曲 Vernacular Song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1517904"/>
            <a:ext cx="374904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627632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大多失傳：90% 人口為不識字的鄉民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lost — 90% nonliterate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倖存的主要類型：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Epic 史詩：以旋律公式吟唱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Chanson de geste（功業之歌）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最著名：《羅蘭之歌》(ca. 1100)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Beowulf、Nibelungs、Eddas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市井街頭叫賣、民歌、搖籃曲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僅因被複音音樂引用而留存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Preserved like flies in amber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職業音樂家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Bards · Jongleurs · Minstrels · The Rise of Musicians' Guilds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987552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43000"/>
            <a:ext cx="8595360" cy="6858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161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Bards 遊吟詩人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527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Celtic lands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17520" y="1234440"/>
            <a:ext cx="27432" cy="50292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121615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在宴會上演唱史詩，以豎琴、費德爾或其他弦樂器自伴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 epics at banquets, accompanying themselves on harp or fiddle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8595360" cy="6858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993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Jongleurs 雜耍藝人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2304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Itinerant · Lower-class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017520" y="2011680"/>
            <a:ext cx="27432" cy="50292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6" name="Text 14"/>
          <p:cNvSpPr/>
          <p:nvPr/>
        </p:nvSpPr>
        <p:spPr>
          <a:xfrm>
            <a:off x="3108960" y="199339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來自拉丁文「juggler」· 流浪賣藝：雜耍、說書、演奏樂器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Itinerant lower-class performers — tricks, stories, instruments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2697480"/>
            <a:ext cx="8595360" cy="6858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770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Minstrels 宮廷樂師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081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13th c. · Specialized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017520" y="2788920"/>
            <a:ext cx="27432" cy="50292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1" name="Text 19"/>
          <p:cNvSpPr/>
          <p:nvPr/>
        </p:nvSpPr>
        <p:spPr>
          <a:xfrm>
            <a:off x="3108960" y="277063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來自拉丁 minister（「服侍者」）· 受雇於宮廷或城市 · 出身背景多元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Latin minister; hired by courts or cities; varied backgrounds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3474720"/>
            <a:ext cx="8595360" cy="6858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547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Guilds 音樂家行會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" y="3858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12th c.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017520" y="3566160"/>
            <a:ext cx="27432" cy="50292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6" name="Text 24"/>
          <p:cNvSpPr/>
          <p:nvPr/>
        </p:nvSpPr>
        <p:spPr>
          <a:xfrm>
            <a:off x="3108960" y="354787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提供法律保護、界定城市內的演出專屬權、規範行為準則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legal rights; defined performance exclusivity; regulated conduct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里程碑：1321 年巴黎的 Confrérie de St.-Julien des Menestriers 成立，37 位男女樂師共同簽署章程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Milestone: In 1321 Paris musicians formed the Confrérie de St.-Julien des Menestriers — 37 men and women signatories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遊唱詩人 Troubadours &amp; Trouvères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3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Fountainhead of Western Vernacular Poetry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950976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97280"/>
            <a:ext cx="4206240" cy="36576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Troubadours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南法 · 12 世紀起 · Occitan（langue d'oc）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374904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01952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Trobador（陰性 trobairitz）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Trobar = 「創作歌曲」→「找到」「發明」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存 ca. 2,600 首詩 · 約 1/10 有旋律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重要人物: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Guillaume IX（亞奎丹公爵，1071–1126）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現存最早留名的 troubadour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Bernart de Ventadorn (ca. 1130–1200)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最具影響力之一 · 城堡僕役之子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Comtessa de Dia（12 世紀末 / 13 世紀初）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唯一有音樂留存的女性遊唱詩人 trobairitz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206240" cy="365760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Trouvères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1508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北法 · 12 世紀末起 · 古法語（langue d'oïl）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92040" y="1828800"/>
            <a:ext cx="374904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901952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Trover 也意為「創作歌曲」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存 ca. 2,100 首詩 · 2/3 有旋律（遠高於 troubadour）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由南法北傳 · Bernart de Ventadorn 功不可沒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重要人物: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Eleanor of Aquitaine (1122–1204)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亞奎丹女公爵、法國與英國王后 · 贊助 Bernart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Richard I（獅心王，1157–1199）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Eleanor 之子，本人就是 trouvère，以法文作詞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Adam de la Halle (ca. 1240–1288)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第一位完整作品被集結手稿的方言詩人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代表作：Jeu de Robin et de Marion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歌曲收錄於手稿集「Chansonnier」（歌曲集）· 現存大多為 13 世紀中後期抄本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詩歌主題 · Fin' Amors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"Refined Love" — The Central Theme of Troubadour Poetry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8595360" cy="160020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何謂 Fin' amors（精鍊之愛）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非雙方對等的愛，而是形式化、理想化的愛——情人藉之自我精鍊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 mutual; formal, idealized love through which the lover is refined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對象通常是另一貴族之妻；從遠方、帶著謹慎、尊敬、謙卑地愛慕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Object usually another man's wife; adored from a distance with discretion, respect, humility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愛慕語言常與對聖母的崇拜相近——女士被塑造成高不可攀、無法回應的理想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language borders on devotional songs to the Virgin Mary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「courtly love」一詞為 19 世紀後創；不是事實而是藝術形式，向男性同儕展現教養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898648"/>
            <a:ext cx="8595360" cy="187452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9718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詩歌類型 Poetic Genres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46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Canso 情歌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48840" y="33467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 song · 最主要的類型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33467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Alba 黎明歌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33467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Dawn song · 情人於拂曉被迫分別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78561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Balada 舞歌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48840" y="37856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 song · 有迴旋副歌（refrain）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378561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Planh 輓歌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37856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Lament · 悼念逝者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2245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Tenso 辯論歌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48840" y="4224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song · 兩人就某一主題對話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3440" y="42245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Pastourelle 牧歌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55080" y="4224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牧羊女與追求她的騎士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旋律與 AAB 形式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Melodies &amp; the AAB Form · Forms at a Glance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950976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97280"/>
            <a:ext cx="4206240" cy="36576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旋律特徵 Melody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517904"/>
            <a:ext cx="374904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27632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分節歌式（strophic）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每段歌詞共用同一旋律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多半音節式（mostly syllabic）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偶有兩三音的 neume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音域窄，少超過九度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Range seldom over a ninth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主要級進，偶有三度跳進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樂句呈「弧形」：升至高點後下行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Phrases arch-shaped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符合教會調式 mode 1、mode 7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206240" cy="3657600"/>
          </a:xfrm>
          <a:prstGeom prst="rect">
            <a:avLst/>
          </a:prstGeom>
          <a:solidFill>
            <a:srgbClr val="5C3A2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AAB 形式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1517904"/>
            <a:ext cx="374904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627632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一段樂句群唱兩次（第二次填新詞）+ 對比段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Section sung twice (new text) + contrasting section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段與 B 段常以相同樂句結束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產生「音樂韻腳」(musical rhyme)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德國 Minnesinger 稱為 Bar Form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段 = Stollen（下唇）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 段 = Abgesang（末唱）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四首 NAWM 範例: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chantar（Comtessa de Dia）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Palästinalied（Walther）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Robins m'aime（Adam de la Halle）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Non sofre Santa María（Cantiga 159）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4809744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8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節奏記譜：以聖詠音高符號寫成，不指示節奏——演出時可自由（愛情歌）或按韻律節拍（舞歌）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他地之歌 Songs in Other Lands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Troubadour Tradition Spreads Across Europe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987552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15568"/>
            <a:ext cx="8595360" cy="77724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88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■󠁧󠁢󠁥󠁮󠁧󠁿 English Song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49961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England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207008"/>
            <a:ext cx="27432" cy="59436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18872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1066 諾曼征服後 · 法語為王室語言 · Eleanor 之子 Richard I 獅心王本人為 trouvère，以法文創作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Middle English melodies survive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1984248"/>
            <a:ext cx="8595360" cy="77724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057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Minnesinger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236829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Germany, 12–14 c.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91840" y="2075688"/>
            <a:ext cx="27432" cy="59436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205740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以中古高地德語創作 · Minne = 愛 · 更重靈性、忠誠與義務 · AAB 形式稱 Bar Form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Walther von der Vogelweide: Palästinalied（十字軍歌）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2852928"/>
            <a:ext cx="8595360" cy="77724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926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Lauda 讚美歌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23697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Italy, 13 c.+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91840" y="2944368"/>
            <a:ext cx="27432" cy="59436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292608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義大利神聖單旋律歌 · 在城市（非宮廷）創作 · 由宗教苦行遊行與兄弟會演唱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chant, hymn, and troubadour influences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3721608"/>
            <a:ext cx="8595360" cy="77724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794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Cantigas de Santa María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" y="410565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Castile, ca. 1270–90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91840" y="3813048"/>
            <a:ext cx="27432" cy="59436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379476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 首 Galician-Portuguese 歌頌聖母的歌 · 卡斯提爾王 Alfonso el Sabio（智者）監督編纂 · 每第 10 首為讚美聖母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have refrains; suitable for dancing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1208 起教皇 Innocent III 發動反 Albigensian 十字軍——導致南法貴族崩潰，troubadours 流散至義大利等地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中世紀樂器 Medieval Instruments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C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弦、木管、銅管、打擊、管風琴——中世紀樂師已有豐富的音色調色盤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51560"/>
            <a:ext cx="4206240" cy="370332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247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弦樂器 Strings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481328"/>
            <a:ext cx="374904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72768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Vielle 費德爾：五弦、四度與五度調音，可由空弦作持續音——中世紀主要拉弦樂器，小提琴的前身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Hurdy-gurdy 搖弦琴：三弦 vielle，旋轉輪擦弦發聲；另一弦作持續音；類似風笛音響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Harp 豎琴：此類型可能源自不列顛群島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Psaltery 詩琴：撥弦樂器，彈撥木框上的弦——大鍵琴與鋼琴的遠祖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Lute 魯特琴（後來由阿拉伯傳入歐洲）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206240" cy="370332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1247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管樂 · 打擊 Winds &amp; Percussion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1481328"/>
            <a:ext cx="3749040" cy="1828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572768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Transverse flute 橫笛：木製或象牙，無按鍵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Shawm 蕭姆管：雙簧樂器，雙簧管前身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Trumpet 號角：直管無活塞，僅能吹奏泛音列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and tabor：左手持高音哨笛，右手敲小鼓——單人可演奏舞曲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Bagpipe 風笛：遍布歐洲的民間樂器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Bells 鐘 · Organs 管風琴（portative 可攜式 / positive 小型桌上型）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舞曲 Dance Music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Earliest Notated Instrumental Music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024128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88720"/>
            <a:ext cx="8595360" cy="155448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Carole 圓舞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12–14 世紀法國最流行的社交舞 · 圓圈舞蹈 · 通常由其中一位或多位舞者歌唱伴奏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popular social dance in France, 12th–14th c.; circle dance usually led by singing dancers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可加入樂師伴奏（如《玫瑰傳奇》中所描述）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儘管流行，現存旋律僅約 24 首——多靠口傳心授，極少寫下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8595360" cy="1965960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90779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Estampie 埃斯坦皮舞曲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218688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現存最常見的中世紀器樂舞曲形式 · 13–14 世紀 · 約 50 首現存（多為單音，少數有鍵盤複音設定）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surviving medieval dance; ca. 50 extant tunes (mostly monophonic)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結構：數個樂段，每段演奏兩次，使用兩種不同結尾：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① Ouvert 開放結尾（半終止）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② Clos 封閉結尾（完全終止）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Each section played twice: open (ouvert) + closed (clos) endings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法國 estampie 全部為三拍子 · 義大利 istampita 用二拍或複合拍，段落較長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範例：Le manuscrit du roi（國王手稿）中的八首「皇家 estampies」（NAWM 13 為第四首）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4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關鍵人物 Key Figures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59436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868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Guillaume IX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1155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1071–1126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94760" y="914400"/>
            <a:ext cx="22860" cy="41148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1" name="Text 9"/>
          <p:cNvSpPr/>
          <p:nvPr/>
        </p:nvSpPr>
        <p:spPr>
          <a:xfrm>
            <a:off x="3886200" y="85953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亞奎丹公爵、普瓦提埃伯爵；現存最早留名的 troubadour。貴族出身顯示這一藝術深植於上流社會。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1517904"/>
            <a:ext cx="8595360" cy="59436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60934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15636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Bernart de Ventadorn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18105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?ca. 1130–?ca. 1200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94760" y="1609344"/>
            <a:ext cx="22860" cy="41148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17" name="Text 15"/>
          <p:cNvSpPr/>
          <p:nvPr/>
        </p:nvSpPr>
        <p:spPr>
          <a:xfrm>
            <a:off x="3886200" y="155448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最具影響力的 troubadour 之一；Ventadorn 城堡麵包師/僕役之子；後為 Eleanor of Aquitaine 服務，把 troubadour 傳統帶入北法，催生 trouvère 運動。代表作《Can vei la lauzeta mover》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2212848"/>
            <a:ext cx="8595360" cy="59436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3042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■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22585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Comtessa de Dia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2505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fl. late 12th – early 13th c.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794760" y="2304288"/>
            <a:ext cx="22860" cy="41148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3" name="Text 21"/>
          <p:cNvSpPr/>
          <p:nvPr/>
        </p:nvSpPr>
        <p:spPr>
          <a:xfrm>
            <a:off x="3886200" y="2249424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極少數留下音樂作品的 trobairitz（女性遊唱詩人）。《A chantar》是唯一有旋律保存下來的 trobairitz 歌曲（AAB 形式、mode 1）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2907792"/>
            <a:ext cx="8595360" cy="59436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9992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■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" y="2953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Walther von der Vogelweide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32004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?ca. 1170–?ca. 1230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794760" y="2999232"/>
            <a:ext cx="22860" cy="41148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29" name="Text 27"/>
          <p:cNvSpPr/>
          <p:nvPr/>
        </p:nvSpPr>
        <p:spPr>
          <a:xfrm>
            <a:off x="3886200" y="294436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最著名的 Minnesinger；以宮廷詩歌與政治詩聞名；代表作《Palästinalied》（十字軍歌）仍被當代「中世紀搖滾」樂團改編演奏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4320" y="3602736"/>
            <a:ext cx="8595360" cy="59436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369417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■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14400" y="36484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Adam de la Halle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" y="38953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1240–?1288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794760" y="3694176"/>
            <a:ext cx="22860" cy="41148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5" name="Text 33"/>
          <p:cNvSpPr/>
          <p:nvPr/>
        </p:nvSpPr>
        <p:spPr>
          <a:xfrm>
            <a:off x="3886200" y="363931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 的 trouvère；第一位完整作品被集結為手稿的方言詩人；《Jeu de Robin et de Marion》（ca. 1284）是最早的世俗音樂劇之一；《Robins m'aime》為 rondeau 形式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3891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■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14400" y="4343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Alfonso X el Sabio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14400" y="45902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of Castile 1252–1284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794760" y="4389120"/>
            <a:ext cx="22860" cy="41148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1" name="Text 39"/>
          <p:cNvSpPr/>
          <p:nvPr/>
        </p:nvSpPr>
        <p:spPr>
          <a:xfrm>
            <a:off x="3886200" y="433425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卡斯提爾與萊昂國王「智者阿方索」；監督編纂《Cantigas de Santa María》——400+ 首讚美聖母的歌，收錄於四部華麗的插圖手稿中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歷史時間軸 Timeline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377440" y="777240"/>
            <a:ext cx="45720" cy="416052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6" name="Shape 4"/>
          <p:cNvSpPr/>
          <p:nvPr/>
        </p:nvSpPr>
        <p:spPr>
          <a:xfrm>
            <a:off x="2258568" y="813816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" y="77724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8th c.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70048" y="7772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Beowulf（古英文史詩）· Beowulf (Old English epic)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58568" y="1045159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" y="1008583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70048" y="1008583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查理曼加冕為羅馬皇帝 · Charlemagne crowned emperor in Rome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58568" y="1276502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" y="123992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834 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70048" y="123992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路易一世逝世，查理曼帝國分裂 · Louis the Pious dies, empire divided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58568" y="1507846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" y="147127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1000–1300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70048" y="147127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歐洲人口成長三倍 · European population triples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58568" y="1739189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" y="1702613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1050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70048" y="1702613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風車與水車普及 · Windmills and water mills spread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258568" y="1970532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" y="193395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1066 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670048" y="193395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諾曼征服英格蘭 · Normans conquer England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258568" y="2201875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" y="2165299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1071–1126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70048" y="2165299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Guillaume IX（最早留名 troubadour）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258568" y="2433218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" y="239664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1095–99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670048" y="239664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第一次十字軍東征 · First Crusade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258568" y="2664562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" y="262798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1100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670048" y="262798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《羅蘭之歌》· Song of Roland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258568" y="2895905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" y="2859329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12th c.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670048" y="2859329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聖母崇拜興盛；波隆那、巴黎、牛津大學成立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258568" y="3127248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" y="309067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1170s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670048" y="309067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Bernart de Ventadorn, Can vei la lauzeta mover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258568" y="3358591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" y="3322015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1200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2670048" y="3322015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Comtessa de Dia, A chantar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258568" y="3589934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" y="355335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1208 CE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670048" y="355335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教皇發動反 Albigensian 十字軍 · Crusade against Albigensians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258568" y="3821278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46" name="Text 44"/>
          <p:cNvSpPr/>
          <p:nvPr/>
        </p:nvSpPr>
        <p:spPr>
          <a:xfrm>
            <a:off x="91440" y="378470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1215 CE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2670048" y="378470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《大憲章》簽署 · Magna Carta signed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2258568" y="4052621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49" name="Text 47"/>
          <p:cNvSpPr/>
          <p:nvPr/>
        </p:nvSpPr>
        <p:spPr>
          <a:xfrm>
            <a:off x="91440" y="4016045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1228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2670048" y="4016045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Walther von der Vogelweide, Palästinalied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2258568" y="4283964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52" name="Text 50"/>
          <p:cNvSpPr/>
          <p:nvPr/>
        </p:nvSpPr>
        <p:spPr>
          <a:xfrm>
            <a:off x="91440" y="424738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1270–90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2670048" y="424738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Cantigas de Santa María（阿方索十世監督編纂）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2258568" y="4515307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55" name="Text 53"/>
          <p:cNvSpPr/>
          <p:nvPr/>
        </p:nvSpPr>
        <p:spPr>
          <a:xfrm>
            <a:off x="91440" y="4478731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1284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2670048" y="4478731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de la Halle, Jeu de Robin et de Marion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2258568" y="4746650"/>
            <a:ext cx="237744" cy="237744"/>
          </a:xfrm>
          <a:prstGeom prst="ellipse">
            <a:avLst/>
          </a:prstGeom>
          <a:solidFill>
            <a:srgbClr val="C8A020"/>
          </a:solidFill>
          <a:ln/>
        </p:spPr>
      </p:sp>
      <p:sp>
        <p:nvSpPr>
          <p:cNvPr id="58" name="Text 56"/>
          <p:cNvSpPr/>
          <p:nvPr/>
        </p:nvSpPr>
        <p:spPr>
          <a:xfrm>
            <a:off x="91440" y="4710074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1321 CE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2670048" y="471007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巴黎音樂家行會成立 · Paris minstrels' guild founded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情人的哀嘆 · 延續至今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3A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Lover's Complaint · From Troubadours to Today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78992"/>
            <a:ext cx="8595360" cy="173736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521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中世紀歌曲的共同特徵（延續至今的西方歌曲原型）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822960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分節歌式（strophic）· 自然音階（diatonic）· 主要音節式（syllabic）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Strophic · diatonic · primarily syllabic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主要級進，音域約一個八度 · 清楚的音高中心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Mostly stepwise, range ~an octave, clear pitch center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樂句短且大致等長，弧形起伏，回落至終止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Short musical phrases, roughly equal in size, arch-shaped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常用副歌（refrain）· 主題多為「未能如願的純潔之愛」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Refrains common · theme of pure, unattainable love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907792"/>
            <a:ext cx="8595360" cy="182880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98094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後世的重新發現 Rediscovery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10128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18–19 世紀：民族文化復興 → 對中世紀的興趣重燃 · 收集整理 trouvère 歌曲配鋼琴伴奏出版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18th–19th c.: nationalism revives interest in the Middle Ages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1872：Adam de la Halle 音樂作品被轉寫並出版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1872: Adam de la Halle's works transcribed and published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 世紀：更多中世紀曲目版本陸續問世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近幾十年：中世紀世俗歌曲與器樂舞曲復興——音樂會與錄音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Recent decades: revival in concerts and recordings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當代「中世紀搖滾」改編如 Walther von der Vogelweide《Palästinalied》（被多支歐洲樂團錄製）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Contemporary "medieval rock" arrangements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本章重點回顧 Chapter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694944"/>
            <a:ext cx="6400800" cy="36576"/>
          </a:xfrm>
          <a:prstGeom prst="rect">
            <a:avLst/>
          </a:prstGeom>
          <a:solidFill>
            <a:srgbClr val="C8A02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603504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961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86868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歐洲 800–1300 經歷人口倍增、城市崛起、大學成立；教會重心從修道院移至城市主教座堂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800–1300: population growth, urban rise, universities; center shifts to urban cathedrals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527048"/>
            <a:ext cx="8595360" cy="603504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6002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157276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拉丁歌曲（versus、conductus、goliard）與方言史詩並存；多數世俗歌曲失傳因其口傳性質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songs coexist with vernacular epics; most secular songs are lost due to oral transmission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231136"/>
            <a:ext cx="8595360" cy="603504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3042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227685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樂師從邊緣人物走向職業化：jongleurs → minstrels → guilds（1321 巴黎行會）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Musicians professionalized: jongleurs → minstrels → guilds (Paris 1321)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2935224"/>
            <a:ext cx="8595360" cy="603504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00837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2980944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Troubadours（南法 Occitan）與 trouvères（北法古法語）以 fin' amors「精鍊之愛」為主題；AAB 形式盛行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Troubadours and trouvères sing of fin' amors; AAB form predominates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3639312"/>
            <a:ext cx="8595360" cy="603504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7124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368503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傳統傳播：英國（法語為王室語言）、德國 Minnesinger（Bar Form）、義大利 lauda、西班牙 Cantigas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 spreads: England, German Minnesinger, Italian lauda, Spanish Cantigas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4343400"/>
            <a:ext cx="8595360" cy="603504"/>
          </a:xfrm>
          <a:prstGeom prst="rect">
            <a:avLst/>
          </a:prstGeom>
          <a:solidFill>
            <a:srgbClr val="3A2015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4165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60120" y="43891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中世紀樂器類別齊備（弦木管銅管打擊管風琴）；Estampie 為現存最早的西方記譜器樂舞曲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medieval instrument palette; Estampie = earliest notated Western instrumental dance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延伸閱讀與補充教材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7A2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Further Reading &amp; Supplementary Resources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E8D8A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8412480" cy="1874520"/>
          </a:xfrm>
          <a:prstGeom prst="rect">
            <a:avLst/>
          </a:prstGeom>
          <a:solidFill>
            <a:srgbClr val="7A283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05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聆聽 YouTube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8138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Bernart — Can vei la lauzeta mover (NAWM 8)  youtu.be/wjwDTer7R5Y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Comtessa de Dia — A chantar (NAWM 9)  youtu.be/0aZcf5S9HGk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de la Halle — Robins m'aime (NAWM 10)  youtu.be/zNNm-wnfZ-U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Walther — Palästinalied (NAWM 11)  youtu.be/zXoXcAToCBE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Cantiga 159 — Non sofre Sta. María (NAWM 12)  youtu.be/RGK9bqWctKE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quarte estampie royal (NAWM 13)  youtu.be/rXqgEnrgtSg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8412480" cy="1097280"/>
          </a:xfrm>
          <a:prstGeom prst="rect">
            <a:avLst/>
          </a:prstGeom>
          <a:solidFill>
            <a:srgbClr val="A8403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96265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閱讀 Read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236976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Paden — Troubadour Poems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Rosenberg — Songs of the Trouvères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Stevens — Words and Music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3236976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— The Owl and the Nightingale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Wikipedia: Troubadour / Cantigas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NAWM 8–13（Grout 樂譜集對應樂曲）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4114800"/>
            <a:ext cx="8412480" cy="868680"/>
          </a:xfrm>
          <a:prstGeom prst="rect">
            <a:avLst/>
          </a:prstGeom>
          <a:solidFill>
            <a:srgbClr val="5C3A2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15137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■ 本章關鍵術語 Key Terms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4074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BF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Troubadour / Trobairitz · Trouvère · Jongleur · Minstrel · Chanson de geste · Fin' amors · Canso · AAB form · Bar Form · Minnesinger · Cantiga · Vielle · Shawm · Estampie · Istampita · Rondeau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4: Song and Dance Music to 1300</dc:title>
  <dc:subject>PptxGenJS Presentation</dc:subject>
  <dc:creator>A History of Western Music, 10th ed.</dc:creator>
  <cp:lastModifiedBy>A History of Western Music, 10th ed.</cp:lastModifiedBy>
  <cp:revision>1</cp:revision>
  <dcterms:created xsi:type="dcterms:W3CDTF">2026-04-17T16:08:59Z</dcterms:created>
  <dcterms:modified xsi:type="dcterms:W3CDTF">2026-04-17T16:08:59Z</dcterms:modified>
</cp:coreProperties>
</file>