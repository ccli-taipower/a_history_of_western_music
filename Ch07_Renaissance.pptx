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AND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RENAISSANCE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Humanism · Patronage · New Counterpoint · Printing · Europe 1400–1600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134–158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1400–1600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經濟復甦 · 大航海 · 印刷術 · 宗教改革——現代世界的雛形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Humanism 人文主義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古希臘羅馬復興 · 修辭學 · studia humanitatis · 音樂教育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Renaissance in 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Donatello · Masaccio · 透視法 · 明暗法 · 自然主義與個人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Patronage &amp; Training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宮廷三部門 · 教堂唱詩學校 · benefices · 國際職涯流動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Counterpoint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三六度協和 · 嚴格處理不協和 · 四聲部 · 模仿對位 · 和聲思維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Printing &amp; New Ideas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1501 · 古希臘理論復興 · 調律 · 詞曲關係 · 表情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歐洲 1400–1600：新世界的誕生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from 1400 to 1600 · Political, Economic, and Technological Change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政治與宗教 Political &amp; Religious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1417 大分裂結束——教宗回歸羅馬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1453 百年戰爭結束 · 君士坦丁堡陷落——拜占庭帝國滅亡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1517 Martin Luther 宗教改革開始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新教三大宗派：路德派、喀爾文派、聖公會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Catholic Reformation 反宗教改革——Palestrina 成為 16 世紀對位法典範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鄂圖曼土耳其繼續征服巴爾幹、匈牙利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百年以上的宗教戰爭塑造歐洲版圖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經濟與技術 Economic &amp; Technological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ca. 1400 歐洲經濟復甦 · 區域專業化與長距離貿易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中產階級（商人、工匠、律師）興起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1450 Gutenberg 活字印刷術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1487 葡萄牙繞過非洲南端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1492 Columbus 抵達西印度群島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歐洲殖民擴張至美洲、非洲、亞洲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科學、造船、火炮、航海技術突破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義大利城邦的宮廷贊助成為藝術發展的沃土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人文主義 Humanism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studia humanitatis · The Revival of Ancient Learning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核心理念 Core Ideas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studia humanitatis：文法、修辭、詩學、歷史、道德哲學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反對經院哲學的邏輯與權威——轉而重視個人道德、公民生活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古典希臘與羅馬文獻的廣泛取得（拜占庭學者西遷）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對人類尊嚴、理性、感官經驗的信心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與基督教融合——而非取代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重塑大學課程，影響藝術家、音樂家、政治家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對音樂的影響 Effects on Music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古代音樂論著的再發現（Aristides Quintilianus、Ptolemy、Cleonides）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Aristotle、Plato、Quintilian 視音樂為公民教育必備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修辭學思維進入作曲——結構、說服、清晰度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對詞曲關係的新重視——自然音節與意義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音樂被視為「有表情的語言」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音樂作為紳士仕女社交禮儀的一部分（彈琵琶而非吹笛）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Franchino Gaffurio（1451–1522）融合古代理論與當代實踐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Renaissance 藝術與音樂的平行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Sculpture, Painting, Architecture · Parallels with Music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藝術元素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207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藝術中的表現 Artistic Expression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207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音樂對應 Music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536192"/>
            <a:ext cx="8595360" cy="54864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72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Donatello 《David》(1440s)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572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羅馬時代以來第一尊獨立裸體雕像——古典復興傳達宗教主題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5727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Composers 使用對比音色、力度支持文字情感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112264"/>
            <a:ext cx="8595360" cy="548640"/>
          </a:xfrm>
          <a:prstGeom prst="rect">
            <a:avLst/>
          </a:prstGeom>
          <a:solidFill>
            <a:srgbClr val="35485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488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Masaccio 《Holy Trinity》(1425–28)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1488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早期透視法運用——單一消失點、深度錯覺、個人捐贈者像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樂曲調式清晰——所有樂句終止於主要音（final、reciting tone）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688336"/>
            <a:ext cx="8595360" cy="54864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724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 透視法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272491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平行線匯聚於單一消失點——二維平面創造三維幻覺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27249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音樂的「方向感」——圍繞單一參考點的和聲結構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264408"/>
            <a:ext cx="8595360" cy="548640"/>
          </a:xfrm>
          <a:prstGeom prst="rect">
            <a:avLst/>
          </a:prstGeom>
          <a:solidFill>
            <a:srgbClr val="35485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30098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Chiaroscuro 明暗法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330098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自然的光影處理——物體立體感與空間感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30098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高低音域、厚薄織度的對比——光與影的音樂版本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8595360" cy="54864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8770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 &amp; Classical Models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17520" y="387705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柱式、拱形、對稱——古代建築典範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387705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清晰終止式、規則對位——古典秩序與美感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4416552"/>
            <a:ext cx="8595360" cy="548640"/>
          </a:xfrm>
          <a:prstGeom prst="rect">
            <a:avLst/>
          </a:prstGeom>
          <a:solidFill>
            <a:srgbClr val="35485E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4531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in Individuals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17520" y="44531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肖像畫興起——捐贈者、藝術家、個人性格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4453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作曲家成為名人——個人風格、作品集、被研究與模仿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贊助與音樂家訓練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Patronage and the Training of Musicians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70432"/>
            <a:ext cx="2743200" cy="1645920"/>
          </a:xfrm>
          <a:prstGeom prst="rect">
            <a:avLst/>
          </a:prstGeom>
          <a:solidFill>
            <a:srgbClr val="E0EEEC"/>
          </a:solidFill>
          <a:ln w="19050">
            <a:solidFill>
              <a:srgbClr val="2E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Chapel 禮拜堂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60020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神職人員與歌手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負責宗教儀式音樂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展現君主虔誠與榮耀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743200" cy="1645920"/>
          </a:xfrm>
          <a:prstGeom prst="rect">
            <a:avLst/>
          </a:prstGeom>
          <a:solidFill>
            <a:srgbClr val="E0EEEC"/>
          </a:solidFill>
          <a:ln w="19050">
            <a:solidFill>
              <a:srgbClr val="2E5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07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Chamber 宮內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160020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僕從與樂手服侍家族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軟聲樂器（琵琶、笛）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展現文化修養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743200" cy="1645920"/>
          </a:xfrm>
          <a:prstGeom prst="rect">
            <a:avLst/>
          </a:prstGeom>
          <a:solidFill>
            <a:srgbClr val="E0EEEC"/>
          </a:solidFill>
          <a:ln w="19050">
            <a:solidFill>
              <a:srgbClr val="2E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07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Court 公務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1600200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公共儀式與節慶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 硬聲樂器（小號、shawm）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展現政治軍事權力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E0EEE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音樂家的養成 Training and Mobility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歌手：唱詩學校訓練唱歌、樂理、對位、作曲；Cambrai、Bruges、Antwerp 為重鎮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器樂手：家族傳承與工會師徒制；多數不識譜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Benefices（教會俸祿）：教宗授予神職人員——作曲家多為神職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國際流動：法蘭德斯人遍布義大利；Medici、Este、Sforza 競相延攬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Ciconia（ca. 1370–1412）最早赴義大利的北方作曲家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Counterpoint 新對位法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of the International Style · ca. 1420 onward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07008"/>
            <a:ext cx="8595360" cy="621792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07008"/>
            <a:ext cx="91440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167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2527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偏好協和音 Consonance Preferred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527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三度、六度與完全五度、八度皆為協和——三六度不再是不協和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8595360" cy="621792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892808"/>
            <a:ext cx="91440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025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9385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嚴格處理不協和 Strict Dissonance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2128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只允許經過音、鄰音（弱拍）與留音（終止式）——平行五度八度禁止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8595360" cy="621792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578608"/>
            <a:ext cx="91440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883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四聲部織度 Four-Voice Texture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8986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世紀下半取代三聲部——低音線加入 tenor 之下成為現代織度基礎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264408"/>
            <a:ext cx="8595360" cy="621792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264408"/>
            <a:ext cx="91440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741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310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聲部平等 Equality of Voices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584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所有聲部同時構思（和聲思維）——不再是層層疊加 cantus/tenor 框架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3E2030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114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Johannes Tinctoris (ca. 1435–1511) · Liber de arte contrapuncti (1477)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「40 年前的作品沒有一首值得演奏……只有 Dunstable、Binchois、Du Fay 與 Ockeghem 這一輩的音樂才值得模仿。」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兩種新織度 Two New Textures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Imitative Counterpoint &amp; Homophony · Dominant in the 16th Century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74904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Imitative Counterpoint 模仿對位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定義：一聲部提出動機或樂句，其他聲部在不同音高（通常五度、四度或八度）回應模仿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所有聲部平等參與——無 cantus/tenor 主從之分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每個樂段通常有一個音樂動機（motto）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文字宣告清晰——所有聲部同節奏唱出相同字句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容許結構複雜而仍然清楚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成為 16 世紀經文歌、彌撒、器樂作品的核心技法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集大成者：Josquin、Lassus、Palestrina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Homophony 主調織度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定義：所有聲部以相同（或近乎相同）節奏進行——低聲部以協和音伴奏 cantus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結構簡單直接——容易演唱、聆聽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文字宣告極為清晰——每字每音一目瞭然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世紀通俗歌曲（frottola、villancico、chanson）的主要風格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與模仿對位常交替使用於同一作品中——創造對比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展現 Renaissance 對詞曲關係的新重視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後來發展為主旋律伴奏（monody）——通往 Baroque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調律與律制 Tuning and Temperament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of Thirds and Sixths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749808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Pythagorean Intonation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261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中世紀傳統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2:1, 3:2, 4:3 · 純四五八度 · 三度（81:64）粗糙不協和 · 適用於僅需完全音程的中世紀音樂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749808"/>
          </a:xfrm>
          <a:prstGeom prst="rect">
            <a:avLst/>
          </a:prstGeom>
          <a:solidFill>
            <a:srgbClr val="3548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Intonation 純律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0848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1482 Ramis de Pareia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Odington 早在 1300 即觀察 5:4、6:5 為協和三度 · 純三六度 · 缺點：部分三五度走音，G■ 與 A■ 不同音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8595360" cy="749808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Mean-Tone Temperament 中庸律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907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世紀主流鍵盤律制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五度略縮——多數大三度純或近純 · 16 世紀至 19 世紀中葉鍵盤樂器的標準律制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749808"/>
          </a:xfrm>
          <a:prstGeom prst="rect">
            <a:avLst/>
          </a:prstGeom>
          <a:solidFill>
            <a:srgbClr val="35485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 Temperament 十二平均律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307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世紀晚期首見於理論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所有半音相等 · 任何調皆可用 · 僅八度純 · 三六度差 1/7 半音 · 19 世紀後半才廣泛採用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and Music 詞曲關係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Declamation, Emotion, and the Influence of Ancient Writings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1691640"/>
          </a:xfrm>
          <a:prstGeom prst="rect">
            <a:avLst/>
          </a:prstGeom>
          <a:solidFill>
            <a:srgbClr val="E0EEEC"/>
          </a:solidFill>
          <a:ln w="12700">
            <a:solidFill>
              <a:srgbClr val="2E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Text Declamation 文字宣告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fixes 逐漸消失 · 依文字重音與節奏作曲 · 15 世紀末期自然宣告成為準則 · 模仿對位與主調織度讓所有聲部同時宣告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206240" cy="1691640"/>
          </a:xfrm>
          <a:prstGeom prst="rect">
            <a:avLst/>
          </a:prstGeom>
          <a:solidFill>
            <a:srgbClr val="E0EEEC"/>
          </a:solidFill>
          <a:ln w="12700">
            <a:solidFill>
              <a:srgbClr val="2E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Emotional Expression 情感表達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中世紀音樂少見表情意識 · 15–16 世紀起作曲家使用特定音程、和聲、旋律線條傳達文字情緒 · Cicero、Quintilian 修辭學支持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E0EEEC"/>
          </a:solidFill>
          <a:ln w="12700">
            <a:solidFill>
              <a:srgbClr val="2E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08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Expressive Power of Modes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Plato、Aristotle 認為各 harmoniai 具不同 ethos · 作曲家據古代權威選擇調式傳達情感 · 後來延伸至大小調、各調性格的觀念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3017520"/>
            <a:ext cx="4206240" cy="1691640"/>
          </a:xfrm>
          <a:prstGeom prst="rect">
            <a:avLst/>
          </a:prstGeom>
          <a:solidFill>
            <a:srgbClr val="E0EEEC"/>
          </a:solidFill>
          <a:ln w="12700">
            <a:solidFill>
              <a:srgbClr val="2E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108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Chromaticism 半音主義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474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古希臘 chromatic genus 啟發 · 16 世紀中葉作曲家開始使用直接半音進行（如 B→B■）作為表情手法 · Gregorian 以來首見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音樂印刷術 Music Printing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Petrucci · Attaingnant · The Technological Revolution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69164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印刷技術的發展 Development of Printing Technology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229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ca. 1450：Gutenberg 完善活字印刷術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1470s：活字首次用於音樂（chant）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1501：Petrucci 於威尼斯出版 Harmonice musices odhecaton A（三次壓印·精美但費時）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ca. 1520：Rastell 於倫敦首創單次壓印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1528：Attaingnant 於巴黎大規模採用單次壓印，成為後續標準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182880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449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印刷術的衝擊 Impact of Music Printing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02152"/>
            <a:ext cx="822960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樂譜價格大幅降低——業餘愛好者可負擔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音樂識讀普及——中產家庭成為音樂場域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作曲家名聲跨越地域——音樂「作品」概念成形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新類型蓬勃：madrigal、chanson、villancico、lute song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器樂譜首次問世：toccata、ricercare、canzona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中心：Venice / Paris / Rome / Nuremberg / London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重要理論家與人物 Key Theorists &amp; Figures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49808"/>
            <a:ext cx="4572000" cy="2743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Johannes Tinctoris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1435–1511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 de arte contrapuncti (1477) · 新對位法典範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Franchino Gaffurio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1451–1522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44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Theorica musice (1492) · 融合古希臘理論與當代實踐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Pietro Aaron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2402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1480–ca. 1550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2423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Toscanello in musica (1523) · 首位以義大利文寫作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1938528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Heinrich Glareanus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1488–1563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Dodecachordon (1547) · 新增 Aeolian、Ionian 調式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916936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Gioseffo Zarlino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2186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1517–1590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3401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istitutioni harmoniche (1558) · 對位與和聲集大成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2916936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Johann Gutenberg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2186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1400–1468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3401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活字印刷術完善者——改變知識傳播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895344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Ottaviano Petrucci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4197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1466–1539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43799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1501 威尼斯首本複音樂印刷集 (Odhecaton)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17720" y="3895344"/>
            <a:ext cx="4206240" cy="886968"/>
          </a:xfrm>
          <a:prstGeom prst="rect">
            <a:avLst/>
          </a:prstGeom>
          <a:solidFill>
            <a:srgbClr val="F3E5C5"/>
          </a:solidFill>
          <a:ln w="12700">
            <a:solidFill>
              <a:srgbClr val="7A2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 Attaingnant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54880" y="4197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1494–1551/52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0" y="43799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巴黎推廣單次壓印法——樂譜便宜普及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年代大事記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and Music 1400–1600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歐洲經濟開始復甦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8076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大分裂結束——教宗回歸羅馬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1425–28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Masaccio《聖三位一體》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1440s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Donatello《大衛》青銅像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1450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Gutenberg 完善活字印刷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百年戰爭結束 · 君士坦丁堡陷落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Tinctoris · Liber de arte contrapuncti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Ramis de Pareia 提出純律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37360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葡萄牙繞過好望角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 抵達西印度群島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Gaffurio · Theorica musice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8076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da Vinci《最後的晚餐》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3736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出版 Odhecaton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0916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 宗教改革開始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37360" y="3749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Pietro Aaron · Toscanello in musica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0916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80760" y="3749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Attaingnant 單次壓印法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73736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Machiavelli《君王論》出版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916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8076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Glareanus · Dodecachordon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737360" y="4480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Zarlino · Le istitutioni harmoniche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0916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80760" y="4480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Shakespeare《羅密歐與茱麗葉》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Renaissance 的遺產 The Legacy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84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一個統一的時代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4264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15–16 世紀以新對位法為基石，構成音樂史上的「Renaissance」時代（ca. 1400–1600）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502920" cy="50292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470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801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人文主義的力量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0391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古典學術的復興影響音樂美學——詞曲關係、修辭、表情與清晰度成為新準則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502920" cy="50292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597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4140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新對位法的建立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三六度協和、嚴格不協和處理、聲部平等——奠定此後數百年和聲與對位的基礎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026664"/>
            <a:ext cx="502920" cy="50292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72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0266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印刷術的革命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2644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音樂從精英走向業餘——新類型、國家風格、器樂音樂與宗教改革音樂因此蓬勃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502920" cy="50292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850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639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新舊律制並存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8770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純律、中庸律、平均律的發展反映音樂實踐對理論的主導地位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502920" cy="50292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297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4251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音樂成為「作品」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4897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固定記譜 · 作曲家個人身份 · 被收藏、研究、模仿——現代音樂觀念的起點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重要術語與延伸閱讀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· Further Reading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828800"/>
          </a:xfrm>
          <a:prstGeom prst="rect">
            <a:avLst/>
          </a:prstGeom>
          <a:solidFill>
            <a:srgbClr val="2A3C5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重要術語 Key Terms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Renaissance · studia humanitatis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Humanism · Rhetoric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International style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counterpoint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Imitative counterpoint · Homophony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Cantus-tenor framework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1517904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Pythagorean · Just · Mean-tone · Equal temp.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1755648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Chromaticism (chromatic genus)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1993392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Benefices · Choir schools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2231136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Partbooks · Single/triple impression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2468880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Chapel · Chamber · Public court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2706624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Haut and bas instruments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8595360" cy="10515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63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聆聽 Listen (文藝復興代表曲)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Tinctoris — Missa L'homme armé: Kyrie  youtu.be/VwbnG2XD540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Josquin — Ave Maria...virgo serena (Tallis Scholars)  youtu.be/scQ5YBRpwNg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Palestrina — Sicut cervus (Cambridge Singers)  youtu.be/0yd5EE0hAB8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3E2030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2976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延伸閱讀 Further Reading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Leeman Perkins, Music in the Age of the Renaissance (1999) · Allan Atlas, Renaissance Music (1998)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Reinhard Strohm, The Rise of European Music 1380–1500 (1993) · Tinctoris, The Art of Counterpoint (trans. Seay)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Music and the Renaissance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2026-04-17T22:31:02Z</dcterms:created>
  <dcterms:modified xsi:type="dcterms:W3CDTF">2026-04-17T22:31:02Z</dcterms:modified>
</cp:coreProperties>
</file>