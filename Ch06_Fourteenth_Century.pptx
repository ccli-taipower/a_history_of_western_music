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DEVELOPMENTS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FOURTEENTH CENTURY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Ars Nova · Machaut · Ars Subtilior · Trecento · Landini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106–133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⚔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世紀的歐洲 Europe in the 14th Century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黑死病、百年戰爭、亞維農教廷、教會大分裂——動盪中的創造力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新藝術 The Ars Nova in France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de Vitry、二等分拍、minim、記譜革命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👑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de Machaut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詩人兼作曲家 · 140 作品 · Messe de Nostre Dame · formes fixes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🎭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Ars Subtilior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巴比倫式的節奏與記譜複雜——亞維農與義大利北部的極致風格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🇮🇹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 Trecento 音樂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Madrigal · Caccia · Ballata · Francesco Landini · Squarcialupi Codex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演出實務與遺產 Performance &amp; Legacy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ficta · 高低樂器 · Ars Nova 記譜是現代記譜的直系祖先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世紀的歐洲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in the Fourteenth Century · Disruption and Creativity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7373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💀 災難的世紀 A Century of Calamity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1315–22 年大饑荒：西北歐洪水造成 1/10 人口喪生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1347–50 年黑死病（腺鼠疫+肺鼠疫）橫掃歐洲——三分之一人口死亡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1337–1453 英法百年戰爭；各地農民與城市暴動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教會危機：1309–77 教宗移駐亞維農（「巴比倫之囚」）· 1378–1417 教會大分裂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William of Ockham（ca. 1285–1349）主張知識應基於感官經驗——奠定現代科學方法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3017520"/>
            <a:ext cx="8595360" cy="17830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723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文化與技術的躍進 Cultural &amp; Technological Leaps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Giotto（ca. 1266–1337）畫作呈現自然主義與空間深度——繪畫的 Renaissance 先聲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Dante《神曲》(1307) · Boccaccio《十日談》(1348–53) · Chaucer《坎特伯雷故事集》(ca. 1387–1400)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新技術：眼鏡、磁羅盤、機械鐘——時間從教堂鐘聲轉為普世精確度量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Roman de Fauvel (ca. 1317)：諷刺教會政治的寓言詩，手稿含 169 首音樂作品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Allegorical poem satirizing church/politics; manuscript contains 169 musical pieces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新藝術 The Ars Nova in France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de Vitry (1291–1361) · A Revolution in Rhythm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👤 Philippe de Vitry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1291–1361 · 法國作曲家、詩人、教會參事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隨後成為 Meaux 主教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被稱為「新藝術的發明者」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1320 年的 Ars nova 論文——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以其教學為基礎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代表作：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Cum statua / Hugo, Hugo / Magister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invidie（NAWM 24）· 三聲部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Ars Nova = 新藝術/新方法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1310 年代始 · 持續到 1370 年代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反對者：Jacobus de Ispania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Speculum musicae (ca. 1330)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擁護舊的「ars antiqua」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記譜革命 Notation Revolution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二等分拍子（imperfect）與三等分拍子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equally valid——首次可寫下 duple meter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新的小音符 minim（「最小」）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將 semibreve 再細分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時值結構三層：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mode（long 分拍）· time（breve 分拍）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prolation（semibreve 分拍）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Mensuration signs（ca. 1340 Jehan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des Murs）——現代拍號的祖先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首次可寫下 syncopation 切分音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Jehan des Murs：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「whatever can be sung can be written」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只要唱得出來就寫得出來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Ars Nova 記譜是現代記譜的直系祖先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等節奏 Isorhythm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Structural Device of the Ars Nova Motet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1828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Talea（節奏單元）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「talea」= 拉丁「cutting」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聲部中反覆出現的節奏模式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較 13 世紀 clausula 更長更複雜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形成整首樂曲的節奏骨架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1828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4358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Color（旋律單元）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55448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「color」= 反覆出現的旋律段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的旋律循環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 talea 長度可以不同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常見：color 延伸跨越 2、3 個 taleae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使兩者的結尾錯開——層層結構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3108960"/>
            <a:ext cx="8595360" cy="1691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16382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Hocket（打嗝效果）與 Ars Nova 特徵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Hocket 來自法文 hoquet「打嗝」——兩聲部快速交替，一聲部休息時另一聲部發聲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Two voices alternate rapidly, one resting while the other sings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常見於 14 世紀 isorhythmic 作品中 · 有時整首為 hocket · 可為人聲或器樂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Ars Nova 的和聲：三度與六度（imperfect consonances）使用更頻繁——聽起來更甜美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但仍可見平行五度八度——與 15–16 世紀對位有別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這些 motets 寫給具文學與音樂素養的聽眾——詞樂結構交織的樂趣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de Machaut (ca. 1300–1377)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Composer and Poet of the Ars Nova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生平 Biography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出生於法國香檳省（Champagne）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受教育為教士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1323 任波希米亞國王 John of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Luxembourg 的秘書 · 隨其東征西伐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1340 起為 Reims 主教座堂參事——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有充分時間創作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贊助人：Bonne、Navarre 王、法國王、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Berry 與 Burgundy 公爵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劃時代意義：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是第一位主動編纂自己全集的作曲家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生前監督多部華麗插圖手稿的製作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與愛人 Peronne 通信討論創作方法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 livre du voir dit (1363–65)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展現作曲家的自我意識——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這在 19 世紀前極為罕見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🎼 主要作品 Major Works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宗教音樂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Messe de Nostre Dame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單一作曲家完成的首部完整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複音常規彌撒（4 聲部）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 motets（20 isorhythmic）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Hoquetus David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世俗音樂（formes fixes）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42 ballades（1 首單聲部）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 rondeaux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33 virelais（25 首單聲部）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 lais（15 首單聲部）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complainte · 1 chanson royale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詩作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Remede de Fortune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livre du voir dit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其他 280+ 首詩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影響：Chaucer 受其啟發；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美國說唱組 Panda Bear 採樣其 rondeau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Messe de Nostre Dame 與定型歌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Polyphonic Mass Cycle · The Three Formes Fixes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417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⛪ La Messe de Nostre Dame (ca. 1360s)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首部由單一作曲家設想為整體的常規彌撒（Mass Ordinary）複音曲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聲部 · 加入 contratenor 與 tenor 同音域（上下互換）· 為 Reims 主教座堂聖母禮拜所作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Kyrie / Sanctus / Agnus Dei / Ite missa est — isorhythmic · 帶 cantus firmus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Gloria / Credo — discant / conductus 風格（syllabic、同節奏聲部）· Gloria 的 "Jesu Christe" 以持續和弦突顯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前三樂章以 D 為調心，後三樂章以 F 為調心 —— 風格統一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743200"/>
            <a:ext cx="8595360" cy="62179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🎶 Ballade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23160" y="2834640"/>
            <a:ext cx="22860" cy="43891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2514600" y="278892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最嚴肅 · 三段詩節 · 每段結以相同副歌 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63640" y="278892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哲學、歷史、愛情主題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447288"/>
            <a:ext cx="8595360" cy="62179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4930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🔄 Rondeau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749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ABaAabAB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23160" y="3538728"/>
            <a:ext cx="22860" cy="43891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2514600" y="349300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愛情主題 · 單一詩節 · 副歌分切穿插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63640" y="3493008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Machaut: Rose, liz, printemps, verdure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4151376"/>
            <a:ext cx="8595360" cy="62179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970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💃 Virelai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453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AbbaA...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423160" y="4242816"/>
            <a:ext cx="22860" cy="43891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6" name="Text 24"/>
          <p:cNvSpPr/>
          <p:nvPr/>
        </p:nvSpPr>
        <p:spPr>
          <a:xfrm>
            <a:off x="2514600" y="419709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自然景物 + 愛情 · chanson baladée 「跳舞的歌」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263640" y="419709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Machaut: Douce dame jolie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極致藝術 The Ars Subtilior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More Subtle Manner" · Late 14th Century · Avignon &amp; N. Italy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69164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背景 Context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名稱由音樂學家 Ursula Günther 所創——源自 Philipoctus de Caserta 論文中的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「artem magis subtiliter」（更細緻的方式）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矛盾地，亞維農教皇宮廷成為世俗音樂的主要贊助中心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主要體裁：以 ballade 為主的 formes fixes chansons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對象：貴族、教士、博學的鑑賞家——極端精緻的藝術品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880360"/>
            <a:ext cx="8595360" cy="192024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5351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🔬 特徵 Features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255264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節奏複雜度達頂峰——直到 20 世紀才再見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Rhythmic complexity unseen again until the 20th century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多重拍號同時進行、hemiolas、鏈式切分音、刻意模糊的和聲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記譜特技：紅色與黑色音符交錯、以心形寫成情歌、以圓形寫成卡農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Philipoctus de Caserta — En remirant vo douce pourtraiture（NAWM 28）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同時期北法樂師行會發展出較簡單的世俗複音——描繪市井、狩獵等日常場景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此風格僅流行一代人——20 世紀作曲家如 Messiaen、Ligeti 受其啟發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 Trecento 音樂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 Music of the Fourteenth Century · The Trecento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0058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🇮🇹 背景：義大利是城邦聯合體，Trecento = "mille trecento" = 1300 年代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3619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主要中心：Bologna、Padua、Milan、Perugia、Naples——尤其是佛羅倫斯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義大利的記譜系統與法國不同：breve 可分為 2/3/4/6/8/9/12 semibreves；以點代替小節線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教會複音多為即興 · 現存主要是世俗歌曲——為菁英觀眾創作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331720"/>
            <a:ext cx="2788920" cy="2468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23957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Madrigal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" y="2651760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世紀的牧歌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944368"/>
            <a:ext cx="242316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01752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兩到三聲部 · 全部聲部唱相同歌詞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詩節結構：aa b（ritornello 尾韻）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田園、諷刺、或情詩主題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Jacopo da Bologna: Non al suo amante（NAWM 29）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82112" y="2331720"/>
            <a:ext cx="2788920" cy="2468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3291840" y="23957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🐎 Caccia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2651760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狩獵歌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2944368"/>
            <a:ext cx="242316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3319272" y="301752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字面意為「狩獵」· 上兩聲部嚴格卡農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下方 untexted tenor 緩慢支持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主題：狩獵、市集、戰鬥——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生動的對話與回聲 · 常用 hocket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Landini: Così pensoso（NAWM 30）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89904" y="2331720"/>
            <a:ext cx="2788920" cy="2468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23957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💃 Ballata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舞曲歌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72784" y="2944368"/>
            <a:ext cx="242316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6227064" y="301752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「ballare」= 跳舞 · AbbaA 形式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類似法國 virelai 的單一詩節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1365 年後多為 2–3 聲部複音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高聲部主導（受法國 chanson 影響）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Landini: Non avrà ma' pietà（NAWM 31）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Francesco Landini (ca. 1325–1397)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Foremost Italian Musician of the Trecento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生平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出生於佛羅倫斯（或鄰近 Fiesole）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畫家之子 · 幼年染天花失明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轉向音樂——成為卓越的演奏家、作曲家、詩人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擅長多種樂器，尤以 organetto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（小型可攜式管風琴）聞名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1361–65 任 Santa Trinità 管風琴師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1365–97 任 San Lorenzo 教堂 chaplain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軼事（Giovanni da Prato 記載）：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據說當 Landini 彈奏 organetto 時，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樹上的鳥群會停止歌唱而傾聽，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其中一隻夜鶯棲在他頭上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的樹枝繼續鳴叫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🎼 音樂特徵 Musical Style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作品：140 ballate · 12 madrigals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1 caccia · 1 virelai —— 無宗教音樂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旋律優雅如拱——級進為主、弧形線條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比 Machaut 更平滑流暢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三度與六度的和聲頻繁出現——甜美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每行詩的首末音節加花唱，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中間部分清楚的音節式宣讀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Landini 終止式（Landini cadence）：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終止前上聲部先下行到下鄰音，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再上跳三度到主音——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從他開始成為風格標誌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在 14 世紀末到 15 世紀初法義音樂中普及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埋葬於 San Lorenzo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墓碑上刻著他彈奏 organetto 的形象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演出實務 Performance Practice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Voices, Instruments, and Musica Ficta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691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🎺 Haut 與 Bas 樂器 · Voices or Instruments?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14–16 世紀以音量區分樂器：haut「高」(響亮) · bas「低」(柔和)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Haut: shawms, trumpets, cornetts · Bas: harps, vielles, lutes, psalteries, recorders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長期爭論：聲部由人聲唱還是樂器奏？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Christopher Page · David Fallows 等 1970–80 年代學者論證：14 世紀複音通常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為每聲部一位歌者，無器樂——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但宮廷世俗場合可能有器樂參與 · Gothic Voices 等團體的錄音證實此觀點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8595360" cy="1828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2666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Musica Ficta（「虛構的音樂」）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演出時對某些音作半音調整——避免 F–B 三全音、平滑旋律、終止甜美化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稱為 ficta（feigned）因為這些音落在 Guido 手的 musica recta 範圍外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演唱者受訓練於演出時即時判斷何時應升/降半音——作曲家只在必要處寫出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Double leading-tone cadence（雙導音終止）——上下兩聲部皆半音上行至完全協和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成為 14–15 世紀音樂的招牌聲響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Prosdocimo de' Beldomandi（卒 1428）的 Contrapunctus (1412) 詳細討論此原則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「較完美協和音程越近，聲響越甜美」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關鍵人物 Key Figures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8503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Philippe de Vitry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051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1291–1361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0" y="896112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8503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Nova 的奠基者——教會參事、詩人、Meaux 主教 · Cum statua / Hugo 為最早的 isorhythmic motet 之一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1335024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40817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👑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13624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de Machaut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15636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1300–1377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0" y="1408176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136245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世紀最重要作曲家兼詩人 · Messe de Nostre Dame · 首位主動編纂全集的作曲家 · 展現作者意識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1847088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9202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📚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18745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Jehan des Murs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" y="2075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1290–ca. 1355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0" y="1920240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374904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數學家、天文學家兼樂論家 · Ars nova 相關論文 · 1340 描述 mensuration signs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359152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43230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🔻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23865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Jacobus de Ispania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68680" y="2587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1260–after 1330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657600" y="2432304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374904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Speculum musicae (ca. 1330)——最長的中世紀音樂論文 · 反對 Ars Nova · 擁護 ars antiqua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29443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🎨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8680" y="28986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Philipoctus de Caserta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68680" y="309981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1370s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57600" y="2944368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5" name="Text 33"/>
          <p:cNvSpPr/>
          <p:nvPr/>
        </p:nvSpPr>
        <p:spPr>
          <a:xfrm>
            <a:off x="3749040" y="2898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亞維農教廷作曲家兼樂論家 · "Ars Subtilior" 一詞源自其論文 · En remirant vo douce pourtraiture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74320" y="3383280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34564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🎹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68680" y="3410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Francesco Landini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68680" y="3611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1325–1397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0" y="3456432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1" name="Text 39"/>
          <p:cNvSpPr/>
          <p:nvPr/>
        </p:nvSpPr>
        <p:spPr>
          <a:xfrm>
            <a:off x="374904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Trecento 最重要作曲家 · 失明的 organetto 大師 · 140 ballate · Landini cadence 得名於他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" y="3895344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39684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🎭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68680" y="39227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Jacopo da Bologna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68680" y="41239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1340s–60s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0" y="3968496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7" name="Text 45"/>
          <p:cNvSpPr/>
          <p:nvPr/>
        </p:nvSpPr>
        <p:spPr>
          <a:xfrm>
            <a:off x="3749040" y="392277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Trecento 早期重要 madrigal 作曲家 · Non al suo amante 為 Petrarch 詩譜曲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4480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📜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68680" y="44348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Prosdocimo de' Beldomandi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68680" y="46360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1428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657600" y="4480560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53" name="Text 51"/>
          <p:cNvSpPr/>
          <p:nvPr/>
        </p:nvSpPr>
        <p:spPr>
          <a:xfrm>
            <a:off x="3749040" y="4434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Padua 大學教授 · Contrapunctus (1412) 最清楚地闡述 musica ficta 規則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77440" y="749808"/>
            <a:ext cx="45720" cy="41879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58568" y="78638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74980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1300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670048" y="74980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機械時鐘問世 · Mechanical clocks invented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58568" y="994867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958291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1305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70048" y="958291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Giotto · Scrovegni Chapel 壁畫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58568" y="120335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16677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1307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670048" y="116677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Dante · Divine Comedy 以托斯卡納方言寫成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258568" y="141183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37525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1309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670048" y="137525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教皇 Clement V 移駐亞維農「巴比倫之囚」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258568" y="1620317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1583741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1317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70048" y="1583741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 de Fauvel 手稿（含 169 首音樂作品）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258568" y="182880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179222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1320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670048" y="179222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de Vitry · Cum statua/Hugo · Ars nova 論文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58568" y="2037283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000707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1323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670048" y="2000707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入 John of Luxembourg 之服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258568" y="224576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2209190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1330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670048" y="220919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Jacobus de Ispania · Speculum musicae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58568" y="245425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241767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1337–1453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670048" y="241767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英法百年戰爭 · Hundred Years' War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258568" y="2662733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2626157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1340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670048" y="2626157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Jehan des Murs 描述 mensuration signs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258568" y="287121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2834640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1340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670048" y="283464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成為 Reims 主教座堂參事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258568" y="3079699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3043123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1347–50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70048" y="3043123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黑死病 · Black Death 殺死歐洲 1/3 人口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258568" y="328818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" y="3251606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1348–53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70048" y="3251606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Boccaccio · Decameron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258568" y="349666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" y="3460090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1350s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70048" y="346009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Jacopo da Bologna · Non al suo amante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258568" y="3705149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" y="3668573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1360s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70048" y="3668573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· Messe de Nostre Dame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258568" y="391363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2" name="Text 50"/>
          <p:cNvSpPr/>
          <p:nvPr/>
        </p:nvSpPr>
        <p:spPr>
          <a:xfrm>
            <a:off x="91440" y="3877056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1365–97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70048" y="3877056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Francesco Landini 任 San Lorenzo 教堂 chaplain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258568" y="4122115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5" name="Text 53"/>
          <p:cNvSpPr/>
          <p:nvPr/>
        </p:nvSpPr>
        <p:spPr>
          <a:xfrm>
            <a:off x="91440" y="4085539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1378–1417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70048" y="4085539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教會大分裂 · Great Schism of the Papacy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258568" y="433059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" y="4294022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1370s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670048" y="429402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Philipoctus de Caserta · En remirant vo douce pourtraiture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258568" y="453908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61" name="Text 59"/>
          <p:cNvSpPr/>
          <p:nvPr/>
        </p:nvSpPr>
        <p:spPr>
          <a:xfrm>
            <a:off x="91440" y="4502506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1387–1400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670048" y="4502506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· Canterbury Tales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258568" y="4747565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64" name="Text 62"/>
          <p:cNvSpPr/>
          <p:nvPr/>
        </p:nvSpPr>
        <p:spPr>
          <a:xfrm>
            <a:off x="91440" y="4710989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1410–15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670048" y="4710989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Squarcialupi Codex 抄本完成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新藝術的迴響 Echoes of the New Art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Summary · Why This Music Mattered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51560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24712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1097280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Nova 記譜是現代記譜的直系祖先——首次能精確記下任何節奏，包括切分音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Nova notation is the direct ancestor of modern notation, first able to capture any rhythm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709928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1755648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精確記譜使作品能獨立流通——催生作曲家的「作者意識」，Machaut 是第一個主動編全集的例子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notation enabled composers to take pride in authorship, first seen in Machaut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68296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441448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2414016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動盪的世紀產出最精緻的藝術——結構（isorhythm、formes fixes）與感官愉悅並重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turbulent century produced the most refined art: structure and sensory pleasure in balance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026664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099816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🎵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307238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三度與六度的甜美與平行五八度的古老並存——14 世紀和聲的獨特聲響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Thirds and sixths coexist with parallel fifths and octaves—a distinctive 14th-century sound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685032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758184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🇫🇷🇮🇹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730752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法國理性結構與義大利旋律流暢——為 15 世紀國際風格鋪路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structure + Italian lyricism foreshadow the 15th-century international style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4343400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416552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🎧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4389120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Messiaen、Ligeti 受 Ars Subtilior 影響；Panda Bear 取樣 Machaut；Landini 進入 Judy Collins 的專輯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echoes: Messiaen, Ligeti, Panda Bear's "I'm Not", Judy Collins's Wildflowers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9611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3931920" cy="2194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698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🎧 聆聽 Listen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444752"/>
            <a:ext cx="3657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Vitry — Cum statua / Hugo (NAWM 24)  youtu.be/cS9bdjm0hN0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— Messe: Kyrie (NAWM 25a)  youtu.be/JtFMfmG5VlY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— Messe: Gloria (NAWM 25b)  youtu.be/RCyvt86_2Ko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— Douce dame jolie (NAWM 26)  youtu.be/pSjXxAOkSM8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— Rose, liz, printemps (NAWM 27)  youtu.be/VYY1WO6FimA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Caserta — En remirant (NAWM 28)  youtu.be/_LziNn1jpf0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Jacopo — Non al suo amante (NAWM 29)  youtu.be/SqDSGNZmtUw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Landini — Così pensoso (NAWM 30)  youtu.be/eB0QXbTsB4U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Landini — Non avrà ma' pietà (NAWM 31)  youtu.be/TXpgPLW_6IQ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480560" y="1005840"/>
            <a:ext cx="4297680" cy="2194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06984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閱讀 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1444752"/>
            <a:ext cx="4023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Leech-Wilkinson — The Modern Invention of Medieval Music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Walters Robertson — Guillaume de Machaut and Reims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Eva Leach — Guillaume de Machaut: Secretary, Poet, Musician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Long — "Musical Tastes in Fourteenth-Century Italy"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Virginia Newes — "Writing, Reading and Memorizing" (Early Music 18)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Wikipedia: Ars Nova · Ars Subtilior · Trecento · Formes fixes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3310128"/>
            <a:ext cx="8412480" cy="157276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74136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本章關鍵術語 Key Terms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776472"/>
            <a:ext cx="8046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Nova · Ars Antiqua · Philippe de Vitry · Jehan des Murs · Minim · Mode / Time / Prolation · Mensuration sign · Perfect / Imperfect · Syncopation · Isorhythm · Talea · Color · Hocket · Ars Subtilior · Musica ficta · Musica recta · Double leading-tone cadence · Landini cadence · Formes fixes · Ballade · Rondeau · Virelai · Chanson baladée · Chant royal · Lai · Complainte · Treble-dominated style · Cantus / Tenor / Contratenor · Machaut · Messe de Nostre Dame · Roman de Fauvel · Trecento · Madrigal (14th c.) · Ritornello · Caccia · Chace · Ballata · Ripresa / Piedi / Volta · Francesco Landini · Organetto · Squarcialupi Codex · Haut / Bas instruments · Portative / Positive organ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6: New Developments in the Fourteenth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2026-04-11T14:24:38Z</dcterms:created>
  <dcterms:modified xsi:type="dcterms:W3CDTF">2026-04-11T14:24:38Z</dcterms:modified>
</cp:coreProperties>
</file>