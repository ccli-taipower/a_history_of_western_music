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18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01768"/>
            <a:ext cx="9144000" cy="141732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4114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spc="300" kern="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HISTORY OF WESTERN MUSIC · TENTH EDITION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82296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spc="600" kern="0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CHAPTER 6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274320" y="1280160"/>
            <a:ext cx="85953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NEW DEVELOPMENTS</a:t>
            </a:r>
            <a:endParaRPr lang="en-US" sz="3400" dirty="0"/>
          </a:p>
          <a:p>
            <a:pPr algn="ctr" indent="0" marL="0">
              <a:buNone/>
            </a:pPr>
            <a:r>
              <a:rPr lang="en-US" sz="34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THE FOURTEENTH CENTURY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2286000" y="3246120"/>
            <a:ext cx="4572000" cy="3657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3383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Ars Nova · Machaut · Ars Subtilior · Trecento · Landini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8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 pp. 106–133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本章概覽 Chapter Overview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749808"/>
            <a:ext cx="841248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914400"/>
            <a:ext cx="548640" cy="530352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9601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■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051560" y="9144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18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 世紀的歐洲 Europe in the 14th Century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1170432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黑死病、百年戰爭、亞維農教廷、教會大分裂——動盪中的創造力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65760" y="1600200"/>
            <a:ext cx="548640" cy="530352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11" name="Text 9"/>
          <p:cNvSpPr/>
          <p:nvPr/>
        </p:nvSpPr>
        <p:spPr>
          <a:xfrm>
            <a:off x="365760" y="16459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■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051560" y="16002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18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新藝術 The Ars Nova in France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51560" y="1856232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Philippe de Vitry、二等分拍、minim、記譜革命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65760" y="2286000"/>
            <a:ext cx="548640" cy="530352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15" name="Text 13"/>
          <p:cNvSpPr/>
          <p:nvPr/>
        </p:nvSpPr>
        <p:spPr>
          <a:xfrm>
            <a:off x="365760" y="23317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■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051560" y="22860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18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Guillaume de Machaut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51560" y="2542032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詩人兼作曲家 · 140 作品 · Messe de Nostre Dame · formes fixes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65760" y="2971800"/>
            <a:ext cx="548640" cy="530352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19" name="Text 17"/>
          <p:cNvSpPr/>
          <p:nvPr/>
        </p:nvSpPr>
        <p:spPr>
          <a:xfrm>
            <a:off x="365760" y="30175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■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051560" y="29718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18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Ars Subtilior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51560" y="3227832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巴比倫式的節奏與記譜複雜——亞維農與義大利北部的極致風格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365760" y="3657600"/>
            <a:ext cx="548640" cy="530352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23" name="Text 21"/>
          <p:cNvSpPr/>
          <p:nvPr/>
        </p:nvSpPr>
        <p:spPr>
          <a:xfrm>
            <a:off x="365760" y="37033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IT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1051560" y="36576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18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義大利 Trecento 音樂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051560" y="3913632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Madrigal · Caccia · Ballata · Francesco Landini · Squarcialupi Codex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365760" y="4343400"/>
            <a:ext cx="548640" cy="530352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27" name="Text 25"/>
          <p:cNvSpPr/>
          <p:nvPr/>
        </p:nvSpPr>
        <p:spPr>
          <a:xfrm>
            <a:off x="365760" y="43891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■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1051560" y="43434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18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演出實務與遺產 Performance &amp; Legacy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051560" y="4599432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Musica ficta · 高低樂器 · Ars Nova 記譜是現代記譜的直系祖先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C18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 世紀的歐洲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Europe in the Fourteenth Century · Disruption and Creativity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371600" y="1024128"/>
            <a:ext cx="6400800" cy="3657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88720"/>
            <a:ext cx="8595360" cy="173736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243584"/>
            <a:ext cx="8321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災難的世紀 A Century of Calamity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1554480"/>
            <a:ext cx="822960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1315–22 年大饑荒：西北歐洪水造成 1/10 人口喪生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1347–50 年黑死病（腺鼠疫+肺鼠疫）橫掃歐洲——三分之一人口死亡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1337–1453 英法百年戰爭；各地農民與城市暴動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教會危機：1309–77 教宗移駐亞維農（「巴比倫之囚」）· 1378–1417 教會大分裂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William of Ockham（ca. 1285–1349）主張知識應基於感官經驗——奠定現代科學方法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74320" y="3017520"/>
            <a:ext cx="8595360" cy="178308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11" name="Text 9"/>
          <p:cNvSpPr/>
          <p:nvPr/>
        </p:nvSpPr>
        <p:spPr>
          <a:xfrm>
            <a:off x="411480" y="3072384"/>
            <a:ext cx="8321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文化與技術的躍進 Cultural &amp; Technological Leaps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" y="338328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Giotto（ca. 1266–1337）畫作呈現自然主義與空間深度——繪畫的 Renaissance 先聲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Dante《神曲》(1307) · Boccaccio《十日談》(1348–53) · Chaucer《坎特伯雷故事集》(ca. 1387–1400)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新技術：眼鏡、磁羅盤、機械鐘——時間從教堂鐘聲轉為普世精確度量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Roman de Fauvel (ca. 1317)：諷刺教會政治的寓言詩，手稿含 169 首音樂作品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Allegorical poem satirizing church/politics; manuscript contains 169 musical pieces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A84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A84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A84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新藝術 The Ars Nova in France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6400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Philippe de Vitry (1291–1361) · A Revolution in Rhythm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950976"/>
            <a:ext cx="841248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097280"/>
            <a:ext cx="4206240" cy="379476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170432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Philippe de Vitry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2920" y="1517904"/>
            <a:ext cx="3749040" cy="1828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1627632"/>
            <a:ext cx="384048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1291–1361 · 法國作曲家、詩人、教會參事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隨後成為 Meaux 主教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被稱為「新藝術的發明者」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約 1320 年的 Ars nova 論文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代表作：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Cum statua / Hugo, Hugo / Magister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invidie（NAWM 24）· 三聲部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Ars Nova = 新藝術/新方法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1310 年代始 · 持續到 1370 年代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反對者：Jacobus de Ispania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Speculum musicae (ca. 1330)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663440" y="1097280"/>
            <a:ext cx="4206240" cy="3794760"/>
          </a:xfrm>
          <a:prstGeom prst="rect">
            <a:avLst/>
          </a:prstGeom>
          <a:solidFill>
            <a:srgbClr val="5C3A2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170432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記譜革命 Notation Revolution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892040" y="1517904"/>
            <a:ext cx="3749040" cy="1828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14" name="Text 12"/>
          <p:cNvSpPr/>
          <p:nvPr/>
        </p:nvSpPr>
        <p:spPr>
          <a:xfrm>
            <a:off x="4846320" y="1627632"/>
            <a:ext cx="384048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二等分與三等分拍子 equally valid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首次可寫下 duple meter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新的小音符 minim 將 semibreve 再細分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時值結構三層：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mode · time · prolation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Mensuration signs（ca. 1340 Jehan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des Murs）——現代拍號的祖先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 首次可寫下 syncopation 切分音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Jehan des Murs：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「whatever can be sung can be written」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C18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等節奏 Isorhythm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Structural Device of the Ars Nova Motet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371600" y="1024128"/>
            <a:ext cx="6400800" cy="3657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88720"/>
            <a:ext cx="4206240" cy="182880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24358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Talea（節奏單元）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1554480"/>
            <a:ext cx="38404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「talea」= 拉丁「cutting」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tenor 聲部中反覆出現的節奏模式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較 13 世紀 clausula 更長更複雜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形成整首樂曲的節奏骨架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663440" y="1188720"/>
            <a:ext cx="4206240" cy="182880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11" name="Text 9"/>
          <p:cNvSpPr/>
          <p:nvPr/>
        </p:nvSpPr>
        <p:spPr>
          <a:xfrm>
            <a:off x="4800600" y="124358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Color（旋律單元）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846320" y="1554480"/>
            <a:ext cx="38404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「color」= 反覆出現的旋律段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tenor 的旋律循環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與 talea 長度可以不同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常見：color 延伸跨越 2、3 個 taleae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使兩者的結尾錯開——層層結構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274320" y="3108960"/>
            <a:ext cx="8595360" cy="169164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14" name="Text 12"/>
          <p:cNvSpPr/>
          <p:nvPr/>
        </p:nvSpPr>
        <p:spPr>
          <a:xfrm>
            <a:off x="411480" y="3163824"/>
            <a:ext cx="8321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Hocket（打嗝效果）與 Ars Nova 特徵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" y="3474720"/>
            <a:ext cx="82296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Hocket 來自法文 hoquet「打嗝」——兩聲部快速交替，一聲部休息時另一聲部發聲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Two voices alternate rapidly, one resting while the other sings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常見於 14 世紀 isorhythmic 作品中 · 有時整首為 hocket · 可為人聲或器樂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Ars Nova 的和聲：三度與六度（imperfect consonances）使用更頻繁——聽起來更甜美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但仍可見平行五度八度——與 15–16 世紀對位有別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這些 motets 寫給具文學與音樂素養的聽眾——詞樂結構交織的樂趣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Guillaume de Machaut (ca. 1300–1377)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6400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Important Composer and Poet of the Ars Nova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950976"/>
            <a:ext cx="841248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097280"/>
            <a:ext cx="4206240" cy="379476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170432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生平 Biography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2920" y="1517904"/>
            <a:ext cx="3749040" cy="1828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1627632"/>
            <a:ext cx="384048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出生於法國香檳省（Champagne）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受教育為教士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ca. 1323 任波希米亞國王 John of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Luxembourg 的秘書 · 隨其東征西伐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1340 起為 Reims 主教座堂參事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贊助人：Navarre 王、法國王、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Berry 與 Burgundy 公爵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劃時代意義：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第一位主動編纂自己全集的作曲家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生前監督華麗插圖手稿的製作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Le livre du voir dit (1363–65)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與愛人 Peronne 通信討論創作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展現作曲家的自我意識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663440" y="1097280"/>
            <a:ext cx="4206240" cy="3794760"/>
          </a:xfrm>
          <a:prstGeom prst="rect">
            <a:avLst/>
          </a:prstGeom>
          <a:solidFill>
            <a:srgbClr val="5C3A2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170432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主要作品 Major Works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892040" y="1517904"/>
            <a:ext cx="3749040" cy="1828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14" name="Text 12"/>
          <p:cNvSpPr/>
          <p:nvPr/>
        </p:nvSpPr>
        <p:spPr>
          <a:xfrm>
            <a:off x="4846320" y="1627632"/>
            <a:ext cx="384048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宗教音樂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La Messe de Nostre Dame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首部完整複音常規彌撒（4 聲部）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23 motets（20 isorhythmic）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Hoquetus David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世俗音樂（formes fixes）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42 ballades · 22 rondeaux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33 virelais · 19 lais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 complainte · 1 chanson royale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詩作：Remede de Fortune ·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Le livre du voir dit · 280+ 首詩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影響：Chaucer 受其啟發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C18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Messe de Nostre Dame 與定型歌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First Polyphonic Mass Cycle · The Three Formes Fixes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371600" y="1024128"/>
            <a:ext cx="6400800" cy="3657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88720"/>
            <a:ext cx="8595360" cy="141732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243584"/>
            <a:ext cx="8321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La Messe de Nostre Dame (ca. 1360s)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1554480"/>
            <a:ext cx="822960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首部由單一作曲家構思為整體的常規彌撒（Mass Ordinary）複音曲，為 Reims 主教座堂聖母禮所作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4 聲部：加入 contratenor 與 tenor 同音域，上下互換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Kyrie / Sanctus / Agnus Dei / Ite missa est 採 isorhythmic + cantus firmus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Gloria / Credo 採 discant / conductus 風格（syllabic、同節奏）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74320" y="2743200"/>
            <a:ext cx="8595360" cy="621792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11" name="Text 9"/>
          <p:cNvSpPr/>
          <p:nvPr/>
        </p:nvSpPr>
        <p:spPr>
          <a:xfrm>
            <a:off x="365760" y="27889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Ballade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65760" y="304495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aabC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2423160" y="2834640"/>
            <a:ext cx="22860" cy="438912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14" name="Text 12"/>
          <p:cNvSpPr/>
          <p:nvPr/>
        </p:nvSpPr>
        <p:spPr>
          <a:xfrm>
            <a:off x="2514600" y="2788920"/>
            <a:ext cx="3657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最嚴肅 · 三段詩節 · 每段結以相同副歌 C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263640" y="2788920"/>
            <a:ext cx="2514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哲學、歷史、愛情主題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274320" y="3447288"/>
            <a:ext cx="8595360" cy="621792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17" name="Text 15"/>
          <p:cNvSpPr/>
          <p:nvPr/>
        </p:nvSpPr>
        <p:spPr>
          <a:xfrm>
            <a:off x="365760" y="349300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Rondeau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65760" y="37490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ABaAabAB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2423160" y="3538728"/>
            <a:ext cx="22860" cy="438912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20" name="Text 18"/>
          <p:cNvSpPr/>
          <p:nvPr/>
        </p:nvSpPr>
        <p:spPr>
          <a:xfrm>
            <a:off x="2514600" y="3493008"/>
            <a:ext cx="3657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愛情主題 · 單一詩節 · 副歌分切穿插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263640" y="3493008"/>
            <a:ext cx="2514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Machaut: Rose, liz, printemps, verdure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274320" y="4151376"/>
            <a:ext cx="8595360" cy="621792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23" name="Text 21"/>
          <p:cNvSpPr/>
          <p:nvPr/>
        </p:nvSpPr>
        <p:spPr>
          <a:xfrm>
            <a:off x="365760" y="41970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Virelai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365760" y="44531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AbbaA...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2423160" y="4242816"/>
            <a:ext cx="22860" cy="438912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26" name="Text 24"/>
          <p:cNvSpPr/>
          <p:nvPr/>
        </p:nvSpPr>
        <p:spPr>
          <a:xfrm>
            <a:off x="2514600" y="4197096"/>
            <a:ext cx="3657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自然景物 + 愛情 · chanson baladée 「跳舞的歌」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263640" y="4197096"/>
            <a:ext cx="2514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Machaut: Douce dame jolie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A84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A84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A84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極致藝術 The Ars Subtilior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6400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"The More Subtle Manner" · Late 14th Century · Avignon &amp; N. Italy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950976"/>
            <a:ext cx="841248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078992"/>
            <a:ext cx="8595360" cy="169164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152144"/>
            <a:ext cx="8321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背景 Context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1463040"/>
            <a:ext cx="82296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名稱由音樂學家 Ursula Günther 所創——源自 Philipoctus de Caserta 論文中的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「artem magis subtiliter」（更細緻的方式）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矛盾地，亞維農教皇宮廷成為世俗音樂的主要贊助中心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主要體裁：以 ballade 為主的 formes fixes chansons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對象：貴族、教士、博學的鑑賞家——極端精緻的藝術品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74320" y="2880360"/>
            <a:ext cx="8595360" cy="1920240"/>
          </a:xfrm>
          <a:prstGeom prst="rect">
            <a:avLst/>
          </a:prstGeom>
          <a:solidFill>
            <a:srgbClr val="A84030"/>
          </a:solidFill>
          <a:ln/>
        </p:spPr>
      </p:sp>
      <p:sp>
        <p:nvSpPr>
          <p:cNvPr id="11" name="Text 9"/>
          <p:cNvSpPr/>
          <p:nvPr/>
        </p:nvSpPr>
        <p:spPr>
          <a:xfrm>
            <a:off x="411480" y="2953512"/>
            <a:ext cx="8321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特徵 Features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" y="3255264"/>
            <a:ext cx="822960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節奏複雜度達頂峰——直到 20 世紀才再見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Rhythmic complexity unseen again until the 20th century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多重拍號同時進行、hemiolas、鏈式切分音、刻意模糊的和聲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記譜特技：紅色與黑色音符交錯、以心形寫成情歌、以圓形寫成卡農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Philipoctus de Caserta — En remirant vo douce pourtraiture（NAWM 28）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同時期北法樂師行會發展出較簡單的世俗複音——描繪市井、狩獵等日常場景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此風格僅流行一代人——20 世紀作曲家如 Messiaen、Ligeti 受其啟發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C18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義大利 Trecento 音樂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Italian Music of the Fourteenth Century · The Trecento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371600" y="1024128"/>
            <a:ext cx="6400800" cy="3657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88720"/>
            <a:ext cx="8595360" cy="100584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243584"/>
            <a:ext cx="8321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背景：義大利是城邦聯合體，Trecento = "mille trecento" = 1300 年代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1536192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主要中心：Bologna、Padua、Milan、Perugia、Naples——尤其是佛羅倫斯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義大利的記譜系統與法國不同：breve 可分為 2/3/4/6/8/9/12 semibreves；以點代替小節線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教會複音多為即興 · 現存主要是世俗歌曲——為菁英觀眾創作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74320" y="2331720"/>
            <a:ext cx="2788920" cy="246888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11" name="Text 9"/>
          <p:cNvSpPr/>
          <p:nvPr/>
        </p:nvSpPr>
        <p:spPr>
          <a:xfrm>
            <a:off x="384048" y="2395728"/>
            <a:ext cx="2606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Madrigal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84048" y="2651760"/>
            <a:ext cx="260604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世紀牧歌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2944368"/>
            <a:ext cx="2423160" cy="1828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14" name="Text 12"/>
          <p:cNvSpPr/>
          <p:nvPr/>
        </p:nvSpPr>
        <p:spPr>
          <a:xfrm>
            <a:off x="411480" y="3017520"/>
            <a:ext cx="25603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兩到三聲部 · 各聲部同詞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結構：aa b（ritornello 尾韻）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田園、諷刺、情詩主題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Jacopo: Non al suo amante (NAWM 29)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182112" y="2331720"/>
            <a:ext cx="2788920" cy="246888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16" name="Text 14"/>
          <p:cNvSpPr/>
          <p:nvPr/>
        </p:nvSpPr>
        <p:spPr>
          <a:xfrm>
            <a:off x="3291840" y="2395728"/>
            <a:ext cx="2606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Caccia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291840" y="2651760"/>
            <a:ext cx="260604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狩獵歌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364992" y="2944368"/>
            <a:ext cx="2423160" cy="1828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19" name="Text 17"/>
          <p:cNvSpPr/>
          <p:nvPr/>
        </p:nvSpPr>
        <p:spPr>
          <a:xfrm>
            <a:off x="3319272" y="3017520"/>
            <a:ext cx="25603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「狩獵」· 上兩聲部嚴格卡農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tenor 緩慢支持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主題：狩獵、市集、戰鬥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常用 hocket 表現回聲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Landini: Così pensoso (NAWM 30)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089904" y="2331720"/>
            <a:ext cx="2788920" cy="246888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21" name="Text 19"/>
          <p:cNvSpPr/>
          <p:nvPr/>
        </p:nvSpPr>
        <p:spPr>
          <a:xfrm>
            <a:off x="6199632" y="2395728"/>
            <a:ext cx="2606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Ballata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199632" y="2651760"/>
            <a:ext cx="260604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舞曲歌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272784" y="2944368"/>
            <a:ext cx="2423160" cy="1828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24" name="Text 22"/>
          <p:cNvSpPr/>
          <p:nvPr/>
        </p:nvSpPr>
        <p:spPr>
          <a:xfrm>
            <a:off x="6227064" y="3017520"/>
            <a:ext cx="25603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「ballare」= 跳舞 · AbbaA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類似法國 virelai 單一詩節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1365 後多為 2–3 聲部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高聲部主導（chanson 影響）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Landini: Non avrà (NAWM 31)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Francesco Landini (ca. 1325–1397)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6400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Foremost Italian Musician of the Trecento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950976"/>
            <a:ext cx="841248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097280"/>
            <a:ext cx="4206240" cy="379476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170432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生平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2920" y="1517904"/>
            <a:ext cx="3749040" cy="1828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1627632"/>
            <a:ext cx="384048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生於佛羅倫斯（或鄰近 Fiesole）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畫家之子 · 幼年染天花失明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轉向音樂 — 成為傑出演奏家、作曲家、詩人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以 organetto 小型管風琴聞名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1361–65 任 Santa Trinità 管風琴師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1365–97 任 San Lorenzo chaplain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軼事（Giovanni da Prato 記載）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Landini 彈奏時鳥群會停下傾聽，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夜鶯甚至棲在其頭上樹枝鳴叫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663440" y="1097280"/>
            <a:ext cx="4206240" cy="3794760"/>
          </a:xfrm>
          <a:prstGeom prst="rect">
            <a:avLst/>
          </a:prstGeom>
          <a:solidFill>
            <a:srgbClr val="5C3A2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170432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音樂特徵 Musical Style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892040" y="1517904"/>
            <a:ext cx="3749040" cy="1828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14" name="Text 12"/>
          <p:cNvSpPr/>
          <p:nvPr/>
        </p:nvSpPr>
        <p:spPr>
          <a:xfrm>
            <a:off x="4846320" y="1627632"/>
            <a:ext cx="384048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作品：140 ballate · 12 madrigals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 caccia · 1 virelai · 無宗教音樂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旋律如拱——級進為主、弧形線條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比 Machaut 更平滑流暢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三度與六度和聲頻繁——甜美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詩首末音節加花，中間音節式宣讀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Landini 終止式（Landini cadence）：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上聲部下行到下鄰音，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再上跳三度到主音 · 14–15 世紀普及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葬於 San Lorenzo · 墓碑刻 organetto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C18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演出實務 Performance Practice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Voices, Instruments, and Musica Ficta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371600" y="1024128"/>
            <a:ext cx="6400800" cy="3657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88720"/>
            <a:ext cx="8595360" cy="169164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243584"/>
            <a:ext cx="8321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Haut 與 Bas 樂器 · Voices or Instruments?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1554480"/>
            <a:ext cx="822960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14–16 世紀以音量區分樂器：haut「高」(響亮) · bas「低」(柔和)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Haut: shawms, trumpets, cornetts · Bas: harps, vielles, lutes, psalteries, recorders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長期爭論：聲部由人聲唱還是樂器奏？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Christopher Page · David Fallows 等 1970–80 年代學者論證：14 世紀複音通常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為每聲部一位歌者，無器樂——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但宮廷世俗場合可能有器樂參與 · Gothic Voices 等團體的錄音證實此觀點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74320" y="2971800"/>
            <a:ext cx="8595360" cy="182880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11" name="Text 9"/>
          <p:cNvSpPr/>
          <p:nvPr/>
        </p:nvSpPr>
        <p:spPr>
          <a:xfrm>
            <a:off x="411480" y="3026664"/>
            <a:ext cx="8321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Musica Ficta（「虛構的音樂」）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" y="3337560"/>
            <a:ext cx="82296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演出時對某些音作半音調整——避免 F–B 三全音、平滑旋律、終止甜美化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稱為 ficta（feigned）因為這些音落在 Guido 手的 musica recta 範圍外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演唱者受訓練於演出時即時判斷何時應升/降半音——作曲家只在必要處寫出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Double leading-tone cadence（雙導音終止）——上下兩聲部皆半音上行至完全協和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成為 14–15 世紀音樂的招牌聲響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Prosdocimo de' Beldomandi（卒 1428）的 Contrapunctus (1412) 詳細討論此原則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「較完美協和音程越近，聲響越甜美」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A84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A84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A84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關鍵人物 Key Figures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841248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6" name="Shape 4"/>
          <p:cNvSpPr/>
          <p:nvPr/>
        </p:nvSpPr>
        <p:spPr>
          <a:xfrm>
            <a:off x="274320" y="822960"/>
            <a:ext cx="8595360" cy="45720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89611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■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68680" y="85039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Philippe de Vitry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68680" y="105156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1291–1361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657600" y="896112"/>
            <a:ext cx="22860" cy="32004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11" name="Text 9"/>
          <p:cNvSpPr/>
          <p:nvPr/>
        </p:nvSpPr>
        <p:spPr>
          <a:xfrm>
            <a:off x="3749040" y="850392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Ars Nova 的奠基者——教會參事、詩人、Meaux 主教 · Cum statua / Hugo 為最早的 isorhythmic motet 之一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74320" y="1335024"/>
            <a:ext cx="8595360" cy="45720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13" name="Text 11"/>
          <p:cNvSpPr/>
          <p:nvPr/>
        </p:nvSpPr>
        <p:spPr>
          <a:xfrm>
            <a:off x="365760" y="1408176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■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68680" y="1362456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Guillaume de Machaut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68680" y="156362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1300–1377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0" y="1408176"/>
            <a:ext cx="22860" cy="32004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17" name="Text 15"/>
          <p:cNvSpPr/>
          <p:nvPr/>
        </p:nvSpPr>
        <p:spPr>
          <a:xfrm>
            <a:off x="3749040" y="1362456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世紀最重要作曲家兼詩人 · Messe de Nostre Dame · 首位主動編纂全集的作曲家 · 展現作者意識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274320" y="1847088"/>
            <a:ext cx="8595360" cy="45720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19" name="Text 17"/>
          <p:cNvSpPr/>
          <p:nvPr/>
        </p:nvSpPr>
        <p:spPr>
          <a:xfrm>
            <a:off x="365760" y="192024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■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68680" y="18745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Jehan des Murs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8680" y="207568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1290–ca. 1355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3657600" y="1920240"/>
            <a:ext cx="22860" cy="32004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23" name="Text 21"/>
          <p:cNvSpPr/>
          <p:nvPr/>
        </p:nvSpPr>
        <p:spPr>
          <a:xfrm>
            <a:off x="3749040" y="187452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數學家、天文學家兼樂論家 · Ars nova 相關論文 · 1340 描述 mensuration signs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274320" y="2359152"/>
            <a:ext cx="8595360" cy="45720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25" name="Text 23"/>
          <p:cNvSpPr/>
          <p:nvPr/>
        </p:nvSpPr>
        <p:spPr>
          <a:xfrm>
            <a:off x="365760" y="2432304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■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868680" y="238658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Jacobus de Ispania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68680" y="25877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1260–after 1330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3657600" y="2432304"/>
            <a:ext cx="22860" cy="32004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29" name="Text 27"/>
          <p:cNvSpPr/>
          <p:nvPr/>
        </p:nvSpPr>
        <p:spPr>
          <a:xfrm>
            <a:off x="3749040" y="2386584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Speculum musicae (ca. 1330)——最長的中世紀音樂論文 · 反對 Ars Nova · 擁護 ars antiqua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274320" y="2871216"/>
            <a:ext cx="8595360" cy="45720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31" name="Text 29"/>
          <p:cNvSpPr/>
          <p:nvPr/>
        </p:nvSpPr>
        <p:spPr>
          <a:xfrm>
            <a:off x="365760" y="2944368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■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868680" y="289864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Philipoctus de Caserta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868680" y="309981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fl. 1370s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0" y="2944368"/>
            <a:ext cx="22860" cy="32004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5" name="Text 33"/>
          <p:cNvSpPr/>
          <p:nvPr/>
        </p:nvSpPr>
        <p:spPr>
          <a:xfrm>
            <a:off x="3749040" y="2898648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亞維農教廷作曲家兼樂論家 · "Ars Subtilior" 一詞源自其論文 · En remirant vo douce pourtraiture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274320" y="3383280"/>
            <a:ext cx="8595360" cy="45720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37" name="Text 35"/>
          <p:cNvSpPr/>
          <p:nvPr/>
        </p:nvSpPr>
        <p:spPr>
          <a:xfrm>
            <a:off x="365760" y="345643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■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868680" y="341071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Francesco Landini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868680" y="36118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1325–1397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0" y="3456432"/>
            <a:ext cx="22860" cy="32004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1" name="Text 39"/>
          <p:cNvSpPr/>
          <p:nvPr/>
        </p:nvSpPr>
        <p:spPr>
          <a:xfrm>
            <a:off x="3749040" y="3410712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Trecento 最重要作曲家 · 失明的 organetto 大師 · 140 ballate · Landini cadence 得名於他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274320" y="3895344"/>
            <a:ext cx="8595360" cy="45720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43" name="Text 41"/>
          <p:cNvSpPr/>
          <p:nvPr/>
        </p:nvSpPr>
        <p:spPr>
          <a:xfrm>
            <a:off x="365760" y="3968496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■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868680" y="3922776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Jacopo da Bologna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868680" y="412394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fl. 1340s–60s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3657600" y="3968496"/>
            <a:ext cx="22860" cy="32004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7" name="Text 45"/>
          <p:cNvSpPr/>
          <p:nvPr/>
        </p:nvSpPr>
        <p:spPr>
          <a:xfrm>
            <a:off x="3749040" y="3922776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Trecento 早期重要 madrigal 作曲家 · Non al suo amante 為 Petrarch 詩譜曲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274320" y="4407408"/>
            <a:ext cx="8595360" cy="45720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49" name="Text 47"/>
          <p:cNvSpPr/>
          <p:nvPr/>
        </p:nvSpPr>
        <p:spPr>
          <a:xfrm>
            <a:off x="365760" y="448056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■</a:t>
            </a:r>
            <a:endParaRPr lang="en-US" sz="1600" dirty="0"/>
          </a:p>
        </p:txBody>
      </p:sp>
      <p:sp>
        <p:nvSpPr>
          <p:cNvPr id="50" name="Text 48"/>
          <p:cNvSpPr/>
          <p:nvPr/>
        </p:nvSpPr>
        <p:spPr>
          <a:xfrm>
            <a:off x="868680" y="443484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Prosdocimo de' Beldomandi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868680" y="463600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1428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3657600" y="4480560"/>
            <a:ext cx="22860" cy="32004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53" name="Text 51"/>
          <p:cNvSpPr/>
          <p:nvPr/>
        </p:nvSpPr>
        <p:spPr>
          <a:xfrm>
            <a:off x="3749040" y="443484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Padua 大學教授 · Contrapunctus (1412) 最清楚地闡述 musica ficta 規則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C18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歷史時間軸 Timeline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377440" y="749808"/>
            <a:ext cx="45720" cy="4187952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6" name="Shape 4"/>
          <p:cNvSpPr/>
          <p:nvPr/>
        </p:nvSpPr>
        <p:spPr>
          <a:xfrm>
            <a:off x="2258568" y="786384"/>
            <a:ext cx="237744" cy="237744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7" name="Text 5"/>
          <p:cNvSpPr/>
          <p:nvPr/>
        </p:nvSpPr>
        <p:spPr>
          <a:xfrm>
            <a:off x="91440" y="749808"/>
            <a:ext cx="20848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1300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670048" y="749808"/>
            <a:ext cx="6217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機械時鐘問世 · Mechanical clocks invented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258568" y="994867"/>
            <a:ext cx="237744" cy="237744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" y="958291"/>
            <a:ext cx="20848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1305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670048" y="958291"/>
            <a:ext cx="6217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Giotto · Scrovegni Chapel 壁畫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258568" y="1203350"/>
            <a:ext cx="237744" cy="237744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" y="1166774"/>
            <a:ext cx="20848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1307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670048" y="1166774"/>
            <a:ext cx="6217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Dante · Divine Comedy 以托斯卡納方言寫成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2258568" y="1411834"/>
            <a:ext cx="237744" cy="237744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" y="1375258"/>
            <a:ext cx="20848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1309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2670048" y="1375258"/>
            <a:ext cx="6217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教皇 Clement V 移駐亞維農「巴比倫之囚」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2258568" y="1620317"/>
            <a:ext cx="237744" cy="237744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19" name="Text 17"/>
          <p:cNvSpPr/>
          <p:nvPr/>
        </p:nvSpPr>
        <p:spPr>
          <a:xfrm>
            <a:off x="91440" y="1583741"/>
            <a:ext cx="20848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1317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2670048" y="1583741"/>
            <a:ext cx="6217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Roman de Fauvel 手稿（含 169 首音樂作品）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2258568" y="1828800"/>
            <a:ext cx="237744" cy="237744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22" name="Text 20"/>
          <p:cNvSpPr/>
          <p:nvPr/>
        </p:nvSpPr>
        <p:spPr>
          <a:xfrm>
            <a:off x="91440" y="1792224"/>
            <a:ext cx="20848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1320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2670048" y="1792224"/>
            <a:ext cx="6217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Philippe de Vitry · Cum statua/Hugo · Ars nova 論文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2258568" y="2037283"/>
            <a:ext cx="237744" cy="237744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25" name="Text 23"/>
          <p:cNvSpPr/>
          <p:nvPr/>
        </p:nvSpPr>
        <p:spPr>
          <a:xfrm>
            <a:off x="91440" y="2000707"/>
            <a:ext cx="20848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1323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2670048" y="2000707"/>
            <a:ext cx="6217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Machaut 入 John of Luxembourg 之服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2258568" y="2245766"/>
            <a:ext cx="237744" cy="237744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28" name="Text 26"/>
          <p:cNvSpPr/>
          <p:nvPr/>
        </p:nvSpPr>
        <p:spPr>
          <a:xfrm>
            <a:off x="91440" y="2209190"/>
            <a:ext cx="20848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1330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2670048" y="2209190"/>
            <a:ext cx="6217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Jacobus de Ispania · Speculum musicae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2258568" y="2454250"/>
            <a:ext cx="237744" cy="237744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31" name="Text 29"/>
          <p:cNvSpPr/>
          <p:nvPr/>
        </p:nvSpPr>
        <p:spPr>
          <a:xfrm>
            <a:off x="91440" y="2417674"/>
            <a:ext cx="20848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1337–1453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2670048" y="2417674"/>
            <a:ext cx="6217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英法百年戰爭 · Hundred Years' War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2258568" y="2662733"/>
            <a:ext cx="237744" cy="237744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34" name="Text 32"/>
          <p:cNvSpPr/>
          <p:nvPr/>
        </p:nvSpPr>
        <p:spPr>
          <a:xfrm>
            <a:off x="91440" y="2626157"/>
            <a:ext cx="20848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1340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2670048" y="2626157"/>
            <a:ext cx="6217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Jehan des Murs 描述 mensuration signs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2258568" y="2871216"/>
            <a:ext cx="237744" cy="237744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37" name="Text 35"/>
          <p:cNvSpPr/>
          <p:nvPr/>
        </p:nvSpPr>
        <p:spPr>
          <a:xfrm>
            <a:off x="91440" y="2834640"/>
            <a:ext cx="20848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1340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2670048" y="2834640"/>
            <a:ext cx="6217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Machaut 成為 Reims 主教座堂參事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2258568" y="3079699"/>
            <a:ext cx="237744" cy="237744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40" name="Text 38"/>
          <p:cNvSpPr/>
          <p:nvPr/>
        </p:nvSpPr>
        <p:spPr>
          <a:xfrm>
            <a:off x="91440" y="3043123"/>
            <a:ext cx="20848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1347–50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2670048" y="3043123"/>
            <a:ext cx="6217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黑死病 · Black Death 殺死歐洲 1/3 人口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2258568" y="3288182"/>
            <a:ext cx="237744" cy="237744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43" name="Text 41"/>
          <p:cNvSpPr/>
          <p:nvPr/>
        </p:nvSpPr>
        <p:spPr>
          <a:xfrm>
            <a:off x="91440" y="3251606"/>
            <a:ext cx="20848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1348–53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2670048" y="3251606"/>
            <a:ext cx="6217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Boccaccio · Decameron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2258568" y="3496666"/>
            <a:ext cx="237744" cy="237744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46" name="Text 44"/>
          <p:cNvSpPr/>
          <p:nvPr/>
        </p:nvSpPr>
        <p:spPr>
          <a:xfrm>
            <a:off x="91440" y="3460090"/>
            <a:ext cx="20848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1350s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2670048" y="3460090"/>
            <a:ext cx="6217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Jacopo da Bologna · Non al suo amante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2258568" y="3705149"/>
            <a:ext cx="237744" cy="237744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49" name="Text 47"/>
          <p:cNvSpPr/>
          <p:nvPr/>
        </p:nvSpPr>
        <p:spPr>
          <a:xfrm>
            <a:off x="91440" y="3668573"/>
            <a:ext cx="20848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1360s</a:t>
            </a:r>
            <a:endParaRPr lang="en-US" sz="1400" dirty="0"/>
          </a:p>
        </p:txBody>
      </p:sp>
      <p:sp>
        <p:nvSpPr>
          <p:cNvPr id="50" name="Text 48"/>
          <p:cNvSpPr/>
          <p:nvPr/>
        </p:nvSpPr>
        <p:spPr>
          <a:xfrm>
            <a:off x="2670048" y="3668573"/>
            <a:ext cx="6217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Machaut · Messe de Nostre Dame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2258568" y="3913632"/>
            <a:ext cx="237744" cy="237744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52" name="Text 50"/>
          <p:cNvSpPr/>
          <p:nvPr/>
        </p:nvSpPr>
        <p:spPr>
          <a:xfrm>
            <a:off x="91440" y="3877056"/>
            <a:ext cx="20848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1365–97</a:t>
            </a:r>
            <a:endParaRPr lang="en-US" sz="1400" dirty="0"/>
          </a:p>
        </p:txBody>
      </p:sp>
      <p:sp>
        <p:nvSpPr>
          <p:cNvPr id="53" name="Text 51"/>
          <p:cNvSpPr/>
          <p:nvPr/>
        </p:nvSpPr>
        <p:spPr>
          <a:xfrm>
            <a:off x="2670048" y="3877056"/>
            <a:ext cx="6217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Francesco Landini 任 San Lorenzo 教堂 chaplain</a:t>
            </a:r>
            <a:endParaRPr lang="en-US" sz="1400" dirty="0"/>
          </a:p>
        </p:txBody>
      </p:sp>
      <p:sp>
        <p:nvSpPr>
          <p:cNvPr id="54" name="Shape 52"/>
          <p:cNvSpPr/>
          <p:nvPr/>
        </p:nvSpPr>
        <p:spPr>
          <a:xfrm>
            <a:off x="2258568" y="4122115"/>
            <a:ext cx="237744" cy="237744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55" name="Text 53"/>
          <p:cNvSpPr/>
          <p:nvPr/>
        </p:nvSpPr>
        <p:spPr>
          <a:xfrm>
            <a:off x="91440" y="4085539"/>
            <a:ext cx="20848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1378–1417</a:t>
            </a:r>
            <a:endParaRPr lang="en-US" sz="1400" dirty="0"/>
          </a:p>
        </p:txBody>
      </p:sp>
      <p:sp>
        <p:nvSpPr>
          <p:cNvPr id="56" name="Text 54"/>
          <p:cNvSpPr/>
          <p:nvPr/>
        </p:nvSpPr>
        <p:spPr>
          <a:xfrm>
            <a:off x="2670048" y="4085539"/>
            <a:ext cx="6217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教會大分裂 · Great Schism of the Papacy</a:t>
            </a:r>
            <a:endParaRPr lang="en-US" sz="1400" dirty="0"/>
          </a:p>
        </p:txBody>
      </p:sp>
      <p:sp>
        <p:nvSpPr>
          <p:cNvPr id="57" name="Shape 55"/>
          <p:cNvSpPr/>
          <p:nvPr/>
        </p:nvSpPr>
        <p:spPr>
          <a:xfrm>
            <a:off x="2258568" y="4330598"/>
            <a:ext cx="237744" cy="237744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58" name="Text 56"/>
          <p:cNvSpPr/>
          <p:nvPr/>
        </p:nvSpPr>
        <p:spPr>
          <a:xfrm>
            <a:off x="91440" y="4294022"/>
            <a:ext cx="20848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1370s</a:t>
            </a:r>
            <a:endParaRPr lang="en-US" sz="1400" dirty="0"/>
          </a:p>
        </p:txBody>
      </p:sp>
      <p:sp>
        <p:nvSpPr>
          <p:cNvPr id="59" name="Text 57"/>
          <p:cNvSpPr/>
          <p:nvPr/>
        </p:nvSpPr>
        <p:spPr>
          <a:xfrm>
            <a:off x="2670048" y="4294022"/>
            <a:ext cx="6217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Philipoctus de Caserta · En remirant vo douce pourtraiture</a:t>
            </a:r>
            <a:endParaRPr lang="en-US" sz="1400" dirty="0"/>
          </a:p>
        </p:txBody>
      </p:sp>
      <p:sp>
        <p:nvSpPr>
          <p:cNvPr id="60" name="Shape 58"/>
          <p:cNvSpPr/>
          <p:nvPr/>
        </p:nvSpPr>
        <p:spPr>
          <a:xfrm>
            <a:off x="2258568" y="4539082"/>
            <a:ext cx="237744" cy="237744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61" name="Text 59"/>
          <p:cNvSpPr/>
          <p:nvPr/>
        </p:nvSpPr>
        <p:spPr>
          <a:xfrm>
            <a:off x="91440" y="4502506"/>
            <a:ext cx="20848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1387–1400</a:t>
            </a:r>
            <a:endParaRPr lang="en-US" sz="1400" dirty="0"/>
          </a:p>
        </p:txBody>
      </p:sp>
      <p:sp>
        <p:nvSpPr>
          <p:cNvPr id="62" name="Text 60"/>
          <p:cNvSpPr/>
          <p:nvPr/>
        </p:nvSpPr>
        <p:spPr>
          <a:xfrm>
            <a:off x="2670048" y="4502506"/>
            <a:ext cx="6217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Chaucer · Canterbury Tales</a:t>
            </a:r>
            <a:endParaRPr lang="en-US" sz="1400" dirty="0"/>
          </a:p>
        </p:txBody>
      </p:sp>
      <p:sp>
        <p:nvSpPr>
          <p:cNvPr id="63" name="Shape 61"/>
          <p:cNvSpPr/>
          <p:nvPr/>
        </p:nvSpPr>
        <p:spPr>
          <a:xfrm>
            <a:off x="2258568" y="4747565"/>
            <a:ext cx="237744" cy="237744"/>
          </a:xfrm>
          <a:prstGeom prst="ellipse">
            <a:avLst/>
          </a:prstGeom>
          <a:solidFill>
            <a:srgbClr val="C8A020"/>
          </a:solidFill>
          <a:ln/>
        </p:spPr>
      </p:sp>
      <p:sp>
        <p:nvSpPr>
          <p:cNvPr id="64" name="Text 62"/>
          <p:cNvSpPr/>
          <p:nvPr/>
        </p:nvSpPr>
        <p:spPr>
          <a:xfrm>
            <a:off x="91440" y="4710989"/>
            <a:ext cx="20848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1410–15</a:t>
            </a:r>
            <a:endParaRPr lang="en-US" sz="1400" dirty="0"/>
          </a:p>
        </p:txBody>
      </p:sp>
      <p:sp>
        <p:nvSpPr>
          <p:cNvPr id="65" name="Text 63"/>
          <p:cNvSpPr/>
          <p:nvPr/>
        </p:nvSpPr>
        <p:spPr>
          <a:xfrm>
            <a:off x="2670048" y="4710989"/>
            <a:ext cx="6217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Squarcialupi Codex 抄本完成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新藝術的迴響 Echoes of the New Art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6400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Summary · Why This Music Mattered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950976"/>
            <a:ext cx="841248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051560"/>
            <a:ext cx="8595360" cy="585216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1124712"/>
            <a:ext cx="594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■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005840" y="1097280"/>
            <a:ext cx="7680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Ars Nova 記譜是現代記譜的直系祖先——首次能精確記下任何節奏，包括切分音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Ars Nova notation is the direct ancestor of modern notation, first able to capture any rhythm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74320" y="1709928"/>
            <a:ext cx="8595360" cy="585216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11" name="Text 9"/>
          <p:cNvSpPr/>
          <p:nvPr/>
        </p:nvSpPr>
        <p:spPr>
          <a:xfrm>
            <a:off x="365760" y="1783080"/>
            <a:ext cx="594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■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05840" y="1755648"/>
            <a:ext cx="7680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精確記譜讓作品獨立流通，催生作曲家的「作者意識」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Accurate notation enabled composer authorship, first seen in Machaut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274320" y="2368296"/>
            <a:ext cx="8595360" cy="585216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14" name="Text 12"/>
          <p:cNvSpPr/>
          <p:nvPr/>
        </p:nvSpPr>
        <p:spPr>
          <a:xfrm>
            <a:off x="365760" y="2441448"/>
            <a:ext cx="594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■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005840" y="2414016"/>
            <a:ext cx="7680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動盪的世紀產出最精緻的藝術——結構（isorhythm、formes fixes）與感官愉悅並重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turbulent century produced the most refined art: structure and sensory pleasure in balance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274320" y="3026664"/>
            <a:ext cx="8595360" cy="585216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17" name="Text 15"/>
          <p:cNvSpPr/>
          <p:nvPr/>
        </p:nvSpPr>
        <p:spPr>
          <a:xfrm>
            <a:off x="365760" y="3099816"/>
            <a:ext cx="594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■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005840" y="3072384"/>
            <a:ext cx="7680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三度與六度的甜美與平行五八度的古老並存——14 世紀和聲的獨特聲響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Thirds and sixths coexist with parallel fifths and octaves—a distinctive 14th-century sound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274320" y="3685032"/>
            <a:ext cx="8595360" cy="585216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20" name="Text 18"/>
          <p:cNvSpPr/>
          <p:nvPr/>
        </p:nvSpPr>
        <p:spPr>
          <a:xfrm>
            <a:off x="365760" y="3758184"/>
            <a:ext cx="594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FRIT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005840" y="3730752"/>
            <a:ext cx="7680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法國理性結構與義大利旋律流暢——為 15 世紀國際風格鋪路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French structure + Italian lyricism foreshadow the 15th-century international style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274320" y="4343400"/>
            <a:ext cx="8595360" cy="585216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23" name="Text 21"/>
          <p:cNvSpPr/>
          <p:nvPr/>
        </p:nvSpPr>
        <p:spPr>
          <a:xfrm>
            <a:off x="365760" y="4416552"/>
            <a:ext cx="594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■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005840" y="4389120"/>
            <a:ext cx="7680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Messiaen、Ligeti 受 Ars Subtilior 啟發；Machaut 與 Landini 進入流行音樂取樣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echoes: Messiaen, Ligeti, Panda Bear, Judy Collins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C18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延伸閱讀與補充教材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Further Reading &amp; Supplementary Resources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65760" y="896112"/>
            <a:ext cx="841248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960120"/>
            <a:ext cx="8412480" cy="187452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100584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NAWM 聆聽 YouTube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2920" y="1280160"/>
            <a:ext cx="81381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Vitry · Cum statua/Hugo  youtu.be/cS9bdjm0hN0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25a Machaut · Messe Kyrie  youtu.be/JtFMfmG5VlY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Machaut · Douce dame jolie  youtu.be/pSjXxAOkSM8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Machaut · Rose, liz  youtu.be/VYY1WO6FimA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Caserta · En remirant  youtu.be/_LziNn1jpf0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29-31 Jacopo · Landini  youtu.be/eB0QXbTsB4U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65760" y="2926080"/>
            <a:ext cx="8412480" cy="109728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" y="2962656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閱讀 Read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02920" y="3236976"/>
            <a:ext cx="4023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Leech-Wilkinson · Modern Invention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Robertson · Machaut and Reims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Leach · Machaut: Secretary/Poet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617720" y="3236976"/>
            <a:ext cx="4023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· Musical Tastes 14th-C. Italy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Newes · Writing, Reading, Memorizing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Wikipedia: Ars Nova · Ars Subtilior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4114800"/>
            <a:ext cx="8412480" cy="86868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415137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Key Terms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011680" y="4151376"/>
            <a:ext cx="6629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Ars Nova · Ars Antiqua · Isorhythm · Talea / Color · Hocket · Ars Subtilior · Musica ficta · Landini cadence · Formes fixes · Ballade · Rondeau · Virelai · Machaut · Trecento · Madrigal (14c) · Caccia · Ballata · Landini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Chapter 6: New Developments in the Fourteenth Century</dc:title>
  <dc:subject>PptxGenJS Presentation</dc:subject>
  <dc:creator>A History of Western Music, 10th ed.</dc:creator>
  <cp:lastModifiedBy>A History of Western Music, 10th ed.</cp:lastModifiedBy>
  <cp:revision>1</cp:revision>
  <dcterms:created xsi:type="dcterms:W3CDTF">2026-04-17T22:26:44Z</dcterms:created>
  <dcterms:modified xsi:type="dcterms:W3CDTF">2026-04-17T22:26:44Z</dcterms:modified>
</cp:coreProperties>
</file>