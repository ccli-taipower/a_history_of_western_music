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MUSIC IN THE ERA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REFORMATION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 · Calvin · Tallis · Byrd · Palestrina · Victoria · Lassus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9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229–253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⛪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Reformation 宗教改革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 · Calvin · Henry VIII 撕裂西歐教會統一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🎵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Lutheran Music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· Kontrafaktur · Johann Walter · 四聲部合唱本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Calvinist &amp; English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Geneva Psalter · Anglican Service · Anthem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🇮🇹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Reform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Trent · Palestrina · Pope Marcellus Mass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&amp; New World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 · Morales · Hernando Franco (Mexico)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🇩🇪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&amp; Jewish Music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3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Lassus · Handl · Ashkenazic / Sephardic 聖歌傳統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宗教改革的歷史背景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Reformation · A Church Divided (1517– 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一場撕裂歐洲的運動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1517 馬丁·路德《九十五條論綱》釘於 Wittenberg 城堡教堂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反對贖罪券、教廷腐敗、教宗權威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原本只求改革——卻導致分裂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三條主要路線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Lutheran 路德宗 · 保留大量禮儀與音樂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Calvinist 加爾文宗 · 簡化禮拜、詩篇歌唱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Anglican 英國國教 · 亨利八世脫離羅馬 (1534)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西歐基督宗教統一瓦解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各地以民族語言敬拜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音樂因應各教派神學發展不同風格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✝ 天主教回應 · Counter-Reformation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天主教會並非坐視——啟動自我更新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Council of Trent (1545–1563)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界定教義 · 改革神職 · 規範禮儀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對音樂的決議：文字必須清晰、驅逐世俗旋律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音樂的影響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式「清晰的對位」成為典範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拉丁文仍為禮儀標準——不讓步給民族語言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耶穌會傳教將 Counter-Reformation 音樂帶到新世界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整體圖像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1500–1600 的一百年——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每一種教派都在用「音樂」定義自己的信仰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教會音樂從此多元並存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17 世紀巴洛克風格的擴展提供沃土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3C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A3C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路德與音樂 Luther &amp; Music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"Next to the Word of God, music deserves the highest praise."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路德的音樂觀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受過完整音樂訓練——能唱、能彈魯特琴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喜愛 Josquin——稱其為「音符的主人」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認為音樂是神所賜 · 次於 Word 的最佳贈禮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音樂應服務於教育與敬拜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保留與改革並行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保留拉丁禮儀音樂於學校及大城市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同時創造新的德語禮儀 (Deutsche Messe, 1526)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鼓勵會眾參與唱詩——這是路德宗的決定性創新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音樂教育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強調學校必須教音樂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宗教音樂家由學校培養——奠定三百年日耳曼音樂傳統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影響深及 Schütz · J. S. Bach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Chorale 會眾聖詠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德語單聲部會眾歌曲——每人一節, 齊唱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單節式 · 音節式 · 易於記憶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文字皆為德語——讓會眾真正理解內容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來源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新創——路德本人作詞、部份作曲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拉丁聖歌改編——Contrafactum（世俗→聖）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前宗教改革德語歌曲修訂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由世俗歌曲改填聖詞（Kontrafaktur）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代表作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Ein feste Burg ist unser Gott (上主是我堅固保障)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路德 ca. 1529 作詞作曲 · 宗教改革的「國歌」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Aus tiefer Not (從深處向你呼求)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Vom Himmel hoch (從天上而降)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首部官方聖詠本 Achtliederbuch (1524)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首歌曲 · 路德與 Paul Speratus 共著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聖詠的多聲部設置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Chorale · Johann Walter · Ein feste Burg (NAWM 58)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Johann Walter (1496–1570)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路德最親近的音樂家——協助路德編配禮儀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Geystliche gesangk Buchleyn (1524)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首部路德宗多聲部聖詠集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38 首德語 + 5 首拉丁聖歌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四或五聲部 · 旋律在 tenor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功能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非為會眾唱——為學校合唱團練習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供聖詠學習與記憶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走向家庭與學校的教學場景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發展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1550 後 chorale 旋律逐漸移到最上聲部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1586 Lucas Osiander《Fünfftzig geistliche Lieder》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首部 cantus-on-top 和聲化聖詠集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為日後 Bach 聖詠和聲法奠基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🏰 Ein feste Burg ist unser Gott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詞曲：Martin Luther, ca. 1529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取材 Psalm 46——「神是我們的避難所」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四節詩 · bar form (AAB)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旋律剛勁如軍樂——被稱「宗教改革的戰歌」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Walter 的四聲部設置 (NAWM 58)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持聖詠旋律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其他聲部以對位裝飾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音節式 · 節奏穩定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典型路德宗「tenor-cantus firmus」織度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歷史迴響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德國「新教國歌」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 世紀後成為 Bach 清唱劇素材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(BWV 80《Ein feste Burg》同名清唱劇)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 世紀德國浪漫主義民族精神象徵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Mendelssohn、Wagner、Mahler 皆引用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加爾文與日內瓦詩篇集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Calvin · Psalms Only · Geneva Psalter (1562)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⛪ 加爾文的嚴格路線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法裔改革神學家 · 活躍於日內瓦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相信音樂強大但危險——必須謹慎使用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敬拜中只能唱聖經原文 (Psalmody)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反對多聲、管風琴、非 biblical 詩歌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原則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單聲部齊唱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母語 (法語) 押韻詩篇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素樸旋律——會眾易學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禮拜中僅用人聲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多聲部設置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可以有——但只能在家中或學校歌唱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不能進入禮拜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 Goudimel (1505–1572)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四聲部和聲化日內瓦詩篇 (1564)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旋律多在 cantus——方便家庭歌唱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Geneva Psalter (1562)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 篇全部完成的押韻法文詩篇集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詞：Clément Marot · Théodore de Bèze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曲：Loys Bourgeois (ca. 1510–ca. 1560)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每篇配獨立旋律——共 125 首曲調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多為自然音階 · 旋律優雅上口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各詩篇格律不同——旋律須適應文字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Psalm 134: Or sus, serviteurs du Seigneur (NAWM 59)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後來被改填為 Doxology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(Praise God from whom all blessings flow)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英語「Old 100th」旋律源自此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傳播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1562 首版——法語圈、荷蘭、瑞士、蘇格蘭、英國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翻譯成 20 多種語言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成為加爾文派與改革宗教會的禮拜基石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至今仍在北美 Presbyterian / Reformed 教會使用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英格蘭教會音樂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of England · Tallis · Byrd · Anglican Service &amp; Anthem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👑 政治脈絡 1534–1603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1534 亨利八世《至尊法案》——脫離羅馬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1549 Book of Common Prayer (Cranmer)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英語禮儀首次確立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Mary I (1553–58) 短暫復辟天主教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Elizabeth I (1558–1603) 建立「折衷路線」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保留主教制與禮儀之美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改用英語——但詞曲仍可精緻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Anglican 音樂特徵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文字以英語為主——少數拉丁經文仍容許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音樂清晰——一音一字為原則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保留合唱傳統——大教堂與皇家禮拜堂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Service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Morning Prayer · Evening Prayer · Communion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完整的 Service 設置包含全禮儀所需唱段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Great Service (大型) vs. Short Service (簡易)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Anthem 英文聖歌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英語相當於拉丁 motet 的曲種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anthem · 全合唱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Verse anthem · solo 與合唱交替 + 管風琴伴奏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Thomas Tallis (ca. 1505–1585)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跨四朝皇帝的 Chapel Royal 音樂家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早期為拉丁 motet · 後適應英文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If ye love me (NAWM 60)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英文聖歌完美範例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四聲部 · 清晰的英語朗誦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簡潔而感人的聖禮用曲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Spem in alium——40 聲部合唱傑作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William Byrd (ca. 1540–1623)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Tallis 的學生——Chapel Royal 成員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私下是天主教徒——在新教國度下寫拉丁禮儀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 joyfully unto God (NAWM 61)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六聲部 full anthem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活潑、模仿、歡慶的經典英國合唱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Byrd · Tallis 兩人獨佔英國音樂出版特權 (1575)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天主教改革 · 特倫特公會議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Council of Trent (1545–1563) · Reform of Liturgical Music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⚖ Trent 對音樂的討論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1545–1563 間三次開會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討論重點：彌撒中的音樂是否過度世俗化？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改革派訴求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文字必須清晰可辨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驅逐以世俗歌曲 (chanson/madrigal) 為 cantus firmus 的彌撒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拒絕不敬虔的表演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驅逐所有複音？（激進派主張）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最終決議（1562 Canon）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允許複音音樂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但文字必須可被聽懂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禁止「猥褻」與「不潔」旋律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並未指定特定風格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主教與地方執行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Cardinal Carlo Borromeo 推動改革——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在米蘭積極執行「清晰」原則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帝國教堂繼續多樣風格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Palestrina 傳說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流傳已久的故事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為拯救複音音樂免被禁——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寫作《Missa Papae Marcelli》（教宗馬切魯斯彌撒）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據說此曲以清晰文字說服樞機團允許複音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事實上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此彌撒實為 1562–3 年創作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確實展現「清晰文字」的典範風格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但並非單一轉折事件——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清晰文字風格已是當時改革共識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象徵意義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 世紀以來被視為「天主教音樂的救主」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Pfitzner 1917 歌劇《Palestrina》將此傳說戲劇化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影響所謂 Palestrina style 的學院化地位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後續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此後數百年 Palestrina 對位成為神學院標準教材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Fux《Gradus ad Parnassum》(1725) 以其為範本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Giovanni Pierluigi da Palestrina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1525–1594 · 文藝復興天主教音樂的典範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⛪ 生平與職位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出生於羅馬近郊 Palestrina 鎮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青年期在羅馬各大聖堂任 maestro di cappella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主要任職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Cappella Giulia (St. Peter's) · 1551–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Sistine Chapel · 1554（因已婚被迫離開）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 John Lateran · 1555–1560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Santa Maria Maggiore · 1561–1566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重返 Cappella Giulia · 1571 直至離世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作品產量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104 首 Masses（現存西方最多）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375 首 motets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Lamentations · Magnificats · Offertories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少量世俗 madrigals（後來本人對此表示後悔）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The Palestrina Style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標準化的文藝復興對位——後世學理典範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以音階級進為主、跳進後必級進回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跳進上限為完全五度或八度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節奏平滑、避免突兀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和聲與不協和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所有不協和皆為 passing · neighbor · suspension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Suspension 嚴格準備與解決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終止式以 authentic cadence 為主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織度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4–6 聲部 · 每聲部平等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模仿進入——各聲部模仿主題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同節奏段落強調重要字句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文字清晰度極高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美學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不誇張 · 不戲劇 · 內斂崇高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教會聲樂的「純粹」理想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成為「a cappella 風格」的代名詞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教宗馬切魯斯彌撒 (NAWM 62)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Papae Marcelli · Credo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背景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1562–3 年創作 · 1567 收入第二部 Mass 集出版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獻給短命的 Marcellus II (僅在位 3 週, 1555)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六聲部 · SATTBB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使用 "paraphrase" 技法而非固定 cantus firmus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非以任何世俗旋律為素材——符合 Trent 改革精神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Credo 的特徵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長文字需盡可能清晰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大部分使用同節奏 (homorhythm)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文字逐字宣告——聲部幾乎同時換字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重要教義片段 (et incarnatus, crucifixus) 有顯著靜思感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模仿段落較少——優先清晰度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織度分析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每段獨立分節——與各行 Credo 文本對應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聲部組合常變化——提供對比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 · TB · 全體 · 六聲部輪流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為何成為經典？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完美回應 Trent 會議的關切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在「清晰文字」與「多聲藝術」間取得平衡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不僅宣告詞意——同時提供神聖的美感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歷史影響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1725 Fux 以 Palestrina 為對位法典範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(Gradus ad Parnassum)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羅馬公會成為其永久保守者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 世紀 Cecilian Movement 視其為唯一正統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世紀對位法教材仍多取自 Palestrina 風格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文化符碼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= 「純粹教會音樂」的代名詞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Pfitzner 1917《Palestrina》歌劇將其戲劇化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Prokofiev · Stravinsky · Pärt 都曾研究其風格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對 20 世紀極簡主義與新教會音樂的啟發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西班牙與新世界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Victoria · Morales · New World Polyphony · Hernando Franco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🇪🇸 Victoria &amp; Morales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Tomás Luis de Victoria (1548–1611)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 Avila——年輕時至羅馬學習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在羅馬 German College 任職——可能師事 Palestrina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後返西班牙任王室禮拜堂樂長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僅寫宗教音樂——近 180 首作品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風格：更熾烈、更神秘——比 Palestrina 多情感深度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O magnum mysterium (NAWM 63)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四聲部聖誕 motet · 1572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 fifths · octaves 表達「偉大奧祕」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文字與音樂完美對應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最著名的文藝復興 motet 之一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Cristóbal de Morales (ca. 1500–1553)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西班牙最早的國際知名作曲家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亦曾任羅馬教廷合唱團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25 首 Masses · 110 首 motets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Victoria 鋪路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New World Polyphony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世紀西班牙征服使複音音樂首度抵達美洲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墨西哥城 (1521) · 秘魯 Cuzco · 其他殖民據點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原住民子弟入修道院——快速掌握拉丁文與五線譜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教學與作曲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方濟會與道明會傳教士為教導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編寫聖詠本、手寫譜冊普及各大聖堂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原住民作曲家與西班牙樂長並肩工作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Hernando Franco (1532–1585)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生於西班牙 Galicia · 1554 抵達墨西哥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1575–1585 任 Mexico City 主教座堂樂長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以其 Magnificat 與 Salve Regina 聞名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Salve regina (NAWM 64)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拉丁 Marian 安提芬的複音設置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展現歐洲風格如何在美洲落地生根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織度近似 Palestrina——音樂並未「美洲化」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是歐洲音樂首次成為全球語言的印證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Lassus · 德國 · 猶太音樂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3C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Orlande de Lassus · Jacob Handl · Jewish Liturgical Music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Orlande de Lassus (1532–1594)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Franco-Flemish——任職 Munich Bavarian 宮廷 1556–94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國際主義者：拉丁、義、法、德四語創作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2,000+ 首作品（Masses, motets, chansons, madrigals, Lieder）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天主教徒但作品為新舊兩教共享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Cum essem parvulus (NAWM 65)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六聲部拉丁 motet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取自《林前 13:11》——「我小時候...」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高聲部代表童聲 · 低聲部代表成人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織度對比具戲劇感——體現文字意義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 Lassus 文字敏感度的巔峰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影響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Jesuit 教育體系推廣其作品至歐洲各地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承接 Palestrina 清晰原則——同時保持表達力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是 16 世紀後半最重要的國際音樂家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FE3C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🕍 中東歐與猶太音樂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🎼 Jacob Handl / Gallus (1550–1591)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斯洛維尼亞出身——活躍於 Prague、Olomouc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Opus musicum (1586–91) · 4 冊全年度 motet 集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同時為拉丁及斯拉夫天主教禮儀提供音樂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風格融合 Palestrina 清晰與威尼斯雙合唱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波蘭、波希米亞、匈牙利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新教與天主教並存——音樂與義大利往來密切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Mikołaj Gomółka（波蘭）亦寫詩篇集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🕎 Jewish Music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猶太會堂禮拜持續口傳吟唱——無記譜傳統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Ashkenazic (德語區) · Sephardic (伊比利半島) 兩大支流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Salamone Rossi (1570–1630) · 曼圖阿宮廷猶太音樂家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將文藝復興多聲部用於希伯來詩篇（Hashirim asher lishlomo, 1623）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首位有記譜的猶太複音作曲家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象徵文藝復興時期音樂與宗教身分的多樣性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Byrd 的四聲部彌撒 · 宗教音樂的遺產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Byrd · Mass for Four Voices (NAWM 66) · The Legacy of 16c Sacred Music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Byrd Mass for Four Voices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1592–1593 出版——ostensibly 無版權頁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私下為英國仍信天主教的家庭秘密舉行彌撒而作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三冊 Masses（3、4、5 聲部）之中最簡潔一本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🎼 風格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開頭模仿進入 · 典型文藝復興織度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避免冗長——適合小型私人場合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Credo 採精簡、緊湊寫法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部分段落同節奏、部分段落模仿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模仿 Taverner 舊式英國傳統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Elizabeth I 時代的天主教徒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私下舉行彌撒為違法——可被罰款或下獄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Byrd 因受 Elizabeth 寵愛得以繼續工作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 Masses 僅在鄉村莊園的小禮拜堂使用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同時 Byrd 亦創作英文 anthem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兩教身份共存於一位作曲家之中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The Legacy of 16c Sacred Music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世紀是西方「宗教音樂」最多樣的一個世紀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一個西歐四種神學 · 四種敬拜 · 四種音樂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長遠影響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Lutheran chorale → Bach 聖詠和聲與清唱劇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Calvinist psalmody → 北美與英語聖詩傳統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Anglican anthem → Purcell · Handel · 至 20 世紀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對位 → 神學院與音樂學院必修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音樂作為宗教認同的標記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每一教派以「獨特的聲音」界定自身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音樂風格帶有神學意涵——不只是美學選擇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全球化的起點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西班牙征服使歐洲多聲部抵達美洲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傳教士將拉丁禮儀帶到中國、日本、菲律賓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文藝復興音樂首次成為「全球語言」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為 17 世紀巴洛克教會音樂鋪路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Schütz · Frescobaldi · Purcell · Bach 皆承襲此基礎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Luther《九十五條論綱》· Wittenberg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Achtliederbuch · Walter Geystliche gesangk Buchleyn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34416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1529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7160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 · Ein feste Burg ist unser Gott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34416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6072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of Supremacy · Henry VIII 脫離羅馬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177393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1539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7160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Calvin 首版 Strasbourg 詩篇集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177393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1545–63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76072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of Trent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20370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1549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7160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of Common Prayer (Cranmer)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63440" y="220370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1553–58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 I 短暫復辟天主教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633472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1554–85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7160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活躍於羅馬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2633472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1558–1603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76072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Elizabeth I 在位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06324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7160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Geneva Psalter 完成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3063240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76072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· Missa Papae Marcelli 出版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7160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 · O magnum mysterium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6072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Tallis &amp; Byrd · 英國音樂出版專利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74320" y="392277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37160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任 Mexico City 樂長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663440" y="3922776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1586–91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76072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 · Opus musicum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74320" y="435254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55" name="Text 53"/>
          <p:cNvSpPr/>
          <p:nvPr/>
        </p:nvSpPr>
        <p:spPr>
          <a:xfrm>
            <a:off x="32004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1592–93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37160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Byrd · Mass for Four Voices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663440" y="4352544"/>
            <a:ext cx="1005840" cy="347472"/>
          </a:xfrm>
          <a:prstGeom prst="rect">
            <a:avLst/>
          </a:prstGeom>
          <a:solidFill>
            <a:srgbClr val="5A1F2E"/>
          </a:solidFill>
          <a:ln/>
        </p:spPr>
      </p:sp>
      <p:sp>
        <p:nvSpPr>
          <p:cNvPr id="58" name="Text 56"/>
          <p:cNvSpPr/>
          <p:nvPr/>
        </p:nvSpPr>
        <p:spPr>
          <a:xfrm>
            <a:off x="470916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2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1594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76072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· Lassus 同年辭世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944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Key Terms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Reformation · Counter-Reformation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Lutheran · Calvinist · Anglican · Catholic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chorale · Kontrafaktur · bar form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Achtliederbuch · Geystliche gesangk Buchleyn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metrical psalm · Geneva Psalter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Old 100th · psalmody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Book of Common Prayer · Anglican Service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Great Service · Short Service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anthem · verse anthem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Council of Trent · Canon on music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Papae Marcelli · paraphrase mass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Palestrina style · stile antico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magnum mysterium · Hernando Franco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World polyphony · Mission music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Chapel Royal · maestro di cappella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Salamone Rossi · Hashirim asher lishlomo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Cecilian movement · Gradus ad Parnassum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34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Further Reading &amp; 🎧 Listening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Robin Leaver. Luther's Liturgical Music (2007)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Jesse Rodin. Josquin's Rome (2012)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Craig Monson. Disembodied Voices (1995)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Kerala J. Snyder. The Chorale (2008)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Iain Fenlon (ed.). The Renaissance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NAWM 精選聆聽 (YouTube)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58 · Luther/Walter · Ein feste Burg  youtu.be/KPEhnb3utSM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59 · Bourgeois · Psalm 134  youtu.be/qgMLHdUrMHQ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 · Tallis · If ye love me (Tenebrae)  youtu.be/HI5Y9l2NHIo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 · Byrd · Sing joyfully (Tallis Scholars)  youtu.be/9uK9nVVbGHw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62 · Palestrina · Missa Papae Marcelli (Tallis Scholars)  youtu.be/6RfiPXiXneY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63 · Victoria · O magnum mysterium  youtu.be/YCaHfnRqboU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64 · Franco · Salve regina (Tallis Scholars)  youtu.be/1GD6lxHMnyA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65 · Lassus · Cum essem parvulus (Cappella Amsterdam)  youtu.be/JWLhbJPQZLM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66 · Byrd · Mass for 4 voices Credo (Tallis Scholars)  youtu.be/rVG67CWoslQ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11: Sacred Music in the Era of the Reformation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2026-04-12T00:07:38Z</dcterms:created>
  <dcterms:modified xsi:type="dcterms:W3CDTF">2026-04-12T00:07:38Z</dcterms:modified>
</cp:coreProperties>
</file>