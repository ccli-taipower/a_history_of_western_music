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2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C89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C8944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E8D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HISTORY OF WESTERN MUSIC · TENTH EDITION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spc="600" kern="0" dirty="0">
                <a:solidFill>
                  <a:srgbClr val="C89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CHAPTER 11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74320" y="1371600"/>
            <a:ext cx="8595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7F2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SACRED MUSIC IN THE ERA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F7F2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 THE REFORMATION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2286000" y="3337560"/>
            <a:ext cx="4572000" cy="36576"/>
          </a:xfrm>
          <a:prstGeom prst="rect">
            <a:avLst/>
          </a:prstGeom>
          <a:solidFill>
            <a:srgbClr val="C89440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34747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Luther · Calvin · Tallis · Byrd · Palestrina · Victoria · Lassus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89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Textbook pp. 229–253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2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5A1F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5A1F2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本章概覽 Chapter Overview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8412480" cy="27432"/>
          </a:xfrm>
          <a:prstGeom prst="rect">
            <a:avLst/>
          </a:prstGeom>
          <a:solidFill>
            <a:srgbClr val="E8D8A8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914400"/>
            <a:ext cx="548640" cy="530352"/>
          </a:xfrm>
          <a:prstGeom prst="rect">
            <a:avLst/>
          </a:prstGeom>
          <a:solidFill>
            <a:srgbClr val="5A1F2E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9601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■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51560" y="9144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Reformation 宗教改革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1170432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A3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Luther · Calvin · Henry VIII 撕裂西歐教會統一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1600200"/>
            <a:ext cx="548640" cy="530352"/>
          </a:xfrm>
          <a:prstGeom prst="rect">
            <a:avLst/>
          </a:prstGeom>
          <a:solidFill>
            <a:srgbClr val="5A1F2E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6459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■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51560" y="16002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Lutheran Music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1856232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A3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Chorale · Kontrafaktur · Johann Walter · 四聲部合唱本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" y="2286000"/>
            <a:ext cx="548640" cy="530352"/>
          </a:xfrm>
          <a:prstGeom prst="rect">
            <a:avLst/>
          </a:prstGeom>
          <a:solidFill>
            <a:srgbClr val="5A1F2E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3317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■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051560" y="22860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Calvinist &amp; English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51560" y="2542032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A3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Geneva Psalter · Anglican Service · Anthem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65760" y="2971800"/>
            <a:ext cx="548640" cy="530352"/>
          </a:xfrm>
          <a:prstGeom prst="rect">
            <a:avLst/>
          </a:prstGeom>
          <a:solidFill>
            <a:srgbClr val="5A1F2E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30175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■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051560" y="29718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Catholic Reform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51560" y="3227832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A3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Council of Trent · Palestrina · Pope Marcellus Mass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65760" y="3657600"/>
            <a:ext cx="548640" cy="530352"/>
          </a:xfrm>
          <a:prstGeom prst="rect">
            <a:avLst/>
          </a:prstGeom>
          <a:solidFill>
            <a:srgbClr val="5A1F2E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37033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■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051560" y="36576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Spain &amp; New World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51560" y="3913632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A3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Victoria · Morales · Hernando Franco (Mexico)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65760" y="4343400"/>
            <a:ext cx="548640" cy="530352"/>
          </a:xfrm>
          <a:prstGeom prst="rect">
            <a:avLst/>
          </a:prstGeom>
          <a:solidFill>
            <a:srgbClr val="5A1F2E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43891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■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051560" y="43434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Germany &amp; Jewish Music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51560" y="4599432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A3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Lassus · Handl · Ashkenazic / Sephardic 聖歌傳統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2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9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944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9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宗教改革的歷史背景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Reformation · A Church Divided (1517– 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1024128"/>
            <a:ext cx="6400800" cy="36576"/>
          </a:xfrm>
          <a:prstGeom prst="rect">
            <a:avLst/>
          </a:prstGeom>
          <a:solidFill>
            <a:srgbClr val="C89440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188720"/>
            <a:ext cx="4206240" cy="3749040"/>
          </a:xfrm>
          <a:prstGeom prst="rect">
            <a:avLst/>
          </a:prstGeom>
          <a:solidFill>
            <a:srgbClr val="2A334A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26187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9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 一場撕裂歐洲的運動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719072"/>
            <a:ext cx="397764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1517 路德《九十五條論綱》釘於 Wittenberg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反對贖罪券、教廷腐敗、教宗權威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原本只求改革——卻導致分裂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三條主要路線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Lutheran · 保留大量禮儀與音樂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Calvinist · 簡化禮拜、詩篇歌唱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Anglican · 亨利八世脫離羅馬 (1534)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結果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西歐基督宗教統一瓦解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各地以民族語言敬拜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音樂依教派神學發展不同風格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4206240" cy="3749040"/>
          </a:xfrm>
          <a:prstGeom prst="rect">
            <a:avLst/>
          </a:prstGeom>
          <a:solidFill>
            <a:srgbClr val="2A334A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126187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9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 天主教回應 · Counter-Reformation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1719072"/>
            <a:ext cx="397764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天主教會啟動自我更新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Council of Trent (1545–1563)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界定教義 · 改革神職 · 規範禮儀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音樂決議：文字清晰、驅逐世俗旋律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音樂影響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Palestrina 式「清晰對位」成典範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拉丁文仍為禮儀標準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耶穌會將音樂帶到新世界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整體圖像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1500–1600 各教派用音樂定義信仰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2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A3C5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8A3C5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路德與音樂 Luther &amp; Music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94944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A3C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"Next to the Word of God, music deserves the highest praise."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1051560"/>
            <a:ext cx="4572000" cy="36576"/>
          </a:xfrm>
          <a:prstGeom prst="rect">
            <a:avLst/>
          </a:prstGeom>
          <a:solidFill>
            <a:srgbClr val="5A1F2E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188720"/>
            <a:ext cx="4206240" cy="3749040"/>
          </a:xfrm>
          <a:prstGeom prst="rect">
            <a:avLst/>
          </a:prstGeom>
          <a:solidFill>
            <a:srgbClr val="EFE3C4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26187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 路德的音樂觀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719072"/>
            <a:ext cx="397764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受過完整音樂訓練——能唱、彈魯特琴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喜愛 Josquin——稱「音符的主人」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音樂是神所賜 · 次於 Word 的贈禮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保留與改革並行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保留拉丁禮儀於學校與大城市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創新德語禮儀 (Deutsche Messe, 1526)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鼓勵會眾參與唱詩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音樂教育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強調學校必須教音樂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奠定三百年日耳曼音樂傳統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影響深及 Schütz · J. S. Bach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4206240" cy="3749040"/>
          </a:xfrm>
          <a:prstGeom prst="rect">
            <a:avLst/>
          </a:prstGeom>
          <a:solidFill>
            <a:srgbClr val="EFE3C4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126187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 Chorale 會眾聖詠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1719072"/>
            <a:ext cx="397764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德語單聲部會眾歌曲——齊唱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單節式 · 音節式 · 易記憶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文字皆德語——會眾真正理解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來源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新創——路德作詞、部份作曲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拉丁聖歌改編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前宗教改革德語歌曲修訂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世俗歌曲改填聖詞 (Kontrafaktur)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代表作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Ein feste Burg · 路德 ca. 1529 · 改革「國歌」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Aus tiefer Not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Vom Himmel hoch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Achtliederbuch (1524) · 首部官方聖詠本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2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9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944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9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聖詠的多聲部設置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Chorale · Johann Walter · Ein feste Burg (NAWM 58)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1024128"/>
            <a:ext cx="6400800" cy="36576"/>
          </a:xfrm>
          <a:prstGeom prst="rect">
            <a:avLst/>
          </a:prstGeom>
          <a:solidFill>
            <a:srgbClr val="C89440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188720"/>
            <a:ext cx="4206240" cy="3749040"/>
          </a:xfrm>
          <a:prstGeom prst="rect">
            <a:avLst/>
          </a:prstGeom>
          <a:solidFill>
            <a:srgbClr val="2A334A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26187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9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 Johann Walter (1496–1570)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719072"/>
            <a:ext cx="397764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路德最親近的音樂家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Geystliche gesangk Buchleyn (1524)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首部路德宗多聲部聖詠集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38 德語 + 5 拉丁聖歌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四或五聲部 · 旋律在 tenor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功能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非為會眾——為學校合唱團練習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家庭與學校的教學場景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發展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1550 後 chorale 旋律移至最上聲部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1586 Osiander 首部 cantus-on-top 和聲集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為日後 Bach 聖詠和聲法奠基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4206240" cy="3749040"/>
          </a:xfrm>
          <a:prstGeom prst="rect">
            <a:avLst/>
          </a:prstGeom>
          <a:solidFill>
            <a:srgbClr val="2A334A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126187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9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 Ein feste Burg ist unser Gott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1719072"/>
            <a:ext cx="397764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詞曲：Martin Luther, ca. 1529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取材 Psalm 46——「神是我們的避難所」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四節詩 · bar form (AAB)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被稱「宗教改革的戰歌」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Walter 四聲部設置 (NAWM 58)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Tenor 持聖詠旋律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其他聲部以對位裝飾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典型路德宗 tenor-cantus firmus 織度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歷史迴響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德國「新教國歌」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Bach BWV 80 同名清唱劇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Mendelssohn、Wagner、Mahler 皆引用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2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5A1F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5A1F2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加爾文與日內瓦詩篇集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94944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3C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John Calvin · Psalms Only · Geneva Psalter (1562)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1051560"/>
            <a:ext cx="4572000" cy="36576"/>
          </a:xfrm>
          <a:prstGeom prst="rect">
            <a:avLst/>
          </a:prstGeom>
          <a:solidFill>
            <a:srgbClr val="5A1F2E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188720"/>
            <a:ext cx="4206240" cy="3749040"/>
          </a:xfrm>
          <a:prstGeom prst="rect">
            <a:avLst/>
          </a:prstGeom>
          <a:solidFill>
            <a:srgbClr val="EFE3C4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26187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 加爾文的嚴格路線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719072"/>
            <a:ext cx="397764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法裔改革神學家 · 活躍於日內瓦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音樂強大但危險——必須謹慎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敬拜只能唱聖經原文 (Psalmody)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反對多聲、管風琴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原則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單聲部齊唱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法語押韻詩篇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素樸旋律——會眾易學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禮拜僅用人聲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多聲部僅限家中或學校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Goudimel 四聲部日內瓦詩篇 (1564)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4206240" cy="3749040"/>
          </a:xfrm>
          <a:prstGeom prst="rect">
            <a:avLst/>
          </a:prstGeom>
          <a:solidFill>
            <a:srgbClr val="EFE3C4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126187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 Geneva Psalter (1562)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1719072"/>
            <a:ext cx="397764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150 篇押韻法文詩篇集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詞：Marot · de Bèze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曲：Loys Bourgeois (ca. 1510–60)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特徵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每篇獨立旋律——共 125 首曲調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自然音階 · 旋律優雅上口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Psalm 134 (NAWM 59)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後改填為 Doxology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英語「Old 100th」旋律源自此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傳播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翻譯 20+ 種語言 · 法語圈、荷、蘇格蘭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加爾文派禮拜基石 · 至今仍用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2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9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944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9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英格蘭教會音樂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Church of England · Tallis · Byrd · Anglican Service &amp; Anthem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1024128"/>
            <a:ext cx="6400800" cy="36576"/>
          </a:xfrm>
          <a:prstGeom prst="rect">
            <a:avLst/>
          </a:prstGeom>
          <a:solidFill>
            <a:srgbClr val="C89440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188720"/>
            <a:ext cx="4206240" cy="3749040"/>
          </a:xfrm>
          <a:prstGeom prst="rect">
            <a:avLst/>
          </a:prstGeom>
          <a:solidFill>
            <a:srgbClr val="2A334A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26187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9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 政治脈絡 1534–1603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719072"/>
            <a:ext cx="397764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1534 亨利八世脫離羅馬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1549 Book of Common Prayer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Mary I (1553–58) 短暫復辟天主教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Elizabeth I (1558–1603) 折衷路線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保留主教制與禮儀之美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改用英語但詞曲精緻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Anglican 音樂特徵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英語為主 · 一音一字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保留大教堂合唱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Service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Morning / Evening Prayer · Communion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4206240" cy="3749040"/>
          </a:xfrm>
          <a:prstGeom prst="rect">
            <a:avLst/>
          </a:prstGeom>
          <a:solidFill>
            <a:srgbClr val="2A334A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126187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9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 Anthem 英文聖歌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1719072"/>
            <a:ext cx="397764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英語相當於拉丁 motet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 anthem · 全合唱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Verse anthem · 獨唱/合唱交替 + 管風琴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Thomas Tallis (ca. 1505–1585)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跨四朝 Chapel Royal 音樂家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早期拉丁 motet · 後適應英文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If ye love me (NAWM 60) · 完美範例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Spem in alium · 40 聲部傑作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William Byrd (ca. 1540–1623)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Tallis 學生 · Chapel Royal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私下天主教徒——在新教國度寫拉丁禮儀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Sing joyfully unto God (NAWM 61) · 6 聲部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2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5A1F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5A1F2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天主教改革 · 特倫特公會議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694944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3C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Council of Trent (1545–1563) · Reform of Liturgical Music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1051560"/>
            <a:ext cx="4572000" cy="36576"/>
          </a:xfrm>
          <a:prstGeom prst="rect">
            <a:avLst/>
          </a:prstGeom>
          <a:solidFill>
            <a:srgbClr val="5A1F2E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188720"/>
            <a:ext cx="4206240" cy="3749040"/>
          </a:xfrm>
          <a:prstGeom prst="rect">
            <a:avLst/>
          </a:prstGeom>
          <a:solidFill>
            <a:srgbClr val="EFE3C4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26187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 Trent 對音樂的討論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719072"/>
            <a:ext cx="397764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1545–1563 間三次開會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討論：彌撒音樂是否過度世俗化？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改革派訴求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文字必須清晰可辨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驅逐世俗 cantus firmus 彌撒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激進派主張驅逐所有複音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最終決議 (1562)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允許複音 · 文字必須聽懂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禁止「猥褻」旋律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未指定特定風格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地方執行各異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Borromeo 在米蘭積極推行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4206240" cy="3749040"/>
          </a:xfrm>
          <a:prstGeom prst="rect">
            <a:avLst/>
          </a:prstGeom>
          <a:solidFill>
            <a:srgbClr val="EFE3C4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126187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 Palestrina 傳說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1719072"/>
            <a:ext cx="397764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流傳的故事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Palestrina《Missa Papae Marcelli》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拯救複音免被禁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以清晰文字說服樞機團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事實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此彌撒 1562–3 年創作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清晰風格已是改革共識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象徵意義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19 世紀視為「天主教音樂的救主」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Pfitzner 1917 歌劇《Palestrina》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後續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Palestrina 對位成標準教材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Fux《Gradus ad Parnassum》(1725)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2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9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944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89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Giovanni Pierluigi da Palestrina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ca. 1525–1594 · 文藝復興天主教音樂的典範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1024128"/>
            <a:ext cx="6400800" cy="36576"/>
          </a:xfrm>
          <a:prstGeom prst="rect">
            <a:avLst/>
          </a:prstGeom>
          <a:solidFill>
            <a:srgbClr val="C89440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188720"/>
            <a:ext cx="4206240" cy="3749040"/>
          </a:xfrm>
          <a:prstGeom prst="rect">
            <a:avLst/>
          </a:prstGeom>
          <a:solidFill>
            <a:srgbClr val="2A334A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26187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9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 生平與職位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719072"/>
            <a:ext cx="397764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出生於羅馬近郊 Palestrina 鎮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羅馬各大聖堂任 maestro di cappella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主要任職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Cappella Giulia · 1551–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Sistine Chapel · 1554（已婚被迫離開）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St. John Lateran · 1555–1560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Santa Maria Maggiore · 1561–1566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重返 Cappella Giulia · 1571 至離世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作品：104 Masses · 375+ motets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4206240" cy="3749040"/>
          </a:xfrm>
          <a:prstGeom prst="rect">
            <a:avLst/>
          </a:prstGeom>
          <a:solidFill>
            <a:srgbClr val="2A334A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126187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9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 The Palestrina Style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1719072"/>
            <a:ext cx="397764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標準化文藝復興對位——後世學理典範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旋律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音階級進為主 · 跳進後必級進回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跳進上限五度或八度 · 節奏平滑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和聲與不協和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不協和皆為 passing/neighbor/suspension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Suspension 嚴格準備與解決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織度與美學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4–6 聲部 · 模仿進入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不誇張、內斂崇高 · a cappella 代名詞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2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5A1F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5A1F2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教宗馬切魯斯彌撒 (NAWM 62)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694944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3C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Missa Papae Marcelli · Credo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1051560"/>
            <a:ext cx="4572000" cy="36576"/>
          </a:xfrm>
          <a:prstGeom prst="rect">
            <a:avLst/>
          </a:prstGeom>
          <a:solidFill>
            <a:srgbClr val="5A1F2E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188720"/>
            <a:ext cx="4206240" cy="3749040"/>
          </a:xfrm>
          <a:prstGeom prst="rect">
            <a:avLst/>
          </a:prstGeom>
          <a:solidFill>
            <a:srgbClr val="EFE3C4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26187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 背景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719072"/>
            <a:ext cx="397764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1562–3 創作 · 1567 收入第二部 Mass 集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獻給 Marcellus II（在位 3 週, 1555）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6 聲部 SATTBB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paraphrase 技法（非固定 cantus firmus）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無世俗旋律——符合 Trent 精神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Credo 特徵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長文字需清晰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大部分同節奏 (homorhythm)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聲部幾乎同時換字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et incarnatus / crucifixus 靜思感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模仿段落較少——優先清晰度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織度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每段獨立分節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 · TB · 全體 · 六聲部輪流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4206240" cy="3749040"/>
          </a:xfrm>
          <a:prstGeom prst="rect">
            <a:avLst/>
          </a:prstGeom>
          <a:solidFill>
            <a:srgbClr val="EFE3C4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126187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 為何成為經典？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1719072"/>
            <a:ext cx="397764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完美回應 Trent 會議關切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平衡「清晰文字」與「多聲藝術」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宣告詞意同時提供神聖美感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歷史影響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1725 Fux《Gradus ad Parnassum》典範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19 世紀 Cecilian Movement 視為正統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20 世紀對位法教材仍取自 Palestrina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文化符碼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「純粹教會音樂」代名詞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Pfitzner 1917《Palestrina》歌劇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Stravinsky · Pärt 曾研究其風格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2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9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944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9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西班牙與新世界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Victoria · Morales · New World Polyphony · Hernando Franco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1024128"/>
            <a:ext cx="6400800" cy="36576"/>
          </a:xfrm>
          <a:prstGeom prst="rect">
            <a:avLst/>
          </a:prstGeom>
          <a:solidFill>
            <a:srgbClr val="C89440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188720"/>
            <a:ext cx="4206240" cy="3749040"/>
          </a:xfrm>
          <a:prstGeom prst="rect">
            <a:avLst/>
          </a:prstGeom>
          <a:solidFill>
            <a:srgbClr val="2A334A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26187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9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 Victoria &amp; Morales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719072"/>
            <a:ext cx="397764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Tomás Luis de Victoria (1548–1611)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Avila 出生——至羅馬 German College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可能師事 Palestrina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返西班牙任王室禮拜堂樂長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僅寫宗教音樂——近 180 首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比 Palestrina 更熾烈、神秘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O magnum mysterium (NAWM 63) · 1572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四聲部聖誕 motet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fifths/octaves 表達「偉大奧祕」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最著名的文藝復興 motet 之一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Morales (ca. 1500–1553)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西班牙首位國際知名作曲家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4206240" cy="3749040"/>
          </a:xfrm>
          <a:prstGeom prst="rect">
            <a:avLst/>
          </a:prstGeom>
          <a:solidFill>
            <a:srgbClr val="2A334A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126187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9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 New World Polyphony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1719072"/>
            <a:ext cx="397764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西班牙征服使複音首度抵達美洲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墨西哥 (1521) · 秘魯 Cuzco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原住民子弟入修道院學拉丁與五線譜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教學與作曲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方濟會、道明會傳教士教導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聖詠本、譜冊普及各聖堂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原住民與西班牙樂長並肩工作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Hernando Franco (1532–1585)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西班牙 Galicia 出生 · 1554 抵墨西哥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1575–85 任 Mexico City 樂長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Salve regina (NAWM 64)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織度近似 Palestrina——未「美洲化」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2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5A1F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5A1F2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Lassus · 德國 · 猶太音樂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94944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3C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Orlande de Lassus · Jacob Handl · Jewish Liturgical Music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1051560"/>
            <a:ext cx="4572000" cy="36576"/>
          </a:xfrm>
          <a:prstGeom prst="rect">
            <a:avLst/>
          </a:prstGeom>
          <a:solidFill>
            <a:srgbClr val="5A1F2E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188720"/>
            <a:ext cx="4206240" cy="3749040"/>
          </a:xfrm>
          <a:prstGeom prst="rect">
            <a:avLst/>
          </a:prstGeom>
          <a:solidFill>
            <a:srgbClr val="EFE3C4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26187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 Orlande de Lassus (1532–1594)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719072"/>
            <a:ext cx="397764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Franco-Flemish · Munich 宮廷 1556–94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拉、義、法、德四語創作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2,000+ 作品跨各體裁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天主教徒但作品新舊兩教共享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Cum essem parvulus (NAWM 65)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六聲部拉丁 motet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《林前 13:11》「我小時候...」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高聲部代表童聲 · 低聲部代表成人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Lassus 文字敏感度的巔峰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影響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Jesuit 教育體系推廣全歐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承 Palestrina 清晰原則 + 表達力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16 世紀後半最重要國際音樂家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4206240" cy="3749040"/>
          </a:xfrm>
          <a:prstGeom prst="rect">
            <a:avLst/>
          </a:prstGeom>
          <a:solidFill>
            <a:srgbClr val="EFE3C4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126187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 中東歐與猶太音樂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1719072"/>
            <a:ext cx="397764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Jacob Handl / Gallus (1550–1591)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斯洛維尼亞 · 活躍於 Prague、Olomouc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Opus musicum (1586–91) · 全年 motet 集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融合 Palestrina 清晰與威尼斯雙合唱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波蘭、波希米亞、匈牙利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新舊教並存 · 與義大利往來密切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Gomółka（波蘭）亦寫詩篇集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Jewish Music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會堂禮拜口傳吟唱——無記譜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Salamone Rossi (1570–1630)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曼圖阿宮廷 · 首位記譜猶太複音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2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9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944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9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Byrd 的四聲部彌撒 · 宗教音樂的遺產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Byrd · Mass for Four Voices (NAWM 66) · The Legacy of 16c Sacred Music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1024128"/>
            <a:ext cx="6400800" cy="36576"/>
          </a:xfrm>
          <a:prstGeom prst="rect">
            <a:avLst/>
          </a:prstGeom>
          <a:solidFill>
            <a:srgbClr val="C89440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188720"/>
            <a:ext cx="4206240" cy="3749040"/>
          </a:xfrm>
          <a:prstGeom prst="rect">
            <a:avLst/>
          </a:prstGeom>
          <a:solidFill>
            <a:srgbClr val="2A334A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26187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9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 Byrd Mass for Four Voices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719072"/>
            <a:ext cx="397764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1592–93 出版（無版權頁）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為英國天主教家庭秘密彌撒而作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3、4、5 聲部三冊中最簡潔一本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風格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模仿進入 · 典型文藝復興織度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避免冗長——適合私人場合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Credo 精簡緊湊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模仿 Taverner 舊英國傳統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Elizabeth I 時代天主教徒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私下彌撒違法——可罰款入獄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Byrd 受 Elizabeth 寵愛得以繼續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僅在鄉村莊園小禮拜堂使用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4206240" cy="3749040"/>
          </a:xfrm>
          <a:prstGeom prst="rect">
            <a:avLst/>
          </a:prstGeom>
          <a:solidFill>
            <a:srgbClr val="2A334A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126187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9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 The Legacy of 16c Sacred Music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1719072"/>
            <a:ext cx="397764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16 世紀：西歐四種神學 · 四種音樂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長遠影響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Lutheran chorale → Bach 聖詠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Calvinist psalmody → 英語聖詩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Anglican anthem → Purcell · Handel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Palestrina 對位 → 神學院必修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音樂作為宗教認同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每教派以獨特聲音界定自身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音樂風格帶神學意涵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全球化起點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歐洲多聲部抵達美洲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傳教士帶拉丁禮儀至中、日、菲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2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5A1F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5A1F2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時間軸 · Timeline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0" y="749808"/>
            <a:ext cx="4572000" cy="36576"/>
          </a:xfrm>
          <a:prstGeom prst="rect">
            <a:avLst/>
          </a:prstGeom>
          <a:solidFill>
            <a:srgbClr val="5A1F2E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914400"/>
            <a:ext cx="1005840" cy="347472"/>
          </a:xfrm>
          <a:prstGeom prst="rect">
            <a:avLst/>
          </a:prstGeom>
          <a:solidFill>
            <a:srgbClr val="5A1F2E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9509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F2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1517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914400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Luther《九十五條論綱》· Wittenberg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63440" y="914400"/>
            <a:ext cx="1005840" cy="347472"/>
          </a:xfrm>
          <a:prstGeom prst="rect">
            <a:avLst/>
          </a:prstGeom>
          <a:solidFill>
            <a:srgbClr val="5A1F2E"/>
          </a:solidFill>
          <a:ln/>
        </p:spPr>
      </p:sp>
      <p:sp>
        <p:nvSpPr>
          <p:cNvPr id="10" name="Text 8"/>
          <p:cNvSpPr/>
          <p:nvPr/>
        </p:nvSpPr>
        <p:spPr>
          <a:xfrm>
            <a:off x="4709160" y="9509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F2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1524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760720" y="914400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Achtliederbuch · Walter Geystliche gesangk Buchleyn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4320" y="1344168"/>
            <a:ext cx="1005840" cy="347472"/>
          </a:xfrm>
          <a:prstGeom prst="rect">
            <a:avLst/>
          </a:prstGeom>
          <a:solidFill>
            <a:srgbClr val="5A1F2E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" y="138074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F2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ca. 1529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1344168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Luther · Ein feste Burg ist unser Gott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663440" y="1344168"/>
            <a:ext cx="1005840" cy="347472"/>
          </a:xfrm>
          <a:prstGeom prst="rect">
            <a:avLst/>
          </a:prstGeom>
          <a:solidFill>
            <a:srgbClr val="5A1F2E"/>
          </a:solidFill>
          <a:ln/>
        </p:spPr>
      </p:sp>
      <p:sp>
        <p:nvSpPr>
          <p:cNvPr id="16" name="Text 14"/>
          <p:cNvSpPr/>
          <p:nvPr/>
        </p:nvSpPr>
        <p:spPr>
          <a:xfrm>
            <a:off x="4709160" y="138074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F2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1534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760720" y="1344168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of Supremacy · Henry VIII 脫離羅馬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74320" y="1773936"/>
            <a:ext cx="1005840" cy="347472"/>
          </a:xfrm>
          <a:prstGeom prst="rect">
            <a:avLst/>
          </a:prstGeom>
          <a:solidFill>
            <a:srgbClr val="5A1F2E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" y="18105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F2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1539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71600" y="1773936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Calvin 首版 Strasbourg 詩篇集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663440" y="1773936"/>
            <a:ext cx="1005840" cy="347472"/>
          </a:xfrm>
          <a:prstGeom prst="rect">
            <a:avLst/>
          </a:prstGeom>
          <a:solidFill>
            <a:srgbClr val="5A1F2E"/>
          </a:solidFill>
          <a:ln/>
        </p:spPr>
      </p:sp>
      <p:sp>
        <p:nvSpPr>
          <p:cNvPr id="22" name="Text 20"/>
          <p:cNvSpPr/>
          <p:nvPr/>
        </p:nvSpPr>
        <p:spPr>
          <a:xfrm>
            <a:off x="4709160" y="18105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F2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1545–63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760720" y="1773936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Council of Trent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74320" y="2203704"/>
            <a:ext cx="1005840" cy="347472"/>
          </a:xfrm>
          <a:prstGeom prst="rect">
            <a:avLst/>
          </a:prstGeom>
          <a:solidFill>
            <a:srgbClr val="5A1F2E"/>
          </a:solidFill>
          <a:ln/>
        </p:spPr>
      </p:sp>
      <p:sp>
        <p:nvSpPr>
          <p:cNvPr id="25" name="Text 23"/>
          <p:cNvSpPr/>
          <p:nvPr/>
        </p:nvSpPr>
        <p:spPr>
          <a:xfrm>
            <a:off x="320040" y="22402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F2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1549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371600" y="2203704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of Common Prayer (Cranmer)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663440" y="2203704"/>
            <a:ext cx="1005840" cy="347472"/>
          </a:xfrm>
          <a:prstGeom prst="rect">
            <a:avLst/>
          </a:prstGeom>
          <a:solidFill>
            <a:srgbClr val="5A1F2E"/>
          </a:solidFill>
          <a:ln/>
        </p:spPr>
      </p:sp>
      <p:sp>
        <p:nvSpPr>
          <p:cNvPr id="28" name="Text 26"/>
          <p:cNvSpPr/>
          <p:nvPr/>
        </p:nvSpPr>
        <p:spPr>
          <a:xfrm>
            <a:off x="4709160" y="22402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F2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1553–58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760720" y="2203704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Mary I 短暫復辟天主教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274320" y="2633472"/>
            <a:ext cx="1005840" cy="347472"/>
          </a:xfrm>
          <a:prstGeom prst="rect">
            <a:avLst/>
          </a:prstGeom>
          <a:solidFill>
            <a:srgbClr val="5A1F2E"/>
          </a:solidFill>
          <a:ln/>
        </p:spPr>
      </p:sp>
      <p:sp>
        <p:nvSpPr>
          <p:cNvPr id="31" name="Text 29"/>
          <p:cNvSpPr/>
          <p:nvPr/>
        </p:nvSpPr>
        <p:spPr>
          <a:xfrm>
            <a:off x="320040" y="267004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F2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1554–85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371600" y="2633472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Palestrina 活躍於羅馬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663440" y="2633472"/>
            <a:ext cx="1005840" cy="347472"/>
          </a:xfrm>
          <a:prstGeom prst="rect">
            <a:avLst/>
          </a:prstGeom>
          <a:solidFill>
            <a:srgbClr val="5A1F2E"/>
          </a:solidFill>
          <a:ln/>
        </p:spPr>
      </p:sp>
      <p:sp>
        <p:nvSpPr>
          <p:cNvPr id="34" name="Text 32"/>
          <p:cNvSpPr/>
          <p:nvPr/>
        </p:nvSpPr>
        <p:spPr>
          <a:xfrm>
            <a:off x="4709160" y="267004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F2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1558–1603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760720" y="2633472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Elizabeth I 在位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274320" y="3063240"/>
            <a:ext cx="1005840" cy="347472"/>
          </a:xfrm>
          <a:prstGeom prst="rect">
            <a:avLst/>
          </a:prstGeom>
          <a:solidFill>
            <a:srgbClr val="5A1F2E"/>
          </a:solidFill>
          <a:ln/>
        </p:spPr>
      </p:sp>
      <p:sp>
        <p:nvSpPr>
          <p:cNvPr id="37" name="Text 35"/>
          <p:cNvSpPr/>
          <p:nvPr/>
        </p:nvSpPr>
        <p:spPr>
          <a:xfrm>
            <a:off x="320040" y="309981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F2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1562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371600" y="3063240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Geneva Psalter 完成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4663440" y="3063240"/>
            <a:ext cx="1005840" cy="347472"/>
          </a:xfrm>
          <a:prstGeom prst="rect">
            <a:avLst/>
          </a:prstGeom>
          <a:solidFill>
            <a:srgbClr val="5A1F2E"/>
          </a:solidFill>
          <a:ln/>
        </p:spPr>
      </p:sp>
      <p:sp>
        <p:nvSpPr>
          <p:cNvPr id="40" name="Text 38"/>
          <p:cNvSpPr/>
          <p:nvPr/>
        </p:nvSpPr>
        <p:spPr>
          <a:xfrm>
            <a:off x="4709160" y="309981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F2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1567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760720" y="3063240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Palestrina · Missa Papae Marcelli 出版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274320" y="3493008"/>
            <a:ext cx="1005840" cy="347472"/>
          </a:xfrm>
          <a:prstGeom prst="rect">
            <a:avLst/>
          </a:prstGeom>
          <a:solidFill>
            <a:srgbClr val="5A1F2E"/>
          </a:solidFill>
          <a:ln/>
        </p:spPr>
      </p:sp>
      <p:sp>
        <p:nvSpPr>
          <p:cNvPr id="43" name="Text 41"/>
          <p:cNvSpPr/>
          <p:nvPr/>
        </p:nvSpPr>
        <p:spPr>
          <a:xfrm>
            <a:off x="320040" y="352958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F2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1572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1371600" y="3493008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Victoria · O magnum mysterium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4663440" y="3493008"/>
            <a:ext cx="1005840" cy="347472"/>
          </a:xfrm>
          <a:prstGeom prst="rect">
            <a:avLst/>
          </a:prstGeom>
          <a:solidFill>
            <a:srgbClr val="5A1F2E"/>
          </a:solidFill>
          <a:ln/>
        </p:spPr>
      </p:sp>
      <p:sp>
        <p:nvSpPr>
          <p:cNvPr id="46" name="Text 44"/>
          <p:cNvSpPr/>
          <p:nvPr/>
        </p:nvSpPr>
        <p:spPr>
          <a:xfrm>
            <a:off x="4709160" y="352958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F2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1575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5760720" y="3493008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Tallis &amp; Byrd · 英國音樂出版專利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274320" y="3922776"/>
            <a:ext cx="1005840" cy="347472"/>
          </a:xfrm>
          <a:prstGeom prst="rect">
            <a:avLst/>
          </a:prstGeom>
          <a:solidFill>
            <a:srgbClr val="5A1F2E"/>
          </a:solidFill>
          <a:ln/>
        </p:spPr>
      </p:sp>
      <p:sp>
        <p:nvSpPr>
          <p:cNvPr id="49" name="Text 47"/>
          <p:cNvSpPr/>
          <p:nvPr/>
        </p:nvSpPr>
        <p:spPr>
          <a:xfrm>
            <a:off x="320040" y="39593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F2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1575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1371600" y="3922776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Franco 任 Mexico City 樂長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4663440" y="3922776"/>
            <a:ext cx="1005840" cy="347472"/>
          </a:xfrm>
          <a:prstGeom prst="rect">
            <a:avLst/>
          </a:prstGeom>
          <a:solidFill>
            <a:srgbClr val="5A1F2E"/>
          </a:solidFill>
          <a:ln/>
        </p:spPr>
      </p:sp>
      <p:sp>
        <p:nvSpPr>
          <p:cNvPr id="52" name="Text 50"/>
          <p:cNvSpPr/>
          <p:nvPr/>
        </p:nvSpPr>
        <p:spPr>
          <a:xfrm>
            <a:off x="4709160" y="39593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F2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1586–91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5760720" y="3922776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 · Opus musicum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274320" y="4352544"/>
            <a:ext cx="1005840" cy="347472"/>
          </a:xfrm>
          <a:prstGeom prst="rect">
            <a:avLst/>
          </a:prstGeom>
          <a:solidFill>
            <a:srgbClr val="5A1F2E"/>
          </a:solidFill>
          <a:ln/>
        </p:spPr>
      </p:sp>
      <p:sp>
        <p:nvSpPr>
          <p:cNvPr id="55" name="Text 53"/>
          <p:cNvSpPr/>
          <p:nvPr/>
        </p:nvSpPr>
        <p:spPr>
          <a:xfrm>
            <a:off x="320040" y="43891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F2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1592–93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1371600" y="4352544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Byrd · Mass for Four Voices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4663440" y="4352544"/>
            <a:ext cx="1005840" cy="347472"/>
          </a:xfrm>
          <a:prstGeom prst="rect">
            <a:avLst/>
          </a:prstGeom>
          <a:solidFill>
            <a:srgbClr val="5A1F2E"/>
          </a:solidFill>
          <a:ln/>
        </p:spPr>
      </p:sp>
      <p:sp>
        <p:nvSpPr>
          <p:cNvPr id="58" name="Text 56"/>
          <p:cNvSpPr/>
          <p:nvPr/>
        </p:nvSpPr>
        <p:spPr>
          <a:xfrm>
            <a:off x="4709160" y="43891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F2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1594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5760720" y="4352544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Palestrina · Lassus 同年辭世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22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9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944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89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關鍵詞彙 · 延伸閱讀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Terms &amp; Further Reading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1024128"/>
            <a:ext cx="6400800" cy="36576"/>
          </a:xfrm>
          <a:prstGeom prst="rect">
            <a:avLst/>
          </a:prstGeom>
          <a:solidFill>
            <a:srgbClr val="C89440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188720"/>
            <a:ext cx="4206240" cy="3886200"/>
          </a:xfrm>
          <a:prstGeom prst="rect">
            <a:avLst/>
          </a:prstGeom>
          <a:solidFill>
            <a:srgbClr val="2A334A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24358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89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 Key Terms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572768"/>
            <a:ext cx="397764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Reformation · Counter-Reformation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Lutheran · Calvinist · Anglican · Catholic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chorale · Kontrafaktur · bar form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Achtliederbuch · Geystliche gesangk Buchleyn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metrical psalm · Geneva Psalter · Old 100th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Book of Common Prayer · Anglican Service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 anthem · verse anthem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Council of Trent · Canon on music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Missa Papae Marcelli · paraphrase mass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Palestrina style · stile antico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 magnum mysterium · Hernando Franco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New World polyphony · Chapel Royal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Salamone Rossi · Cecilian movement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4206240" cy="3886200"/>
          </a:xfrm>
          <a:prstGeom prst="rect">
            <a:avLst/>
          </a:prstGeom>
          <a:solidFill>
            <a:srgbClr val="2A334A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124358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89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 Further Reading &amp; ■ Listening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1572768"/>
            <a:ext cx="397764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Leaver. Luther's Liturgical Music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Rodin. Josquin's Rome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Monson. Disembodied Voices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Snyder. The Chorale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Fenlon (ed.). The Renaissance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NAWM 精選聆聽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Tallis · If ye love me  youtu.be/yHe2FDlHHa8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 Byrd · Sing joyfully  youtu.be/9uK9nVVbGHw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 Palestrina · Pope Marcellus  youtu.be/oeLIgzAe5sI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 Victoria · O magnum mysterium  youtu.be/RqkHy_Os5h8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11: Sacred Music in the Era of the Reformation</dc:title>
  <dc:subject>PptxGenJS Presentation</dc:subject>
  <dc:creator>A History of Western Music, 10th ed.</dc:creator>
  <cp:lastModifiedBy>A History of Western Music, 10th ed.</cp:lastModifiedBy>
  <cp:revision>1</cp:revision>
  <dcterms:created xsi:type="dcterms:W3CDTF">2026-04-17T16:11:54Z</dcterms:created>
  <dcterms:modified xsi:type="dcterms:W3CDTF">2026-04-17T16:11:54Z</dcterms:modified>
</cp:coreProperties>
</file>